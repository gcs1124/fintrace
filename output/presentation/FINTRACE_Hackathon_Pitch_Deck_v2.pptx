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455d63b3f0f42a7" /><Relationship Type="http://schemas.openxmlformats.org/officeDocument/2006/relationships/extended-properties" Target="/docProps/app.xml" Id="R72a70a772baf4299" /><Relationship Type="http://schemas.openxmlformats.org/officeDocument/2006/relationships/officeDocument" Target="/ppt/presentation.xml" Id="R9b9902c99b574249" /></Relationships>
</file>

<file path=ppt/presentation.xml><?xml version="1.0" encoding="utf-8"?>
<p:presentation xmlns:p="http://schemas.openxmlformats.org/presentationml/2006/main">
  <p:sldMasterIdLst>
    <p:sldMasterId xmlns:r="http://schemas.openxmlformats.org/officeDocument/2006/relationships" id="2147483648" r:id="R0690a8da138746a7"/>
  </p:sldMasterIdLst>
  <p:notesMasterIdLst>
    <p:notesMasterId xmlns:r="http://schemas.openxmlformats.org/officeDocument/2006/relationships" r:id="R544e1425dd894e9e"/>
  </p:notesMasterIdLst>
  <p:sldIdLst>
    <p:sldId xmlns:r="http://schemas.openxmlformats.org/officeDocument/2006/relationships" id="256" r:id="R0f55c32bdf024029"/>
    <p:sldId xmlns:r="http://schemas.openxmlformats.org/officeDocument/2006/relationships" id="257" r:id="R09b95836493c4dca"/>
    <p:sldId xmlns:r="http://schemas.openxmlformats.org/officeDocument/2006/relationships" id="258" r:id="R33b1bfc043de43c7"/>
    <p:sldId xmlns:r="http://schemas.openxmlformats.org/officeDocument/2006/relationships" id="259" r:id="R928f0b3e068a4cb3"/>
    <p:sldId xmlns:r="http://schemas.openxmlformats.org/officeDocument/2006/relationships" id="260" r:id="R30bfd1834b9e40e8"/>
    <p:sldId xmlns:r="http://schemas.openxmlformats.org/officeDocument/2006/relationships" id="261" r:id="Ra4e2872a56c5443f"/>
    <p:sldId xmlns:r="http://schemas.openxmlformats.org/officeDocument/2006/relationships" id="262" r:id="Rf9af90f4c4144a25"/>
    <p:sldId xmlns:r="http://schemas.openxmlformats.org/officeDocument/2006/relationships" id="263" r:id="R74c76aa39fa84d63"/>
    <p:sldId xmlns:r="http://schemas.openxmlformats.org/officeDocument/2006/relationships" id="264" r:id="R1c77e901db4747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5ab7e144014e02" /><Relationship Type="http://schemas.openxmlformats.org/officeDocument/2006/relationships/slideMaster" Target="/ppt/slideMasters/slideMaster1.xml" Id="R0690a8da138746a7" /><Relationship Type="http://schemas.openxmlformats.org/officeDocument/2006/relationships/notesMaster" Target="/ppt/notesMasters/notesMaster1.xml" Id="R544e1425dd894e9e" /><Relationship Type="http://schemas.openxmlformats.org/officeDocument/2006/relationships/presProps" Target="/ppt/presProps.xml" Id="Re0c99624e3e842e5" /><Relationship Type="http://schemas.openxmlformats.org/officeDocument/2006/relationships/tableStyles" Target="/ppt/tableStyles.xml" Id="Ra4d792fc84764446" /><Relationship Type="http://schemas.openxmlformats.org/officeDocument/2006/relationships/slide" Target="/ppt/slides/slide1.xml" Id="R0f55c32bdf024029" /><Relationship Type="http://schemas.openxmlformats.org/officeDocument/2006/relationships/slide" Target="/ppt/slides/slide2.xml" Id="R09b95836493c4dca" /><Relationship Type="http://schemas.openxmlformats.org/officeDocument/2006/relationships/slide" Target="/ppt/slides/slide3.xml" Id="R33b1bfc043de43c7" /><Relationship Type="http://schemas.openxmlformats.org/officeDocument/2006/relationships/slide" Target="/ppt/slides/slide4.xml" Id="R928f0b3e068a4cb3" /><Relationship Type="http://schemas.openxmlformats.org/officeDocument/2006/relationships/slide" Target="/ppt/slides/slide5.xml" Id="R30bfd1834b9e40e8" /><Relationship Type="http://schemas.openxmlformats.org/officeDocument/2006/relationships/slide" Target="/ppt/slides/slide6.xml" Id="Ra4e2872a56c5443f" /><Relationship Type="http://schemas.openxmlformats.org/officeDocument/2006/relationships/slide" Target="/ppt/slides/slide7.xml" Id="Rf9af90f4c4144a25" /><Relationship Type="http://schemas.openxmlformats.org/officeDocument/2006/relationships/slide" Target="/ppt/slides/slide8.xml" Id="R74c76aa39fa84d63" /><Relationship Type="http://schemas.openxmlformats.org/officeDocument/2006/relationships/slide" Target="/ppt/slides/slide9.xml" Id="R1c77e901db4747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606775c1104a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031c843ae74128" /><Relationship Type="http://schemas.openxmlformats.org/officeDocument/2006/relationships/notesMaster" Target="/ppt/notesMasters/notesMaster1.xml" Id="R3d957eb6809a4e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61420a7eae45d5" /><Relationship Type="http://schemas.openxmlformats.org/officeDocument/2006/relationships/notesMaster" Target="/ppt/notesMasters/notesMaster1.xml" Id="R1759b9cf3bd743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47125f89114c83" /><Relationship Type="http://schemas.openxmlformats.org/officeDocument/2006/relationships/notesMaster" Target="/ppt/notesMasters/notesMaster1.xml" Id="R0c9b43e5698342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0163541fe94c44" /><Relationship Type="http://schemas.openxmlformats.org/officeDocument/2006/relationships/notesMaster" Target="/ppt/notesMasters/notesMaster1.xml" Id="Rb78d916492ff4a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e971f6472c473d" /><Relationship Type="http://schemas.openxmlformats.org/officeDocument/2006/relationships/notesMaster" Target="/ppt/notesMasters/notesMaster1.xml" Id="Rd0ec03518e074a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198868e3d54818" /><Relationship Type="http://schemas.openxmlformats.org/officeDocument/2006/relationships/notesMaster" Target="/ppt/notesMasters/notesMaster1.xml" Id="R1c9d04cc28df44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7b9391fa104240" /><Relationship Type="http://schemas.openxmlformats.org/officeDocument/2006/relationships/notesMaster" Target="/ppt/notesMasters/notesMaster1.xml" Id="Re69348cbc5ca44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54c708f9474851" /><Relationship Type="http://schemas.openxmlformats.org/officeDocument/2006/relationships/notesMaster" Target="/ppt/notesMasters/notesMaster1.xml" Id="R6cb965c065c04bd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afe39bd4654df9" /><Relationship Type="http://schemas.openxmlformats.org/officeDocument/2006/relationships/notesMaster" Target="/ppt/notesMasters/notesMaster1.xml" Id="Reb87daa16e2c4a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FINTRACE is an explainable transaction investigation workspace. It helps an analyst move from a suspicious pattern to an inspectable money trail.</a:t>
            </a:r>
          </a:p>
          <a:p xmlns:a="http://schemas.openxmlformats.org/drawingml/2006/main">
            <a:r>
              <a:t/>
            </a:r>
          </a:p>
          <a:p xmlns:a="http://schemas.openxmlformats.org/drawingml/2006/main">
            <a:r>
              <a:t>Source: implemented FINTRACE UI and product brief supplied by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a fraud queue can identify an unusual account, but an analyst still needs to see the sequence of observed transfers. The canonical scenario contains eight inbound payments into A101, outward payments to A201 and A202, and onward payments to A301.</a:t>
            </a:r>
          </a:p>
          <a:p xmlns:a="http://schemas.openxmlformats.org/drawingml/2006/main">
            <a:r>
              <a:t/>
            </a:r>
          </a:p>
          <a:p xmlns:a="http://schemas.openxmlformats.org/drawingml/2006/main">
            <a:r>
              <a:t>Source: src/data/examples.ts, README.md detection contract, src/engine/intelligentAnalyze.ts.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flow: the same normalized, cutoff-aware snapshot drives every surface. This prevents the graph, queue, evidence, replay, and export from silently disagreeing.</a:t>
            </a:r>
          </a:p>
          <a:p xmlns:a="http://schemas.openxmlformats.org/drawingml/2006/main">
            <a:r>
              <a:t/>
            </a:r>
          </a:p>
          <a:p xmlns:a="http://schemas.openxmlformats.org/drawingml/2006/main">
            <a:r>
              <a:t>Source: src/hooks/useInvestigation.ts, src/services/analysisService.ts, api/analyze.ts, README.md architecture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framing: this screenshot is the working local FINTRACE UI. The canonical dataset has 12 loaded rows, A101 selected, a 100/100 configured review score, two traced paths, and 12 evidence rows.</a:t>
            </a:r>
          </a:p>
          <a:p xmlns:a="http://schemas.openxmlformats.org/drawingml/2006/main">
            <a:r>
              <a:t/>
            </a:r>
          </a:p>
          <a:p xmlns:a="http://schemas.openxmlformats.org/drawingml/2006/main">
            <a:r>
              <a:t>Source: output/playwright/fintrace-25-preview.png, src/data/examples.ts, src/tests/accuracy.test.ts.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judges through the replay: at 10:02 the collection signal contributes 30 points. At 10:04:30 the outward volume reaches 95% of incoming, adding 40 points. At 10:06:30 both branches reach A301, adding 30 points.</a:t>
            </a:r>
          </a:p>
          <a:p xmlns:a="http://schemas.openxmlformats.org/drawingml/2006/main">
            <a:r>
              <a:t/>
            </a:r>
          </a:p>
          <a:p xmlns:a="http://schemas.openxmlformats.org/drawingml/2006/main">
            <a:r>
              <a:t>Source: README.md canonical replay table, src/data/examples.ts, src/tests/accuracyScenarios.ts, src/tests/accuracy.test.ts.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graph engine as bounded reasoning. It traces chronological transaction paths up to five hops and a 30-minute total window. In the canonical case it finds two paths from A101 to A301 and reports the smallest observed edge on each path as ₹18,500.</a:t>
            </a:r>
          </a:p>
          <a:p xmlns:a="http://schemas.openxmlformats.org/drawingml/2006/main">
            <a:r>
              <a:t/>
            </a:r>
          </a:p>
          <a:p xmlns:a="http://schemas.openxmlformats.org/drawingml/2006/main">
            <a:r>
              <a:t>Source: src/engine/intelligentAnalyze.ts, src/types.ts, README.md detection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Readiness: the current repository has a 25-scenario accuracy matrix, 58 passing tests, and clean TypeScript, ESLint, and Vite build checks. Supabase schema and client wiring are prepared but require project values and an authorised SQL Editor run before real accounts and private saves work.</a:t>
            </a:r>
          </a:p>
          <a:p xmlns:a="http://schemas.openxmlformats.org/drawingml/2006/main">
            <a:r>
              <a:t/>
            </a:r>
          </a:p>
          <a:p xmlns:a="http://schemas.openxmlformats.org/drawingml/2006/main">
            <a:r>
              <a:t>Source: local validation run, README.md, supabase/schema.sql, .env.example.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Responsible-use close: FINTRACE is a review aid. It does not establish guilt, ownership, loss, or account action. The product makes these limitations visible in the evidence panel and export.</a:t>
            </a:r>
          </a:p>
          <a:p xmlns:a="http://schemas.openxmlformats.org/drawingml/2006/main">
            <a:r>
              <a:t/>
            </a:r>
          </a:p>
          <a:p xmlns:a="http://schemas.openxmlformats.org/drawingml/2006/main">
            <a:r>
              <a:t>Source: README.md responsible-use boundary, src/components/EvidencePanel.tsx, src/export/buildCaseExport.ts.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invite the judges into the live flow. Load the canonical scenario, inspect A101, and move the timeline to 10:06:30 IST to show the complete 100-point observed pattern with two evidence-backed paths.</a:t>
            </a:r>
          </a:p>
          <a:p xmlns:a="http://schemas.openxmlformats.org/drawingml/2006/main">
            <a:r>
              <a:t/>
            </a:r>
          </a:p>
          <a:p xmlns:a="http://schemas.openxmlformats.org/drawingml/2006/main">
            <a:r>
              <a:t>Source: local FINTRACE preview and canonical fixture in src/data/examples.ts.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b7333f293041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496b5ca4864cbb" /><Relationship Type="http://schemas.openxmlformats.org/officeDocument/2006/relationships/slideLayout" Target="/ppt/slideLayouts/slideLayout1.xml" Id="Raa4ac50380634f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4ac50380634f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8ca4e51fc99487b" /><Relationship Type="http://schemas.openxmlformats.org/officeDocument/2006/relationships/image" Target="/ppt/media/image.png" Id="Rb4e9d818d89c4d72" /><Relationship Type="http://schemas.openxmlformats.org/officeDocument/2006/relationships/notesSlide" Target="/ppt/notesSlides/notesSlide1.xml" Id="R05e2012ad59d45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36a5bac87943fb" /><Relationship Type="http://schemas.openxmlformats.org/officeDocument/2006/relationships/notesSlide" Target="/ppt/notesSlides/notesSlide2.xml" Id="R4362808bc6e64f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41cf1b22e18471b" /><Relationship Type="http://schemas.openxmlformats.org/officeDocument/2006/relationships/notesSlide" Target="/ppt/notesSlides/notesSlide3.xml" Id="Rd61be5d5e5694e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30545a4e19467b" /><Relationship Type="http://schemas.openxmlformats.org/officeDocument/2006/relationships/image" Target="/ppt/media/image2.png" Id="Re2986e5f70bd47a4" /><Relationship Type="http://schemas.openxmlformats.org/officeDocument/2006/relationships/notesSlide" Target="/ppt/notesSlides/notesSlide4.xml" Id="R4f0cac2dfc8041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da03285208454c" /><Relationship Type="http://schemas.openxmlformats.org/officeDocument/2006/relationships/chart" Target="/ppt/slides/charts/chart1.xml" Id="R919748708ed0419f" /><Relationship Type="http://schemas.openxmlformats.org/officeDocument/2006/relationships/notesSlide" Target="/ppt/notesSlides/notesSlide5.xml" Id="Rf3154ef026614e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793eb29f7340da" /><Relationship Type="http://schemas.openxmlformats.org/officeDocument/2006/relationships/notesSlide" Target="/ppt/notesSlides/notesSlide6.xml" Id="Rf0e7212545d346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0a3ab82c8254335" /><Relationship Type="http://schemas.openxmlformats.org/officeDocument/2006/relationships/notesSlide" Target="/ppt/notesSlides/notesSlide7.xml" Id="Re45753d29bdc4d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524044f181244c2" /><Relationship Type="http://schemas.openxmlformats.org/officeDocument/2006/relationships/notesSlide" Target="/ppt/notesSlides/notesSlide8.xml" Id="Rc2f6bbc722cb4f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c100e8a44ef4588" /><Relationship Type="http://schemas.openxmlformats.org/officeDocument/2006/relationships/notesSlide" Target="/ppt/notesSlides/notesSlide9.xml" Id="Rece264fd0a78411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Configured review points</c:v>
          </c:tx>
          <c:spPr>
            <a:ln xmlns:a="http://schemas.openxmlformats.org/drawingml/2006/main" w="38100">
              <a:solidFill>
                <a:srgbClr val="2F6FE5"/>
              </a:solidFill>
              <a:prstDash val="solid"/>
            </a:ln>
          </c:spPr>
          <c:marker>
            <c:symbol val="circle"/>
            <c:size val="9"/>
            <c:spPr>
              <a:solidFill xmlns:a="http://schemas.openxmlformats.org/drawingml/2006/main">
                <a:srgbClr val="2F6FE5"/>
              </a:solidFill>
            </c:spPr>
          </c:marker>
          <c:cat>
            <c:strRef>
              <c:f>'Chart Data'!$A$2:$A$4</c:f>
              <c:strCache>
                <c:ptCount val="3"/>
                <c:pt idx="0">
                  <c:v>10:02</c:v>
                </c:pt>
                <c:pt idx="1">
                  <c:v>10:04:30</c:v>
                </c:pt>
                <c:pt idx="2">
                  <c:v>10:06:30</c:v>
                </c:pt>
              </c:strCache>
            </c:strRef>
          </c:cat>
          <c:val>
            <c:numRef>
              <c:f>'Chart Data'!$B$2:$B$4</c:f>
              <c:numCache>
                <c:formatCode>0</c:formatCode>
                <c:ptCount val="3"/>
                <c:pt idx="0">
                  <c:v>30</c:v>
                </c:pt>
                <c:pt idx="1">
                  <c:v>70</c:v>
                </c:pt>
                <c:pt idx="2">
                  <c:v>100</c:v>
                </c:pt>
              </c:numCache>
            </c:numRef>
          </c:val>
          <c:smooth val="0"/>
        </c:ser>
        <c:dLbls>
          <c:txPr>
            <a:bodyPr xmlns:a="http://schemas.openxmlformats.org/drawingml/2006/main" anchorCtr="1"/>
            <a:lstStyle xmlns:a="http://schemas.openxmlformats.org/drawingml/2006/main"/>
            <a:p xmlns:a="http://schemas.openxmlformats.org/drawingml/2006/main">
              <a:pPr>
                <a:defRPr sz="1050" b="1">
                  <a:solidFill>
                    <a:srgbClr val="14243C"/>
                  </a:solidFill>
                  <a:latin typeface="Helvetica Neue"/>
                  <a:ea typeface="Helvetica Neue"/>
                  <a:cs typeface="Helvetica Neue"/>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75">
                    <a:solidFill>
                      <a:srgbClr val="526782"/>
                    </a:solidFill>
                    <a:latin typeface="Helvetica Neue"/>
                    <a:ea typeface="Helvetica Neue"/>
                    <a:cs typeface="Helvetica Neue"/>
                  </a:rPr>
                  <a:t>Observation cutoff (IST)</a:t>
                </a:r>
              </a:p>
            </c:rich>
          </c:tx>
          <c:overlay val="0"/>
          <c:txPr>
            <a:bodyPr xmlns:a="http://schemas.openxmlformats.org/drawingml/2006/main" anchorCtr="1"/>
            <a:lstStyle xmlns:a="http://schemas.openxmlformats.org/drawingml/2006/main"/>
            <a:p xmlns:a="http://schemas.openxmlformats.org/drawingml/2006/main">
              <a:pPr>
                <a:defRPr sz="975">
                  <a:solidFill>
                    <a:srgbClr val="526782"/>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8E3F1"/>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782"/>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9525">
              <a:solidFill>
                <a:srgbClr val="E3EAF3"/>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526782"/>
                    </a:solidFill>
                    <a:latin typeface="Helvetica Neue"/>
                    <a:ea typeface="Helvetica Neue"/>
                    <a:cs typeface="Helvetica Neue"/>
                  </a:rPr>
                  <a:t>Points</a:t>
                </a:r>
              </a:p>
            </c:rich>
          </c:tx>
          <c:overlay val="0"/>
          <c:txPr>
            <a:bodyPr xmlns:a="http://schemas.openxmlformats.org/drawingml/2006/main" anchorCtr="1"/>
            <a:lstStyle xmlns:a="http://schemas.openxmlformats.org/drawingml/2006/main"/>
            <a:p xmlns:a="http://schemas.openxmlformats.org/drawingml/2006/main">
              <a:pPr>
                <a:defRPr sz="975">
                  <a:solidFill>
                    <a:srgbClr val="526782"/>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8E3F1"/>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782"/>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9525">
          <a:solidFill>
            <a:srgbClr val="E6EDF6"/>
          </a:solidFill>
          <a:prstDash val="solid"/>
        </a:ln>
      </c:spPr>
    </c:plotArea>
    <c:plotVisOnly val="1"/>
  </c:chart>
  <c:spPr>
    <a:solidFill xmlns:a="http://schemas.openxmlformats.org/drawingml/2006/main">
      <a:srgbClr val="FFFFFF"/>
    </a:solidFill>
    <a:ln xmlns:a="http://schemas.openxmlformats.org/drawingml/2006/main" w="9525">
      <a:solidFill>
        <a:srgbClr val="D8E3F1"/>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1" name="cover-accent-field">
            <a:extLst xmlns:a="http://schemas.openxmlformats.org/drawingml/2006/main">
              <a:ext uri="{FF2B5EF4-FFF2-40B4-BE49-F238E27FC236}">
                <a16:creationId xmlns:a16="http://schemas.microsoft.com/office/drawing/2014/main" id="{4BD25003-2A14-424A-8E94-2983B0F4ACF5}"/>
              </a:ext>
            </a:extLst>
          </p:cNvPr>
          <p:cNvSpPr>
            <a:spLocks xmlns:a="http://schemas.openxmlformats.org/drawingml/2006/main" noGrp="1"/>
          </p:cNvSpPr>
          <p:nvPr/>
        </p:nvSpPr>
        <p:spPr>
          <a:xfrm xmlns:a="http://schemas.openxmlformats.org/drawingml/2006/main">
            <a:off x="7239000" y="704850"/>
            <a:ext cx="4343400" cy="5257800"/>
          </a:xfrm>
          <a:prstGeom xmlns:a="http://schemas.openxmlformats.org/drawingml/2006/main" prst="roundRect">
            <a:avLst>
              <a:gd name="adj" fmla="val 5702"/>
            </a:avLst>
          </a:prstGeom>
          <a:solidFill xmlns:a="http://schemas.openxmlformats.org/drawingml/2006/main">
            <a:srgbClr val="0B1D38"/>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4e9d818d89c4d72"/>
          <a:srcRect xmlns:a="http://schemas.openxmlformats.org/drawingml/2006/main" l="0" t="33" r="0" b="33"/>
          <a:stretch xmlns:a="http://schemas.openxmlformats.org/drawingml/2006/main">
            <a:fillRect l="0" t="0" r="0" b="0"/>
          </a:stretch>
        </p:blipFill>
        <p:spPr>
          <a:xfrm xmlns:a="http://schemas.openxmlformats.org/drawingml/2006/main">
            <a:off x="7391400" y="857250"/>
            <a:ext cx="4038600" cy="3352800"/>
          </a:xfrm>
          <a:prstGeom xmlns:a="http://schemas.openxmlformats.org/drawingml/2006/main" prst="roundRect">
            <a:avLst>
              <a:gd name="adj" fmla="val 4545"/>
            </a:avLst>
          </a:prstGeom>
        </p:spPr>
      </p:pic>
      <p:sp>
        <p:nvSpPr>
          <p:cNvPr id="3" name="cover-image-caption">
            <a:extLst xmlns:a="http://schemas.openxmlformats.org/drawingml/2006/main">
              <a:ext uri="{FF2B5EF4-FFF2-40B4-BE49-F238E27FC236}">
                <a16:creationId xmlns:a16="http://schemas.microsoft.com/office/drawing/2014/main" id="{2F266BBE-3CB4-45E9-81BA-149D32D3E60A}"/>
              </a:ext>
            </a:extLst>
          </p:cNvPr>
          <p:cNvSpPr>
            <a:spLocks xmlns:a="http://schemas.openxmlformats.org/drawingml/2006/main" noGrp="1"/>
          </p:cNvSpPr>
          <p:nvPr/>
        </p:nvSpPr>
        <p:spPr>
          <a:xfrm xmlns:a="http://schemas.openxmlformats.org/drawingml/2006/main">
            <a:off x="7562850" y="4438650"/>
            <a:ext cx="3695700" cy="1066800"/>
          </a:xfrm>
          <a:prstGeom xmlns:a="http://schemas.openxmlformats.org/drawingml/2006/main" prst="roundRect">
            <a:avLst>
              <a:gd name="adj" fmla="val 14286"/>
            </a:avLst>
          </a:prstGeom>
          <a:solidFill xmlns:a="http://schemas.openxmlformats.org/drawingml/2006/main">
            <a:srgbClr val="102746"/>
          </a:solidFill>
          <a:ln xmlns:a="http://schemas.openxmlformats.org/drawingml/2006/main" w="9525">
            <a:solidFill>
              <a:srgbClr val="1B3B64"/>
            </a:solidFill>
            <a:prstDash val="solid"/>
          </a:ln>
        </p:spPr>
      </p:sp>
      <p:sp>
        <p:nvSpPr>
          <p:cNvPr id="4" name="cover-caption-label">
            <a:extLst xmlns:a="http://schemas.openxmlformats.org/drawingml/2006/main">
              <a:ext uri="{FF2B5EF4-FFF2-40B4-BE49-F238E27FC236}">
                <a16:creationId xmlns:a16="http://schemas.microsoft.com/office/drawing/2014/main" id="{F324E594-9BA1-45F7-AF8D-947973671894}"/>
              </a:ext>
            </a:extLst>
          </p:cNvPr>
          <p:cNvSpPr>
            <a:spLocks xmlns:a="http://schemas.openxmlformats.org/drawingml/2006/main" noGrp="1"/>
          </p:cNvSpPr>
          <p:nvPr/>
        </p:nvSpPr>
        <p:spPr>
          <a:xfrm xmlns:a="http://schemas.openxmlformats.org/drawingml/2006/main">
            <a:off x="7791450" y="46291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63E0C5"/>
                </a:solidFill>
                <a:latin typeface="Helvetica Neue"/>
                <a:ea typeface="Helvetica Neue"/>
                <a:cs typeface="Helvetica Neue"/>
              </a:defRPr>
            </a:pPr>
            <a:r>
              <a:rPr sz="750" b="1" i="0">
                <a:solidFill>
                  <a:srgbClr val="63E0C5"/>
                </a:solidFill>
                <a:latin typeface="Helvetica Neue"/>
                <a:ea typeface="Helvetica Neue"/>
                <a:cs typeface="Helvetica Neue"/>
              </a:rPr>
              <a:t>THE PRODUCT</a:t>
            </a:r>
          </a:p>
        </p:txBody>
      </p:sp>
      <p:sp>
        <p:nvSpPr>
          <p:cNvPr id="5" name="cover-caption">
            <a:extLst xmlns:a="http://schemas.openxmlformats.org/drawingml/2006/main">
              <a:ext uri="{FF2B5EF4-FFF2-40B4-BE49-F238E27FC236}">
                <a16:creationId xmlns:a16="http://schemas.microsoft.com/office/drawing/2014/main" id="{B61E071E-6B6F-4FC1-B62E-2776F7637446}"/>
              </a:ext>
            </a:extLst>
          </p:cNvPr>
          <p:cNvSpPr>
            <a:spLocks xmlns:a="http://schemas.openxmlformats.org/drawingml/2006/main" noGrp="1"/>
          </p:cNvSpPr>
          <p:nvPr/>
        </p:nvSpPr>
        <p:spPr>
          <a:xfrm xmlns:a="http://schemas.openxmlformats.org/drawingml/2006/main">
            <a:off x="7791450" y="4876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A focused workspace for analysts who need the story behind a transaction flag.</a:t>
            </a:r>
          </a:p>
        </p:txBody>
      </p:sp>
      <p:sp>
        <p:nvSpPr>
          <p:cNvPr id="6" name="cover-mark">
            <a:extLst xmlns:a="http://schemas.openxmlformats.org/drawingml/2006/main">
              <a:ext uri="{FF2B5EF4-FFF2-40B4-BE49-F238E27FC236}">
                <a16:creationId xmlns:a16="http://schemas.microsoft.com/office/drawing/2014/main" id="{D3E3B054-9BF1-4FB7-9E90-F1C3845D49E2}"/>
              </a:ext>
            </a:extLst>
          </p:cNvPr>
          <p:cNvSpPr>
            <a:spLocks xmlns:a="http://schemas.openxmlformats.org/drawingml/2006/main" noGrp="1"/>
          </p:cNvSpPr>
          <p:nvPr/>
        </p:nvSpPr>
        <p:spPr>
          <a:xfrm xmlns:a="http://schemas.openxmlformats.org/drawingml/2006/main">
            <a:off x="609600" y="609600"/>
            <a:ext cx="381000" cy="381000"/>
          </a:xfrm>
          <a:prstGeom xmlns:a="http://schemas.openxmlformats.org/drawingml/2006/main" prst="roundRect">
            <a:avLst>
              <a:gd name="adj" fmla="val 30000"/>
            </a:avLst>
          </a:prstGeom>
          <a:solidFill xmlns:a="http://schemas.openxmlformats.org/drawingml/2006/main">
            <a:srgbClr val="2F6FE5"/>
          </a:solidFill>
          <a:ln xmlns:a="http://schemas.openxmlformats.org/drawingml/2006/main" w="9525">
            <a:solidFill>
              <a:srgbClr val="6D9DFF"/>
            </a:solidFill>
            <a:prstDash val="solid"/>
          </a:ln>
        </p:spPr>
      </p:sp>
      <p:sp>
        <p:nvSpPr>
          <p:cNvPr id="7" name="cover-mark-text">
            <a:extLst xmlns:a="http://schemas.openxmlformats.org/drawingml/2006/main">
              <a:ext uri="{FF2B5EF4-FFF2-40B4-BE49-F238E27FC236}">
                <a16:creationId xmlns:a16="http://schemas.microsoft.com/office/drawing/2014/main" id="{316D2540-FFD7-4E10-8790-DBB5C4B51434}"/>
              </a:ext>
            </a:extLst>
          </p:cNvPr>
          <p:cNvSpPr>
            <a:spLocks xmlns:a="http://schemas.openxmlformats.org/drawingml/2006/main" noGrp="1"/>
          </p:cNvSpPr>
          <p:nvPr/>
        </p:nvSpPr>
        <p:spPr>
          <a:xfrm xmlns:a="http://schemas.openxmlformats.org/drawingml/2006/main">
            <a:off x="609600" y="647700"/>
            <a:ext cx="381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650" b="1" i="0">
                <a:solidFill>
                  <a:srgbClr val="F6F9FF"/>
                </a:solidFill>
                <a:latin typeface="Helvetica Neue"/>
                <a:ea typeface="Helvetica Neue"/>
                <a:cs typeface="Helvetica Neue"/>
              </a:defRPr>
            </a:pPr>
            <a:r>
              <a:rPr sz="1650" b="1" i="0">
                <a:solidFill>
                  <a:srgbClr val="F6F9FF"/>
                </a:solidFill>
                <a:latin typeface="Helvetica Neue"/>
                <a:ea typeface="Helvetica Neue"/>
                <a:cs typeface="Helvetica Neue"/>
              </a:rPr>
              <a:t>F</a:t>
            </a:r>
          </a:p>
        </p:txBody>
      </p:sp>
      <p:sp>
        <p:nvSpPr>
          <p:cNvPr id="8" name="cover-wordmark">
            <a:extLst xmlns:a="http://schemas.openxmlformats.org/drawingml/2006/main">
              <a:ext uri="{FF2B5EF4-FFF2-40B4-BE49-F238E27FC236}">
                <a16:creationId xmlns:a16="http://schemas.microsoft.com/office/drawing/2014/main" id="{E29BD75C-3245-4371-8AD1-0F76974D634A}"/>
              </a:ext>
            </a:extLst>
          </p:cNvPr>
          <p:cNvSpPr>
            <a:spLocks xmlns:a="http://schemas.openxmlformats.org/drawingml/2006/main" noGrp="1"/>
          </p:cNvSpPr>
          <p:nvPr/>
        </p:nvSpPr>
        <p:spPr>
          <a:xfrm xmlns:a="http://schemas.openxmlformats.org/drawingml/2006/main">
            <a:off x="1123950" y="6286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6F9FF"/>
                </a:solidFill>
                <a:latin typeface="Helvetica Neue"/>
                <a:ea typeface="Helvetica Neue"/>
                <a:cs typeface="Helvetica Neue"/>
              </a:defRPr>
            </a:pPr>
            <a:r>
              <a:rPr sz="1275" b="1" i="0">
                <a:solidFill>
                  <a:srgbClr val="F6F9FF"/>
                </a:solidFill>
                <a:latin typeface="Helvetica Neue"/>
                <a:ea typeface="Helvetica Neue"/>
                <a:cs typeface="Helvetica Neue"/>
              </a:rPr>
              <a:t>FINTRACE</a:t>
            </a:r>
          </a:p>
        </p:txBody>
      </p:sp>
      <p:sp>
        <p:nvSpPr>
          <p:cNvPr id="9" name="cover-subtitle">
            <a:extLst xmlns:a="http://schemas.openxmlformats.org/drawingml/2006/main">
              <a:ext uri="{FF2B5EF4-FFF2-40B4-BE49-F238E27FC236}">
                <a16:creationId xmlns:a16="http://schemas.microsoft.com/office/drawing/2014/main" id="{F07E1C41-41C7-4F7E-8221-4811B0E147D5}"/>
              </a:ext>
            </a:extLst>
          </p:cNvPr>
          <p:cNvSpPr>
            <a:spLocks xmlns:a="http://schemas.openxmlformats.org/drawingml/2006/main" noGrp="1"/>
          </p:cNvSpPr>
          <p:nvPr/>
        </p:nvSpPr>
        <p:spPr>
          <a:xfrm xmlns:a="http://schemas.openxmlformats.org/drawingml/2006/main">
            <a:off x="1123950" y="866775"/>
            <a:ext cx="3238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EXPLAINABLE TRANSACTION INVESTIGATION</a:t>
            </a:r>
          </a:p>
        </p:txBody>
      </p:sp>
      <p:sp>
        <p:nvSpPr>
          <p:cNvPr id="10" name="cover-event">
            <a:extLst xmlns:a="http://schemas.openxmlformats.org/drawingml/2006/main">
              <a:ext uri="{FF2B5EF4-FFF2-40B4-BE49-F238E27FC236}">
                <a16:creationId xmlns:a16="http://schemas.microsoft.com/office/drawing/2014/main" id="{D788EBD4-41C9-42BE-9C62-9BD122D1D88D}"/>
              </a:ext>
            </a:extLst>
          </p:cNvPr>
          <p:cNvSpPr>
            <a:spLocks xmlns:a="http://schemas.openxmlformats.org/drawingml/2006/main" noGrp="1"/>
          </p:cNvSpPr>
          <p:nvPr/>
        </p:nvSpPr>
        <p:spPr>
          <a:xfrm xmlns:a="http://schemas.openxmlformats.org/drawingml/2006/main">
            <a:off x="609600" y="16954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5D8EFF"/>
                </a:solidFill>
                <a:latin typeface="Helvetica Neue"/>
                <a:ea typeface="Helvetica Neue"/>
                <a:cs typeface="Helvetica Neue"/>
              </a:defRPr>
            </a:pPr>
            <a:r>
              <a:rPr sz="900" b="1" i="0">
                <a:solidFill>
                  <a:srgbClr val="5D8EFF"/>
                </a:solidFill>
                <a:latin typeface="Helvetica Neue"/>
                <a:ea typeface="Helvetica Neue"/>
                <a:cs typeface="Helvetica Neue"/>
              </a:rPr>
              <a:t>VENTURE 2026 / THE FINTECH FRONTIER CHALLENGE</a:t>
            </a:r>
          </a:p>
        </p:txBody>
      </p:sp>
      <p:sp>
        <p:nvSpPr>
          <p:cNvPr id="11" name="cover-title-a">
            <a:extLst xmlns:a="http://schemas.openxmlformats.org/drawingml/2006/main">
              <a:ext uri="{FF2B5EF4-FFF2-40B4-BE49-F238E27FC236}">
                <a16:creationId xmlns:a16="http://schemas.microsoft.com/office/drawing/2014/main" id="{4AF887B5-3F69-42CF-B4F7-BA64F3538410}"/>
              </a:ext>
            </a:extLst>
          </p:cNvPr>
          <p:cNvSpPr>
            <a:spLocks xmlns:a="http://schemas.openxmlformats.org/drawingml/2006/main" noGrp="1"/>
          </p:cNvSpPr>
          <p:nvPr/>
        </p:nvSpPr>
        <p:spPr>
          <a:xfrm xmlns:a="http://schemas.openxmlformats.org/drawingml/2006/main">
            <a:off x="609600" y="2133600"/>
            <a:ext cx="609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4350" b="1" i="0">
                <a:solidFill>
                  <a:srgbClr val="F6F9FF"/>
                </a:solidFill>
                <a:latin typeface="Helvetica Neue"/>
                <a:ea typeface="Helvetica Neue"/>
                <a:cs typeface="Helvetica Neue"/>
              </a:defRPr>
            </a:pPr>
            <a:r>
              <a:rPr sz="4350" b="1" i="0">
                <a:solidFill>
                  <a:srgbClr val="F6F9FF"/>
                </a:solidFill>
                <a:latin typeface="Helvetica Neue"/>
                <a:ea typeface="Helvetica Neue"/>
                <a:cs typeface="Helvetica Neue"/>
              </a:rPr>
              <a:t>Follow the money</a:t>
            </a:r>
          </a:p>
        </p:txBody>
      </p:sp>
      <p:sp>
        <p:nvSpPr>
          <p:cNvPr id="12" name="cover-title-b">
            <a:extLst xmlns:a="http://schemas.openxmlformats.org/drawingml/2006/main">
              <a:ext uri="{FF2B5EF4-FFF2-40B4-BE49-F238E27FC236}">
                <a16:creationId xmlns:a16="http://schemas.microsoft.com/office/drawing/2014/main" id="{D496F0DE-AFA3-4D7F-83F9-DF29923D21AB}"/>
              </a:ext>
            </a:extLst>
          </p:cNvPr>
          <p:cNvSpPr>
            <a:spLocks xmlns:a="http://schemas.openxmlformats.org/drawingml/2006/main" noGrp="1"/>
          </p:cNvSpPr>
          <p:nvPr/>
        </p:nvSpPr>
        <p:spPr>
          <a:xfrm xmlns:a="http://schemas.openxmlformats.org/drawingml/2006/main">
            <a:off x="609600" y="278130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4350" b="1" i="0">
                <a:solidFill>
                  <a:srgbClr val="63E0C5"/>
                </a:solidFill>
                <a:latin typeface="Helvetica Neue"/>
                <a:ea typeface="Helvetica Neue"/>
                <a:cs typeface="Helvetica Neue"/>
              </a:defRPr>
            </a:pPr>
            <a:r>
              <a:rPr sz="4350" b="1" i="0">
                <a:solidFill>
                  <a:srgbClr val="63E0C5"/>
                </a:solidFill>
                <a:latin typeface="Helvetica Neue"/>
                <a:ea typeface="Helvetica Neue"/>
                <a:cs typeface="Helvetica Neue"/>
              </a:rPr>
              <a:t>Explain the risk</a:t>
            </a:r>
          </a:p>
        </p:txBody>
      </p:sp>
      <p:sp>
        <p:nvSpPr>
          <p:cNvPr id="13" name="cover-lede">
            <a:extLst xmlns:a="http://schemas.openxmlformats.org/drawingml/2006/main">
              <a:ext uri="{FF2B5EF4-FFF2-40B4-BE49-F238E27FC236}">
                <a16:creationId xmlns:a16="http://schemas.microsoft.com/office/drawing/2014/main" id="{54559BCD-2B10-4706-A103-2A61983DEB68}"/>
              </a:ext>
            </a:extLst>
          </p:cNvPr>
          <p:cNvSpPr>
            <a:spLocks xmlns:a="http://schemas.openxmlformats.org/drawingml/2006/main" noGrp="1"/>
          </p:cNvSpPr>
          <p:nvPr/>
        </p:nvSpPr>
        <p:spPr>
          <a:xfrm xmlns:a="http://schemas.openxmlformats.org/drawingml/2006/main">
            <a:off x="647700" y="3733800"/>
            <a:ext cx="561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69"/>
          </a:bodyPr>
          <a:lstStyle xmlns:a="http://schemas.openxmlformats.org/drawingml/2006/main"/>
          <a:p xmlns:a="http://schemas.openxmlformats.org/drawingml/2006/main">
            <a:pPr algn="l">
              <a:lnSpc>
                <a:spcPct val="135000"/>
              </a:lnSpc>
              <a:buNone/>
              <a:defRPr sz="1575" b="0" i="0">
                <a:solidFill>
                  <a:srgbClr val="B3C2D8"/>
                </a:solidFill>
                <a:latin typeface="Helvetica Neue"/>
                <a:ea typeface="Helvetica Neue"/>
                <a:cs typeface="Helvetica Neue"/>
              </a:defRPr>
            </a:pPr>
            <a:r>
              <a:rPr sz="1575" b="0" i="0">
                <a:solidFill>
                  <a:srgbClr val="B3C2D8"/>
                </a:solidFill>
                <a:latin typeface="Helvetica Neue"/>
                <a:ea typeface="Helvetica Neue"/>
                <a:cs typeface="Helvetica Neue"/>
              </a:rPr>
              <a:t>A browser-based investigation workspace that turns authorised transaction records into a chronological, evidence-backed review.</a:t>
            </a:r>
          </a:p>
        </p:txBody>
      </p:sp>
      <p:sp>
        <p:nvSpPr>
          <p:cNvPr id="14" name="cover-rule">
            <a:extLst xmlns:a="http://schemas.openxmlformats.org/drawingml/2006/main">
              <a:ext uri="{FF2B5EF4-FFF2-40B4-BE49-F238E27FC236}">
                <a16:creationId xmlns:a16="http://schemas.microsoft.com/office/drawing/2014/main" id="{B072BAA8-84E5-43D6-86A9-5F9233D5BE6A}"/>
              </a:ext>
            </a:extLst>
          </p:cNvPr>
          <p:cNvSpPr>
            <a:spLocks xmlns:a="http://schemas.openxmlformats.org/drawingml/2006/main" noGrp="1"/>
          </p:cNvSpPr>
          <p:nvPr/>
        </p:nvSpPr>
        <p:spPr>
          <a:xfrm xmlns:a="http://schemas.openxmlformats.org/drawingml/2006/main">
            <a:off x="647700" y="4905375"/>
            <a:ext cx="4953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5" name="cover-stack">
            <a:extLst xmlns:a="http://schemas.openxmlformats.org/drawingml/2006/main">
              <a:ext uri="{FF2B5EF4-FFF2-40B4-BE49-F238E27FC236}">
                <a16:creationId xmlns:a16="http://schemas.microsoft.com/office/drawing/2014/main" id="{BC49A511-6340-41CC-8EA0-32AC3A245A99}"/>
              </a:ext>
            </a:extLst>
          </p:cNvPr>
          <p:cNvSpPr>
            <a:spLocks xmlns:a="http://schemas.openxmlformats.org/drawingml/2006/main" noGrp="1"/>
          </p:cNvSpPr>
          <p:nvPr/>
        </p:nvSpPr>
        <p:spPr>
          <a:xfrm xmlns:a="http://schemas.openxmlformats.org/drawingml/2006/main">
            <a:off x="647700" y="51244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8EA2BE"/>
                </a:solidFill>
                <a:latin typeface="Helvetica Neue"/>
                <a:ea typeface="Helvetica Neue"/>
                <a:cs typeface="Helvetica Neue"/>
              </a:defRPr>
            </a:pPr>
            <a:r>
              <a:rPr sz="900" b="1" i="0">
                <a:solidFill>
                  <a:srgbClr val="8EA2BE"/>
                </a:solidFill>
                <a:latin typeface="Helvetica Neue"/>
                <a:ea typeface="Helvetica Neue"/>
                <a:cs typeface="Helvetica Neue"/>
              </a:rPr>
              <a:t>REACT + VITE + TYPESCRIPT    /    VERCEL-READY</a:t>
            </a:r>
          </a:p>
        </p:txBody>
      </p:sp>
      <p:sp>
        <p:nvSpPr>
          <p:cNvPr id="16" name="cover-team">
            <a:extLst xmlns:a="http://schemas.openxmlformats.org/drawingml/2006/main">
              <a:ext uri="{FF2B5EF4-FFF2-40B4-BE49-F238E27FC236}">
                <a16:creationId xmlns:a16="http://schemas.microsoft.com/office/drawing/2014/main" id="{A6EF8637-345C-4A8C-A4AE-5ADDBE80A827}"/>
              </a:ext>
            </a:extLst>
          </p:cNvPr>
          <p:cNvSpPr>
            <a:spLocks xmlns:a="http://schemas.openxmlformats.org/drawingml/2006/main" noGrp="1"/>
          </p:cNvSpPr>
          <p:nvPr/>
        </p:nvSpPr>
        <p:spPr>
          <a:xfrm xmlns:a="http://schemas.openxmlformats.org/drawingml/2006/main">
            <a:off x="647700" y="55149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6F9FF"/>
                </a:solidFill>
                <a:latin typeface="Helvetica Neue"/>
                <a:ea typeface="Helvetica Neue"/>
                <a:cs typeface="Helvetica Neue"/>
              </a:defRPr>
            </a:pPr>
            <a:r>
              <a:rPr sz="1125" b="1" i="0">
                <a:solidFill>
                  <a:srgbClr val="F6F9FF"/>
                </a:solidFill>
                <a:latin typeface="Helvetica Neue"/>
                <a:ea typeface="Helvetica Neue"/>
                <a:cs typeface="Helvetica Neue"/>
              </a:rPr>
              <a:t>2-member hackathon team</a:t>
            </a:r>
          </a:p>
        </p:txBody>
      </p:sp>
      <p:sp>
        <p:nvSpPr>
          <p:cNvPr id="17" name="cover-date">
            <a:extLst xmlns:a="http://schemas.openxmlformats.org/drawingml/2006/main">
              <a:ext uri="{FF2B5EF4-FFF2-40B4-BE49-F238E27FC236}">
                <a16:creationId xmlns:a16="http://schemas.microsoft.com/office/drawing/2014/main" id="{B99E75CD-1C78-49CE-9607-1F03375745AA}"/>
              </a:ext>
            </a:extLst>
          </p:cNvPr>
          <p:cNvSpPr>
            <a:spLocks xmlns:a="http://schemas.openxmlformats.org/drawingml/2006/main" noGrp="1"/>
          </p:cNvSpPr>
          <p:nvPr/>
        </p:nvSpPr>
        <p:spPr>
          <a:xfrm xmlns:a="http://schemas.openxmlformats.org/drawingml/2006/main">
            <a:off x="647700" y="57435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8EA2BE"/>
                </a:solidFill>
                <a:latin typeface="Helvetica Neue"/>
                <a:ea typeface="Helvetica Neue"/>
                <a:cs typeface="Helvetica Neue"/>
              </a:defRPr>
            </a:pPr>
            <a:r>
              <a:rPr sz="900" b="1" i="0">
                <a:solidFill>
                  <a:srgbClr val="8EA2BE"/>
                </a:solidFill>
                <a:latin typeface="Helvetica Neue"/>
                <a:ea typeface="Helvetica Neue"/>
                <a:cs typeface="Helvetica Neue"/>
              </a:rPr>
              <a:t>18 SEPTEMBER 2026</a:t>
            </a:r>
          </a:p>
        </p:txBody>
      </p:sp>
      <p:sp>
        <p:nvSpPr>
          <p:cNvPr id="18" name="footer-rule-1">
            <a:extLst xmlns:a="http://schemas.openxmlformats.org/drawingml/2006/main">
              <a:ext uri="{FF2B5EF4-FFF2-40B4-BE49-F238E27FC236}">
                <a16:creationId xmlns:a16="http://schemas.microsoft.com/office/drawing/2014/main" id="{6948E32B-34C2-4849-8552-96F4DB6813F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9" name="footer-brand-1">
            <a:extLst xmlns:a="http://schemas.openxmlformats.org/drawingml/2006/main">
              <a:ext uri="{FF2B5EF4-FFF2-40B4-BE49-F238E27FC236}">
                <a16:creationId xmlns:a16="http://schemas.microsoft.com/office/drawing/2014/main" id="{735094E6-9E9E-4F13-B4F5-3F6E41F9CC45}"/>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20" name="footer-page-1">
            <a:extLst xmlns:a="http://schemas.openxmlformats.org/drawingml/2006/main">
              <a:ext uri="{FF2B5EF4-FFF2-40B4-BE49-F238E27FC236}">
                <a16:creationId xmlns:a16="http://schemas.microsoft.com/office/drawing/2014/main" id="{569F2C57-F49C-4DC4-923D-E0F0D7333530}"/>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01 / 09</a:t>
            </a:r>
          </a:p>
        </p:txBody>
      </p:sp>
    </p:spTree>
    <p:extLst>
      <p:ext uri="{BB962C8B-B14F-4D97-AF65-F5344CB8AC3E}">
        <p14:creationId xmlns:p14="http://schemas.microsoft.com/office/powerpoint/2010/main" val="324415487"/>
      </p:ext>
    </p:extLst>
  </p:cSld>
</p:sld>
</file>

<file path=ppt/slides/slide2.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7" name="problem-kicker">
            <a:extLst xmlns:a="http://schemas.openxmlformats.org/drawingml/2006/main">
              <a:ext uri="{FF2B5EF4-FFF2-40B4-BE49-F238E27FC236}">
                <a16:creationId xmlns:a16="http://schemas.microsoft.com/office/drawing/2014/main" id="{566293A8-5725-42C1-8774-81F80A0E75F0}"/>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2756C"/>
                </a:solidFill>
                <a:latin typeface="Helvetica Neue"/>
                <a:ea typeface="Helvetica Neue"/>
                <a:cs typeface="Helvetica Neue"/>
              </a:defRPr>
            </a:pPr>
            <a:r>
              <a:rPr sz="900" b="1" i="0">
                <a:solidFill>
                  <a:srgbClr val="F2756C"/>
                </a:solidFill>
                <a:latin typeface="Helvetica Neue"/>
                <a:ea typeface="Helvetica Neue"/>
                <a:cs typeface="Helvetica Neue"/>
              </a:rPr>
              <a:t>THE INVESTIGATION GAP</a:t>
            </a:r>
          </a:p>
        </p:txBody>
      </p:sp>
      <p:sp>
        <p:nvSpPr>
          <p:cNvPr id="2" name="problem-title">
            <a:extLst xmlns:a="http://schemas.openxmlformats.org/drawingml/2006/main">
              <a:ext uri="{FF2B5EF4-FFF2-40B4-BE49-F238E27FC236}">
                <a16:creationId xmlns:a16="http://schemas.microsoft.com/office/drawing/2014/main" id="{57EF85FA-F78A-4140-850B-D7E4BDB16BD2}"/>
              </a:ext>
            </a:extLst>
          </p:cNvPr>
          <p:cNvSpPr>
            <a:spLocks xmlns:a="http://schemas.openxmlformats.org/drawingml/2006/main" noGrp="1"/>
          </p:cNvSpPr>
          <p:nvPr/>
        </p:nvSpPr>
        <p:spPr>
          <a:xfrm xmlns:a="http://schemas.openxmlformats.org/drawingml/2006/main">
            <a:off x="609600" y="828675"/>
            <a:ext cx="7810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Transaction alerts stop at the flag</a:t>
            </a:r>
          </a:p>
        </p:txBody>
      </p:sp>
      <p:sp>
        <p:nvSpPr>
          <p:cNvPr id="3" name="problem-subtitle">
            <a:extLst xmlns:a="http://schemas.openxmlformats.org/drawingml/2006/main">
              <a:ext uri="{FF2B5EF4-FFF2-40B4-BE49-F238E27FC236}">
                <a16:creationId xmlns:a16="http://schemas.microsoft.com/office/drawing/2014/main" id="{9D21B984-36BB-4AAE-9F94-87BF38425B4E}"/>
              </a:ext>
            </a:extLst>
          </p:cNvPr>
          <p:cNvSpPr>
            <a:spLocks xmlns:a="http://schemas.openxmlformats.org/drawingml/2006/main" noGrp="1"/>
          </p:cNvSpPr>
          <p:nvPr/>
        </p:nvSpPr>
        <p:spPr>
          <a:xfrm xmlns:a="http://schemas.openxmlformats.org/drawingml/2006/main">
            <a:off x="628650" y="1485900"/>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analyst still needs to answer one question: where did the money move next?</a:t>
            </a:r>
          </a:p>
        </p:txBody>
      </p:sp>
      <p:sp>
        <p:nvSpPr>
          <p:cNvPr id="4" name="problem-rule">
            <a:extLst xmlns:a="http://schemas.openxmlformats.org/drawingml/2006/main">
              <a:ext uri="{FF2B5EF4-FFF2-40B4-BE49-F238E27FC236}">
                <a16:creationId xmlns:a16="http://schemas.microsoft.com/office/drawing/2014/main" id="{955385FC-84DA-4C26-9B52-3C9DC543FACF}"/>
              </a:ext>
            </a:extLst>
          </p:cNvPr>
          <p:cNvSpPr>
            <a:spLocks xmlns:a="http://schemas.openxmlformats.org/drawingml/2006/main" noGrp="1"/>
          </p:cNvSpPr>
          <p:nvPr/>
        </p:nvSpPr>
        <p:spPr>
          <a:xfrm xmlns:a="http://schemas.openxmlformats.org/drawingml/2006/main">
            <a:off x="609600" y="209550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 name="problem-inbound">
            <a:extLst xmlns:a="http://schemas.openxmlformats.org/drawingml/2006/main">
              <a:ext uri="{FF2B5EF4-FFF2-40B4-BE49-F238E27FC236}">
                <a16:creationId xmlns:a16="http://schemas.microsoft.com/office/drawing/2014/main" id="{2B695B84-A3EF-4F84-8E38-01A7442D0C6F}"/>
              </a:ext>
            </a:extLst>
          </p:cNvPr>
          <p:cNvSpPr>
            <a:spLocks xmlns:a="http://schemas.openxmlformats.org/drawingml/2006/main" noGrp="1"/>
          </p:cNvSpPr>
          <p:nvPr/>
        </p:nvSpPr>
        <p:spPr>
          <a:xfrm xmlns:a="http://schemas.openxmlformats.org/drawingml/2006/main">
            <a:off x="800100" y="2981325"/>
            <a:ext cx="2038350" cy="819150"/>
          </a:xfrm>
          <a:prstGeom xmlns:a="http://schemas.openxmlformats.org/drawingml/2006/main" prst="roundRect">
            <a:avLst>
              <a:gd name="adj" fmla="val 16279"/>
            </a:avLst>
          </a:prstGeom>
          <a:solidFill xmlns:a="http://schemas.openxmlformats.org/drawingml/2006/main">
            <a:srgbClr val="172D4B"/>
          </a:solidFill>
          <a:ln xmlns:a="http://schemas.openxmlformats.org/drawingml/2006/main" w="9525">
            <a:solidFill>
              <a:srgbClr val="31537D"/>
            </a:solidFill>
            <a:prstDash val="solid"/>
          </a:ln>
        </p:spPr>
      </p:sp>
      <p:sp>
        <p:nvSpPr>
          <p:cNvPr id="6" name="problem-inbound-title">
            <a:extLst xmlns:a="http://schemas.openxmlformats.org/drawingml/2006/main">
              <a:ext uri="{FF2B5EF4-FFF2-40B4-BE49-F238E27FC236}">
                <a16:creationId xmlns:a16="http://schemas.microsoft.com/office/drawing/2014/main" id="{160B4B87-5C86-4FBC-9B11-642E323BBCFD}"/>
              </a:ext>
            </a:extLst>
          </p:cNvPr>
          <p:cNvSpPr>
            <a:spLocks xmlns:a="http://schemas.openxmlformats.org/drawingml/2006/main" noGrp="1"/>
          </p:cNvSpPr>
          <p:nvPr/>
        </p:nvSpPr>
        <p:spPr>
          <a:xfrm xmlns:a="http://schemas.openxmlformats.org/drawingml/2006/main">
            <a:off x="933450" y="3095625"/>
            <a:ext cx="1771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258"/>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Many inbound payments</a:t>
            </a:r>
          </a:p>
        </p:txBody>
      </p:sp>
      <p:sp>
        <p:nvSpPr>
          <p:cNvPr id="7" name="problem-inbound-body">
            <a:extLst xmlns:a="http://schemas.openxmlformats.org/drawingml/2006/main">
              <a:ext uri="{FF2B5EF4-FFF2-40B4-BE49-F238E27FC236}">
                <a16:creationId xmlns:a16="http://schemas.microsoft.com/office/drawing/2014/main" id="{557474A2-C35C-4D84-B081-9C9DA916204B}"/>
              </a:ext>
            </a:extLst>
          </p:cNvPr>
          <p:cNvSpPr>
            <a:spLocks xmlns:a="http://schemas.openxmlformats.org/drawingml/2006/main" noGrp="1"/>
          </p:cNvSpPr>
          <p:nvPr/>
        </p:nvSpPr>
        <p:spPr>
          <a:xfrm xmlns:a="http://schemas.openxmlformats.org/drawingml/2006/main">
            <a:off x="933450" y="3362325"/>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AFC1D8"/>
                </a:solidFill>
                <a:latin typeface="Helvetica Neue"/>
                <a:ea typeface="Helvetica Neue"/>
                <a:cs typeface="Helvetica Neue"/>
              </a:defRPr>
            </a:pPr>
            <a:r>
              <a:rPr sz="900" b="0" i="0">
                <a:solidFill>
                  <a:srgbClr val="AFC1D8"/>
                </a:solidFill>
                <a:latin typeface="Helvetica Neue"/>
                <a:ea typeface="Helvetica Neue"/>
                <a:cs typeface="Helvetica Neue"/>
              </a:rPr>
              <a:t>8 senders / ₹40,000 observed</a:t>
            </a:r>
          </a:p>
        </p:txBody>
      </p:sp>
      <p:sp>
        <p:nvSpPr>
          <p:cNvPr id="8" name="problem-focal">
            <a:extLst xmlns:a="http://schemas.openxmlformats.org/drawingml/2006/main">
              <a:ext uri="{FF2B5EF4-FFF2-40B4-BE49-F238E27FC236}">
                <a16:creationId xmlns:a16="http://schemas.microsoft.com/office/drawing/2014/main" id="{C8997851-E6F0-44A5-98F5-2422C35E2EFE}"/>
              </a:ext>
            </a:extLst>
          </p:cNvPr>
          <p:cNvSpPr>
            <a:spLocks xmlns:a="http://schemas.openxmlformats.org/drawingml/2006/main" noGrp="1"/>
          </p:cNvSpPr>
          <p:nvPr/>
        </p:nvSpPr>
        <p:spPr>
          <a:xfrm xmlns:a="http://schemas.openxmlformats.org/drawingml/2006/main">
            <a:off x="3505200" y="2981325"/>
            <a:ext cx="1847850" cy="819150"/>
          </a:xfrm>
          <a:prstGeom xmlns:a="http://schemas.openxmlformats.org/drawingml/2006/main" prst="roundRect">
            <a:avLst>
              <a:gd name="adj" fmla="val 16279"/>
            </a:avLst>
          </a:prstGeom>
          <a:solidFill xmlns:a="http://schemas.openxmlformats.org/drawingml/2006/main">
            <a:srgbClr val="2F6FE5"/>
          </a:solidFill>
          <a:ln xmlns:a="http://schemas.openxmlformats.org/drawingml/2006/main" w="9525">
            <a:solidFill>
              <a:srgbClr val="77A4FF"/>
            </a:solidFill>
            <a:prstDash val="solid"/>
          </a:ln>
        </p:spPr>
      </p:sp>
      <p:sp>
        <p:nvSpPr>
          <p:cNvPr id="9" name="problem-focal-title">
            <a:extLst xmlns:a="http://schemas.openxmlformats.org/drawingml/2006/main">
              <a:ext uri="{FF2B5EF4-FFF2-40B4-BE49-F238E27FC236}">
                <a16:creationId xmlns:a16="http://schemas.microsoft.com/office/drawing/2014/main" id="{0C7F5D26-CBC2-43D9-AF22-981169A1DD35}"/>
              </a:ext>
            </a:extLst>
          </p:cNvPr>
          <p:cNvSpPr>
            <a:spLocks xmlns:a="http://schemas.openxmlformats.org/drawingml/2006/main" noGrp="1"/>
          </p:cNvSpPr>
          <p:nvPr/>
        </p:nvSpPr>
        <p:spPr>
          <a:xfrm xmlns:a="http://schemas.openxmlformats.org/drawingml/2006/main">
            <a:off x="3638550" y="3095625"/>
            <a:ext cx="1581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Focal account</a:t>
            </a:r>
          </a:p>
        </p:txBody>
      </p:sp>
      <p:sp>
        <p:nvSpPr>
          <p:cNvPr id="10" name="problem-focal-body">
            <a:extLst xmlns:a="http://schemas.openxmlformats.org/drawingml/2006/main">
              <a:ext uri="{FF2B5EF4-FFF2-40B4-BE49-F238E27FC236}">
                <a16:creationId xmlns:a16="http://schemas.microsoft.com/office/drawing/2014/main" id="{666FDC65-5ADD-4AE2-B300-6705AA11C23F}"/>
              </a:ext>
            </a:extLst>
          </p:cNvPr>
          <p:cNvSpPr>
            <a:spLocks xmlns:a="http://schemas.openxmlformats.org/drawingml/2006/main" noGrp="1"/>
          </p:cNvSpPr>
          <p:nvPr/>
        </p:nvSpPr>
        <p:spPr>
          <a:xfrm xmlns:a="http://schemas.openxmlformats.org/drawingml/2006/main">
            <a:off x="3638550" y="3362325"/>
            <a:ext cx="158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DDE9FF"/>
                </a:solidFill>
                <a:latin typeface="Helvetica Neue"/>
                <a:ea typeface="Helvetica Neue"/>
                <a:cs typeface="Helvetica Neue"/>
              </a:defRPr>
            </a:pPr>
            <a:r>
              <a:rPr sz="900" b="0" i="0">
                <a:solidFill>
                  <a:srgbClr val="DDE9FF"/>
                </a:solidFill>
                <a:latin typeface="Helvetica Neue"/>
                <a:ea typeface="Helvetica Neue"/>
                <a:cs typeface="Helvetica Neue"/>
              </a:rPr>
              <a:t>A101 becomes the review target</a:t>
            </a:r>
          </a:p>
        </p:txBody>
      </p:sp>
      <p:sp>
        <p:nvSpPr>
          <p:cNvPr id="11" name="problem-outward">
            <a:extLst xmlns:a="http://schemas.openxmlformats.org/drawingml/2006/main">
              <a:ext uri="{FF2B5EF4-FFF2-40B4-BE49-F238E27FC236}">
                <a16:creationId xmlns:a16="http://schemas.microsoft.com/office/drawing/2014/main" id="{B00B811F-1E90-463A-ADB8-D1311602FA19}"/>
              </a:ext>
            </a:extLst>
          </p:cNvPr>
          <p:cNvSpPr>
            <a:spLocks xmlns:a="http://schemas.openxmlformats.org/drawingml/2006/main" noGrp="1"/>
          </p:cNvSpPr>
          <p:nvPr/>
        </p:nvSpPr>
        <p:spPr>
          <a:xfrm xmlns:a="http://schemas.openxmlformats.org/drawingml/2006/main">
            <a:off x="6019800" y="2352675"/>
            <a:ext cx="2152650" cy="819150"/>
          </a:xfrm>
          <a:prstGeom xmlns:a="http://schemas.openxmlformats.org/drawingml/2006/main" prst="roundRect">
            <a:avLst>
              <a:gd name="adj" fmla="val 16279"/>
            </a:avLst>
          </a:prstGeom>
          <a:solidFill xmlns:a="http://schemas.openxmlformats.org/drawingml/2006/main">
            <a:srgbClr val="172D4B"/>
          </a:solidFill>
          <a:ln xmlns:a="http://schemas.openxmlformats.org/drawingml/2006/main" w="9525">
            <a:solidFill>
              <a:srgbClr val="31537D"/>
            </a:solidFill>
            <a:prstDash val="solid"/>
          </a:ln>
        </p:spPr>
      </p:sp>
      <p:sp>
        <p:nvSpPr>
          <p:cNvPr id="12" name="problem-outward-title">
            <a:extLst xmlns:a="http://schemas.openxmlformats.org/drawingml/2006/main">
              <a:ext uri="{FF2B5EF4-FFF2-40B4-BE49-F238E27FC236}">
                <a16:creationId xmlns:a16="http://schemas.microsoft.com/office/drawing/2014/main" id="{34CDE0E7-CD75-4083-B904-AC4C902BBDEA}"/>
              </a:ext>
            </a:extLst>
          </p:cNvPr>
          <p:cNvSpPr>
            <a:spLocks xmlns:a="http://schemas.openxmlformats.org/drawingml/2006/main" noGrp="1"/>
          </p:cNvSpPr>
          <p:nvPr/>
        </p:nvSpPr>
        <p:spPr>
          <a:xfrm xmlns:a="http://schemas.openxmlformats.org/drawingml/2006/main">
            <a:off x="6153150" y="2466975"/>
            <a:ext cx="1885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825"/>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Fast outward movement</a:t>
            </a:r>
          </a:p>
        </p:txBody>
      </p:sp>
      <p:sp>
        <p:nvSpPr>
          <p:cNvPr id="13" name="problem-outward-body">
            <a:extLst xmlns:a="http://schemas.openxmlformats.org/drawingml/2006/main">
              <a:ext uri="{FF2B5EF4-FFF2-40B4-BE49-F238E27FC236}">
                <a16:creationId xmlns:a16="http://schemas.microsoft.com/office/drawing/2014/main" id="{E56B2032-0516-4F39-B41F-17CF72ACE7B2}"/>
              </a:ext>
            </a:extLst>
          </p:cNvPr>
          <p:cNvSpPr>
            <a:spLocks xmlns:a="http://schemas.openxmlformats.org/drawingml/2006/main" noGrp="1"/>
          </p:cNvSpPr>
          <p:nvPr/>
        </p:nvSpPr>
        <p:spPr>
          <a:xfrm xmlns:a="http://schemas.openxmlformats.org/drawingml/2006/main">
            <a:off x="6153150" y="2733675"/>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AFC1D8"/>
                </a:solidFill>
                <a:latin typeface="Helvetica Neue"/>
                <a:ea typeface="Helvetica Neue"/>
                <a:cs typeface="Helvetica Neue"/>
              </a:defRPr>
            </a:pPr>
            <a:r>
              <a:rPr sz="900" b="0" i="0">
                <a:solidFill>
                  <a:srgbClr val="AFC1D8"/>
                </a:solidFill>
                <a:latin typeface="Helvetica Neue"/>
                <a:ea typeface="Helvetica Neue"/>
                <a:cs typeface="Helvetica Neue"/>
              </a:rPr>
              <a:t>A201 and A202 receive funds</a:t>
            </a:r>
          </a:p>
        </p:txBody>
      </p:sp>
      <p:sp>
        <p:nvSpPr>
          <p:cNvPr id="14" name="problem-destination">
            <a:extLst xmlns:a="http://schemas.openxmlformats.org/drawingml/2006/main">
              <a:ext uri="{FF2B5EF4-FFF2-40B4-BE49-F238E27FC236}">
                <a16:creationId xmlns:a16="http://schemas.microsoft.com/office/drawing/2014/main" id="{644BD596-F94A-45D4-8216-5A5024699167}"/>
              </a:ext>
            </a:extLst>
          </p:cNvPr>
          <p:cNvSpPr>
            <a:spLocks xmlns:a="http://schemas.openxmlformats.org/drawingml/2006/main" noGrp="1"/>
          </p:cNvSpPr>
          <p:nvPr/>
        </p:nvSpPr>
        <p:spPr>
          <a:xfrm xmlns:a="http://schemas.openxmlformats.org/drawingml/2006/main">
            <a:off x="8820150" y="3333750"/>
            <a:ext cx="2038350" cy="819150"/>
          </a:xfrm>
          <a:prstGeom xmlns:a="http://schemas.openxmlformats.org/drawingml/2006/main" prst="roundRect">
            <a:avLst>
              <a:gd name="adj" fmla="val 16279"/>
            </a:avLst>
          </a:prstGeom>
          <a:solidFill xmlns:a="http://schemas.openxmlformats.org/drawingml/2006/main">
            <a:srgbClr val="143A3A"/>
          </a:solidFill>
          <a:ln xmlns:a="http://schemas.openxmlformats.org/drawingml/2006/main" w="9525">
            <a:solidFill>
              <a:srgbClr val="3B8F84"/>
            </a:solidFill>
            <a:prstDash val="solid"/>
          </a:ln>
        </p:spPr>
      </p:sp>
      <p:sp>
        <p:nvSpPr>
          <p:cNvPr id="15" name="problem-destination-title">
            <a:extLst xmlns:a="http://schemas.openxmlformats.org/drawingml/2006/main">
              <a:ext uri="{FF2B5EF4-FFF2-40B4-BE49-F238E27FC236}">
                <a16:creationId xmlns:a16="http://schemas.microsoft.com/office/drawing/2014/main" id="{077E6FA7-18E7-4C01-BBDD-48565DEF00F2}"/>
              </a:ext>
            </a:extLst>
          </p:cNvPr>
          <p:cNvSpPr>
            <a:spLocks xmlns:a="http://schemas.openxmlformats.org/drawingml/2006/main" noGrp="1"/>
          </p:cNvSpPr>
          <p:nvPr/>
        </p:nvSpPr>
        <p:spPr>
          <a:xfrm xmlns:a="http://schemas.openxmlformats.org/drawingml/2006/main">
            <a:off x="8953500" y="3448050"/>
            <a:ext cx="1771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i="0">
                <a:solidFill>
                  <a:srgbClr val="63E0C5"/>
                </a:solidFill>
                <a:latin typeface="Helvetica Neue"/>
                <a:ea typeface="Helvetica Neue"/>
                <a:cs typeface="Helvetica Neue"/>
              </a:defRPr>
            </a:pPr>
            <a:r>
              <a:rPr sz="1350" b="1" i="0">
                <a:solidFill>
                  <a:srgbClr val="63E0C5"/>
                </a:solidFill>
                <a:latin typeface="Helvetica Neue"/>
                <a:ea typeface="Helvetica Neue"/>
                <a:cs typeface="Helvetica Neue"/>
              </a:rPr>
              <a:t>Shared destination</a:t>
            </a:r>
          </a:p>
        </p:txBody>
      </p:sp>
      <p:sp>
        <p:nvSpPr>
          <p:cNvPr id="16" name="problem-destination-body">
            <a:extLst xmlns:a="http://schemas.openxmlformats.org/drawingml/2006/main">
              <a:ext uri="{FF2B5EF4-FFF2-40B4-BE49-F238E27FC236}">
                <a16:creationId xmlns:a16="http://schemas.microsoft.com/office/drawing/2014/main" id="{A03B6518-E907-420E-9CA1-022F1E61E46F}"/>
              </a:ext>
            </a:extLst>
          </p:cNvPr>
          <p:cNvSpPr>
            <a:spLocks xmlns:a="http://schemas.openxmlformats.org/drawingml/2006/main" noGrp="1"/>
          </p:cNvSpPr>
          <p:nvPr/>
        </p:nvSpPr>
        <p:spPr>
          <a:xfrm xmlns:a="http://schemas.openxmlformats.org/drawingml/2006/main">
            <a:off x="8953500" y="3714750"/>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9E8DF"/>
                </a:solidFill>
                <a:latin typeface="Helvetica Neue"/>
                <a:ea typeface="Helvetica Neue"/>
                <a:cs typeface="Helvetica Neue"/>
              </a:defRPr>
            </a:pPr>
            <a:r>
              <a:rPr sz="900" b="0" i="0">
                <a:solidFill>
                  <a:srgbClr val="B9E8DF"/>
                </a:solidFill>
                <a:latin typeface="Helvetica Neue"/>
                <a:ea typeface="Helvetica Neue"/>
                <a:cs typeface="Helvetica Neue"/>
              </a:rPr>
              <a:t>A301 closes the visible story</a:t>
            </a:r>
          </a:p>
        </p:txBody>
      </p:sp>
      <p:cxnSp>
        <p:nvCxnSpPr>
          <p:cNvPr id="43" name=""/>
          <p:cNvCxnSpPr>
            <a:stCxn xmlns:a="http://schemas.openxmlformats.org/drawingml/2006/main" id="5" idx="3"/>
            <a:endCxn xmlns:a="http://schemas.openxmlformats.org/drawingml/2006/main" id="8" idx="1"/>
          </p:cNvCxnSpPr>
          <p:nvPr/>
        </p:nvCxnSpPr>
        <p:spPr>
          <a:xfrm xmlns:a="http://schemas.openxmlformats.org/drawingml/2006/main">
            <a:off x="2838450" y="3390900"/>
            <a:ext cx="666750" cy="0"/>
          </a:xfrm>
          <a:prstGeom xmlns:a="http://schemas.openxmlformats.org/drawingml/2006/main" prst="straightConnector1">
            <a:avLst/>
          </a:prstGeom>
          <a:ln xmlns:a="http://schemas.openxmlformats.org/drawingml/2006/main" w="19050">
            <a:solidFill>
              <a:srgbClr val="5478A5"/>
            </a:solidFill>
            <a:prstDash val="solid"/>
            <a:head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353050" y="2762250"/>
            <a:ext cx="666750" cy="628650"/>
          </a:xfrm>
          <a:prstGeom xmlns:a="http://schemas.openxmlformats.org/drawingml/2006/main" prst="bentConnector3">
            <a:avLst>
              <a:gd name="adj1" fmla="val 50000"/>
            </a:avLst>
          </a:prstGeom>
          <a:ln xmlns:a="http://schemas.openxmlformats.org/drawingml/2006/main" w="23813">
            <a:solidFill>
              <a:srgbClr val="5D8EFF"/>
            </a:solidFill>
            <a:prstDash val="solid"/>
            <a:headEnd type="triangle" w="sm" len="sm"/>
          </a:ln>
        </p:spPr>
      </p:cxnSp>
      <p:cxnSp>
        <p:nvCxnSpPr>
          <p:cNvPr id="45" name=""/>
          <p:cNvCxnSpPr>
            <a:stCxn xmlns:a="http://schemas.openxmlformats.org/drawingml/2006/main" id="11" idx="3"/>
            <a:endCxn xmlns:a="http://schemas.openxmlformats.org/drawingml/2006/main" id="14" idx="1"/>
          </p:cNvCxnSpPr>
          <p:nvPr/>
        </p:nvCxnSpPr>
        <p:spPr>
          <a:xfrm xmlns:a="http://schemas.openxmlformats.org/drawingml/2006/main">
            <a:off x="8172450" y="2762250"/>
            <a:ext cx="647700" cy="981075"/>
          </a:xfrm>
          <a:prstGeom xmlns:a="http://schemas.openxmlformats.org/drawingml/2006/main" prst="bentConnector3">
            <a:avLst>
              <a:gd name="adj1" fmla="val 50000"/>
            </a:avLst>
          </a:prstGeom>
          <a:ln xmlns:a="http://schemas.openxmlformats.org/drawingml/2006/main" w="23813">
            <a:solidFill>
              <a:srgbClr val="63E0C5"/>
            </a:solidFill>
            <a:prstDash val="solid"/>
            <a:headEnd type="triangle" w="sm" len="sm"/>
          </a:ln>
        </p:spPr>
      </p:cxnSp>
      <p:sp>
        <p:nvSpPr>
          <p:cNvPr id="20" name="problem-question">
            <a:extLst xmlns:a="http://schemas.openxmlformats.org/drawingml/2006/main">
              <a:ext uri="{FF2B5EF4-FFF2-40B4-BE49-F238E27FC236}">
                <a16:creationId xmlns:a16="http://schemas.microsoft.com/office/drawing/2014/main" id="{5D7F9A37-EB47-4362-9B71-56CA69CAE031}"/>
              </a:ext>
            </a:extLst>
          </p:cNvPr>
          <p:cNvSpPr>
            <a:spLocks xmlns:a="http://schemas.openxmlformats.org/drawingml/2006/main" noGrp="1"/>
          </p:cNvSpPr>
          <p:nvPr/>
        </p:nvSpPr>
        <p:spPr>
          <a:xfrm xmlns:a="http://schemas.openxmlformats.org/drawingml/2006/main">
            <a:off x="800100" y="4724400"/>
            <a:ext cx="657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648"/>
          </a:bodyPr>
          <a:lstStyle xmlns:a="http://schemas.openxmlformats.org/drawingml/2006/main"/>
          <a:p xmlns:a="http://schemas.openxmlformats.org/drawingml/2006/main">
            <a:pPr algn="l">
              <a:lnSpc>
                <a:spcPct val="105000"/>
              </a:lnSpc>
              <a:buNone/>
              <a:defRPr sz="2100" b="1" i="0">
                <a:solidFill>
                  <a:srgbClr val="F6F9FF"/>
                </a:solidFill>
                <a:latin typeface="Helvetica Neue"/>
                <a:ea typeface="Helvetica Neue"/>
                <a:cs typeface="Helvetica Neue"/>
              </a:defRPr>
            </a:pPr>
            <a:r>
              <a:rPr sz="2100" b="1" i="0">
                <a:solidFill>
                  <a:srgbClr val="F6F9FF"/>
                </a:solidFill>
                <a:latin typeface="Helvetica Neue"/>
                <a:ea typeface="Helvetica Neue"/>
                <a:cs typeface="Helvetica Neue"/>
              </a:rPr>
              <a:t>A score without a sequence leaves the review unfinished.</a:t>
            </a:r>
          </a:p>
        </p:txBody>
      </p:sp>
      <p:sp>
        <p:nvSpPr>
          <p:cNvPr id="21" name="problem-answer">
            <a:extLst xmlns:a="http://schemas.openxmlformats.org/drawingml/2006/main">
              <a:ext uri="{FF2B5EF4-FFF2-40B4-BE49-F238E27FC236}">
                <a16:creationId xmlns:a16="http://schemas.microsoft.com/office/drawing/2014/main" id="{37D654A4-5767-4176-A06B-36D7D0E201E7}"/>
              </a:ext>
            </a:extLst>
          </p:cNvPr>
          <p:cNvSpPr>
            <a:spLocks xmlns:a="http://schemas.openxmlformats.org/drawingml/2006/main" noGrp="1"/>
          </p:cNvSpPr>
          <p:nvPr/>
        </p:nvSpPr>
        <p:spPr>
          <a:xfrm xmlns:a="http://schemas.openxmlformats.org/drawingml/2006/main">
            <a:off x="819150" y="5172075"/>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56"/>
          </a:bodyPr>
          <a:lstStyle xmlns:a="http://schemas.openxmlformats.org/drawingml/2006/main"/>
          <a:p xmlns:a="http://schemas.openxmlformats.org/drawingml/2006/main">
            <a:pPr algn="l">
              <a:lnSpc>
                <a:spcPct val="125000"/>
              </a:lnSpc>
              <a:buNone/>
              <a:defRPr sz="1275" b="0" i="0">
                <a:solidFill>
                  <a:srgbClr val="8EA2BE"/>
                </a:solidFill>
                <a:latin typeface="Helvetica Neue"/>
                <a:ea typeface="Helvetica Neue"/>
                <a:cs typeface="Helvetica Neue"/>
              </a:defRPr>
            </a:pPr>
            <a:r>
              <a:rPr sz="1275" b="0" i="0">
                <a:solidFill>
                  <a:srgbClr val="8EA2BE"/>
                </a:solidFill>
                <a:latin typeface="Helvetica Neue"/>
                <a:ea typeface="Helvetica Neue"/>
                <a:cs typeface="Helvetica Neue"/>
              </a:rPr>
              <a:t>FINTRACE keeps the observed time order visible so an analyst can inspect the evidence behind the signal.</a:t>
            </a:r>
          </a:p>
        </p:txBody>
      </p:sp>
      <p:sp>
        <p:nvSpPr>
          <p:cNvPr id="22" name="problem-flag">
            <a:extLst xmlns:a="http://schemas.openxmlformats.org/drawingml/2006/main">
              <a:ext uri="{FF2B5EF4-FFF2-40B4-BE49-F238E27FC236}">
                <a16:creationId xmlns:a16="http://schemas.microsoft.com/office/drawing/2014/main" id="{E368FC65-53FD-4D00-93CA-77563F8F011B}"/>
              </a:ext>
            </a:extLst>
          </p:cNvPr>
          <p:cNvSpPr>
            <a:spLocks xmlns:a="http://schemas.openxmlformats.org/drawingml/2006/main" noGrp="1"/>
          </p:cNvSpPr>
          <p:nvPr/>
        </p:nvSpPr>
        <p:spPr>
          <a:xfrm xmlns:a="http://schemas.openxmlformats.org/drawingml/2006/main">
            <a:off x="9144000" y="4743450"/>
            <a:ext cx="1714500" cy="514350"/>
          </a:xfrm>
          <a:prstGeom xmlns:a="http://schemas.openxmlformats.org/drawingml/2006/main" prst="roundRect">
            <a:avLst>
              <a:gd name="adj" fmla="val 22222"/>
            </a:avLst>
          </a:prstGeom>
          <a:solidFill xmlns:a="http://schemas.openxmlformats.org/drawingml/2006/main">
            <a:srgbClr val="FFF0EE"/>
          </a:solidFill>
          <a:ln xmlns:a="http://schemas.openxmlformats.org/drawingml/2006/main" w="9525">
            <a:solidFill>
              <a:srgbClr val="F7A49E"/>
            </a:solidFill>
            <a:prstDash val="solid"/>
          </a:ln>
        </p:spPr>
      </p:sp>
      <p:sp>
        <p:nvSpPr>
          <p:cNvPr id="23" name="problem-flag-text">
            <a:extLst xmlns:a="http://schemas.openxmlformats.org/drawingml/2006/main">
              <a:ext uri="{FF2B5EF4-FFF2-40B4-BE49-F238E27FC236}">
                <a16:creationId xmlns:a16="http://schemas.microsoft.com/office/drawing/2014/main" id="{831FF7DE-AFAF-492B-8587-D6978C52A15D}"/>
              </a:ext>
            </a:extLst>
          </p:cNvPr>
          <p:cNvSpPr>
            <a:spLocks xmlns:a="http://schemas.openxmlformats.org/drawingml/2006/main" noGrp="1"/>
          </p:cNvSpPr>
          <p:nvPr/>
        </p:nvSpPr>
        <p:spPr>
          <a:xfrm xmlns:a="http://schemas.openxmlformats.org/drawingml/2006/main">
            <a:off x="9144000" y="49149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B84D49"/>
                </a:solidFill>
                <a:latin typeface="Helvetica Neue"/>
                <a:ea typeface="Helvetica Neue"/>
                <a:cs typeface="Helvetica Neue"/>
              </a:defRPr>
            </a:pPr>
            <a:r>
              <a:rPr sz="900" b="1" i="0">
                <a:solidFill>
                  <a:srgbClr val="B84D49"/>
                </a:solidFill>
                <a:latin typeface="Helvetica Neue"/>
                <a:ea typeface="Helvetica Neue"/>
                <a:cs typeface="Helvetica Neue"/>
              </a:rPr>
              <a:t>FLAGGED ≠ EXPLAINED</a:t>
            </a:r>
          </a:p>
        </p:txBody>
      </p:sp>
      <p:sp>
        <p:nvSpPr>
          <p:cNvPr id="24" name="footer-rule-2">
            <a:extLst xmlns:a="http://schemas.openxmlformats.org/drawingml/2006/main">
              <a:ext uri="{FF2B5EF4-FFF2-40B4-BE49-F238E27FC236}">
                <a16:creationId xmlns:a16="http://schemas.microsoft.com/office/drawing/2014/main" id="{B1DBA03C-A91E-4D8F-BF62-80CDD4C713D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25" name="footer-brand-2">
            <a:extLst xmlns:a="http://schemas.openxmlformats.org/drawingml/2006/main">
              <a:ext uri="{FF2B5EF4-FFF2-40B4-BE49-F238E27FC236}">
                <a16:creationId xmlns:a16="http://schemas.microsoft.com/office/drawing/2014/main" id="{3C89B3B2-6709-477F-B5C1-2DBE0597EE9E}"/>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26" name="footer-page-2">
            <a:extLst xmlns:a="http://schemas.openxmlformats.org/drawingml/2006/main">
              <a:ext uri="{FF2B5EF4-FFF2-40B4-BE49-F238E27FC236}">
                <a16:creationId xmlns:a16="http://schemas.microsoft.com/office/drawing/2014/main" id="{AA907806-9ACA-4852-83F4-79BAC6ECEBE4}"/>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02 / 09</a:t>
            </a:r>
          </a:p>
        </p:txBody>
      </p:sp>
    </p:spTree>
    <p:extLst>
      <p:ext uri="{BB962C8B-B14F-4D97-AF65-F5344CB8AC3E}">
        <p14:creationId xmlns:p14="http://schemas.microsoft.com/office/powerpoint/2010/main" val="709585856"/>
      </p:ext>
    </p:extLst>
  </p:cSld>
</p:sld>
</file>

<file path=ppt/slides/slide3.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29" name="flow-kicker">
            <a:extLst xmlns:a="http://schemas.openxmlformats.org/drawingml/2006/main">
              <a:ext uri="{FF2B5EF4-FFF2-40B4-BE49-F238E27FC236}">
                <a16:creationId xmlns:a16="http://schemas.microsoft.com/office/drawing/2014/main" id="{2E1D121C-759B-4520-8C01-FD871CCF02CE}"/>
              </a:ext>
            </a:extLst>
          </p:cNvPr>
          <p:cNvSpPr>
            <a:spLocks xmlns:a="http://schemas.openxmlformats.org/drawingml/2006/main" noGrp="1"/>
          </p:cNvSpPr>
          <p:nvPr/>
        </p:nvSpPr>
        <p:spPr>
          <a:xfrm xmlns:a="http://schemas.openxmlformats.org/drawingml/2006/main">
            <a:off x="609600" y="5143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FINTRACE PRODUCT FLOW</a:t>
            </a:r>
          </a:p>
        </p:txBody>
      </p:sp>
      <p:sp>
        <p:nvSpPr>
          <p:cNvPr id="2" name="flow-title">
            <a:extLst xmlns:a="http://schemas.openxmlformats.org/drawingml/2006/main">
              <a:ext uri="{FF2B5EF4-FFF2-40B4-BE49-F238E27FC236}">
                <a16:creationId xmlns:a16="http://schemas.microsoft.com/office/drawing/2014/main" id="{0F8EF98C-FAD1-477F-B8F2-8E121D54A872}"/>
              </a:ext>
            </a:extLst>
          </p:cNvPr>
          <p:cNvSpPr>
            <a:spLocks xmlns:a="http://schemas.openxmlformats.org/drawingml/2006/main" noGrp="1"/>
          </p:cNvSpPr>
          <p:nvPr/>
        </p:nvSpPr>
        <p:spPr>
          <a:xfrm xmlns:a="http://schemas.openxmlformats.org/drawingml/2006/main">
            <a:off x="609600" y="828675"/>
            <a:ext cx="819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One snapshot keeps every view aligned</a:t>
            </a:r>
          </a:p>
        </p:txBody>
      </p:sp>
      <p:sp>
        <p:nvSpPr>
          <p:cNvPr id="3" name="flow-subtitle">
            <a:extLst xmlns:a="http://schemas.openxmlformats.org/drawingml/2006/main">
              <a:ext uri="{FF2B5EF4-FFF2-40B4-BE49-F238E27FC236}">
                <a16:creationId xmlns:a16="http://schemas.microsoft.com/office/drawing/2014/main" id="{65D6179B-213C-48C3-A182-9A75670CA53E}"/>
              </a:ext>
            </a:extLst>
          </p:cNvPr>
          <p:cNvSpPr>
            <a:spLocks xmlns:a="http://schemas.openxmlformats.org/drawingml/2006/main" noGrp="1"/>
          </p:cNvSpPr>
          <p:nvPr/>
        </p:nvSpPr>
        <p:spPr>
          <a:xfrm xmlns:a="http://schemas.openxmlformats.org/drawingml/2006/main">
            <a:off x="628650" y="14859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queue, graph, evidence panel, replay controls, and export consume the same cutoff-aware result.</a:t>
            </a:r>
          </a:p>
        </p:txBody>
      </p:sp>
      <p:sp>
        <p:nvSpPr>
          <p:cNvPr id="4" name="flow-box-1">
            <a:extLst xmlns:a="http://schemas.openxmlformats.org/drawingml/2006/main">
              <a:ext uri="{FF2B5EF4-FFF2-40B4-BE49-F238E27FC236}">
                <a16:creationId xmlns:a16="http://schemas.microsoft.com/office/drawing/2014/main" id="{21D66686-93EA-46E4-8A59-92098934B083}"/>
              </a:ext>
            </a:extLst>
          </p:cNvPr>
          <p:cNvSpPr>
            <a:spLocks xmlns:a="http://schemas.openxmlformats.org/drawingml/2006/main" noGrp="1"/>
          </p:cNvSpPr>
          <p:nvPr/>
        </p:nvSpPr>
        <p:spPr>
          <a:xfrm xmlns:a="http://schemas.openxmlformats.org/drawingml/2006/main">
            <a:off x="609600"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flow-num-1">
            <a:extLst xmlns:a="http://schemas.openxmlformats.org/drawingml/2006/main">
              <a:ext uri="{FF2B5EF4-FFF2-40B4-BE49-F238E27FC236}">
                <a16:creationId xmlns:a16="http://schemas.microsoft.com/office/drawing/2014/main" id="{A34A8D87-00DE-480A-B41E-1CB08F61F0A2}"/>
              </a:ext>
            </a:extLst>
          </p:cNvPr>
          <p:cNvSpPr>
            <a:spLocks xmlns:a="http://schemas.openxmlformats.org/drawingml/2006/main" noGrp="1"/>
          </p:cNvSpPr>
          <p:nvPr/>
        </p:nvSpPr>
        <p:spPr>
          <a:xfrm xmlns:a="http://schemas.openxmlformats.org/drawingml/2006/main">
            <a:off x="781050"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01</a:t>
            </a:r>
          </a:p>
        </p:txBody>
      </p:sp>
      <p:sp>
        <p:nvSpPr>
          <p:cNvPr id="6" name="flow-title-1">
            <a:extLst xmlns:a="http://schemas.openxmlformats.org/drawingml/2006/main">
              <a:ext uri="{FF2B5EF4-FFF2-40B4-BE49-F238E27FC236}">
                <a16:creationId xmlns:a16="http://schemas.microsoft.com/office/drawing/2014/main" id="{440E4B4B-D5F0-4F71-A1F6-84E01730D1E7}"/>
              </a:ext>
            </a:extLst>
          </p:cNvPr>
          <p:cNvSpPr>
            <a:spLocks xmlns:a="http://schemas.openxmlformats.org/drawingml/2006/main" noGrp="1"/>
          </p:cNvSpPr>
          <p:nvPr/>
        </p:nvSpPr>
        <p:spPr>
          <a:xfrm xmlns:a="http://schemas.openxmlformats.org/drawingml/2006/main">
            <a:off x="781050"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Load records</a:t>
            </a:r>
          </a:p>
        </p:txBody>
      </p:sp>
      <p:sp>
        <p:nvSpPr>
          <p:cNvPr id="7" name="flow-body-1">
            <a:extLst xmlns:a="http://schemas.openxmlformats.org/drawingml/2006/main">
              <a:ext uri="{FF2B5EF4-FFF2-40B4-BE49-F238E27FC236}">
                <a16:creationId xmlns:a16="http://schemas.microsoft.com/office/drawing/2014/main" id="{C01B8CD1-0A61-4C2E-ABA7-758F889F4888}"/>
              </a:ext>
            </a:extLst>
          </p:cNvPr>
          <p:cNvSpPr>
            <a:spLocks xmlns:a="http://schemas.openxmlformats.org/drawingml/2006/main" noGrp="1"/>
          </p:cNvSpPr>
          <p:nvPr/>
        </p:nvSpPr>
        <p:spPr>
          <a:xfrm xmlns:a="http://schemas.openxmlformats.org/drawingml/2006/main">
            <a:off x="781050"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CSV intake or a synthetic scenario with strict validation.</a:t>
            </a:r>
          </a:p>
        </p:txBody>
      </p:sp>
      <p:sp>
        <p:nvSpPr>
          <p:cNvPr id="8" name="flow-box-2">
            <a:extLst xmlns:a="http://schemas.openxmlformats.org/drawingml/2006/main">
              <a:ext uri="{FF2B5EF4-FFF2-40B4-BE49-F238E27FC236}">
                <a16:creationId xmlns:a16="http://schemas.microsoft.com/office/drawing/2014/main" id="{8C886E50-0E6F-45F5-B562-6B9AF771B011}"/>
              </a:ext>
            </a:extLst>
          </p:cNvPr>
          <p:cNvSpPr>
            <a:spLocks xmlns:a="http://schemas.openxmlformats.org/drawingml/2006/main" noGrp="1"/>
          </p:cNvSpPr>
          <p:nvPr/>
        </p:nvSpPr>
        <p:spPr>
          <a:xfrm xmlns:a="http://schemas.openxmlformats.org/drawingml/2006/main">
            <a:off x="3114675"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flow-num-2">
            <a:extLst xmlns:a="http://schemas.openxmlformats.org/drawingml/2006/main">
              <a:ext uri="{FF2B5EF4-FFF2-40B4-BE49-F238E27FC236}">
                <a16:creationId xmlns:a16="http://schemas.microsoft.com/office/drawing/2014/main" id="{21CDD83E-CE8B-4FD6-AD0E-766BB49B9255}"/>
              </a:ext>
            </a:extLst>
          </p:cNvPr>
          <p:cNvSpPr>
            <a:spLocks xmlns:a="http://schemas.openxmlformats.org/drawingml/2006/main" noGrp="1"/>
          </p:cNvSpPr>
          <p:nvPr/>
        </p:nvSpPr>
        <p:spPr>
          <a:xfrm xmlns:a="http://schemas.openxmlformats.org/drawingml/2006/main">
            <a:off x="3286125"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02</a:t>
            </a:r>
          </a:p>
        </p:txBody>
      </p:sp>
      <p:sp>
        <p:nvSpPr>
          <p:cNvPr id="10" name="flow-title-2">
            <a:extLst xmlns:a="http://schemas.openxmlformats.org/drawingml/2006/main">
              <a:ext uri="{FF2B5EF4-FFF2-40B4-BE49-F238E27FC236}">
                <a16:creationId xmlns:a16="http://schemas.microsoft.com/office/drawing/2014/main" id="{230D9B39-0624-4769-AF29-2B49E14E892F}"/>
              </a:ext>
            </a:extLst>
          </p:cNvPr>
          <p:cNvSpPr>
            <a:spLocks xmlns:a="http://schemas.openxmlformats.org/drawingml/2006/main" noGrp="1"/>
          </p:cNvSpPr>
          <p:nvPr/>
        </p:nvSpPr>
        <p:spPr>
          <a:xfrm xmlns:a="http://schemas.openxmlformats.org/drawingml/2006/main">
            <a:off x="3286125"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Apply cutoff</a:t>
            </a:r>
          </a:p>
        </p:txBody>
      </p:sp>
      <p:sp>
        <p:nvSpPr>
          <p:cNvPr id="11" name="flow-body-2">
            <a:extLst xmlns:a="http://schemas.openxmlformats.org/drawingml/2006/main">
              <a:ext uri="{FF2B5EF4-FFF2-40B4-BE49-F238E27FC236}">
                <a16:creationId xmlns:a16="http://schemas.microsoft.com/office/drawing/2014/main" id="{863B3D6F-836E-4FAA-A1AE-EE5E9854CF19}"/>
              </a:ext>
            </a:extLst>
          </p:cNvPr>
          <p:cNvSpPr>
            <a:spLocks xmlns:a="http://schemas.openxmlformats.org/drawingml/2006/main" noGrp="1"/>
          </p:cNvSpPr>
          <p:nvPr/>
        </p:nvSpPr>
        <p:spPr>
          <a:xfrm xmlns:a="http://schemas.openxmlformats.org/drawingml/2006/main">
            <a:off x="3286125"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Future transfers stay out of the current observation.</a:t>
            </a:r>
          </a:p>
        </p:txBody>
      </p:sp>
      <p:sp>
        <p:nvSpPr>
          <p:cNvPr id="12" name="flow-box-3">
            <a:extLst xmlns:a="http://schemas.openxmlformats.org/drawingml/2006/main">
              <a:ext uri="{FF2B5EF4-FFF2-40B4-BE49-F238E27FC236}">
                <a16:creationId xmlns:a16="http://schemas.microsoft.com/office/drawing/2014/main" id="{9A173FE6-821E-4806-BA77-325BF8AB4859}"/>
              </a:ext>
            </a:extLst>
          </p:cNvPr>
          <p:cNvSpPr>
            <a:spLocks xmlns:a="http://schemas.openxmlformats.org/drawingml/2006/main" noGrp="1"/>
          </p:cNvSpPr>
          <p:nvPr/>
        </p:nvSpPr>
        <p:spPr>
          <a:xfrm xmlns:a="http://schemas.openxmlformats.org/drawingml/2006/main">
            <a:off x="5619750"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flow-num-3">
            <a:extLst xmlns:a="http://schemas.openxmlformats.org/drawingml/2006/main">
              <a:ext uri="{FF2B5EF4-FFF2-40B4-BE49-F238E27FC236}">
                <a16:creationId xmlns:a16="http://schemas.microsoft.com/office/drawing/2014/main" id="{C7B542F9-7A98-44E8-8322-4F8C92FE3496}"/>
              </a:ext>
            </a:extLst>
          </p:cNvPr>
          <p:cNvSpPr>
            <a:spLocks xmlns:a="http://schemas.openxmlformats.org/drawingml/2006/main" noGrp="1"/>
          </p:cNvSpPr>
          <p:nvPr/>
        </p:nvSpPr>
        <p:spPr>
          <a:xfrm xmlns:a="http://schemas.openxmlformats.org/drawingml/2006/main">
            <a:off x="5791200"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63E0C5"/>
                </a:solidFill>
                <a:latin typeface="Helvetica Neue"/>
                <a:ea typeface="Helvetica Neue"/>
                <a:cs typeface="Helvetica Neue"/>
              </a:defRPr>
            </a:pPr>
            <a:r>
              <a:rPr sz="1350" b="1" i="0">
                <a:solidFill>
                  <a:srgbClr val="63E0C5"/>
                </a:solidFill>
                <a:latin typeface="Helvetica Neue"/>
                <a:ea typeface="Helvetica Neue"/>
                <a:cs typeface="Helvetica Neue"/>
              </a:rPr>
              <a:t>03</a:t>
            </a:r>
          </a:p>
        </p:txBody>
      </p:sp>
      <p:sp>
        <p:nvSpPr>
          <p:cNvPr id="14" name="flow-title-3">
            <a:extLst xmlns:a="http://schemas.openxmlformats.org/drawingml/2006/main">
              <a:ext uri="{FF2B5EF4-FFF2-40B4-BE49-F238E27FC236}">
                <a16:creationId xmlns:a16="http://schemas.microsoft.com/office/drawing/2014/main" id="{4CD8B200-A892-4528-AD23-23E0AD67D205}"/>
              </a:ext>
            </a:extLst>
          </p:cNvPr>
          <p:cNvSpPr>
            <a:spLocks xmlns:a="http://schemas.openxmlformats.org/drawingml/2006/main" noGrp="1"/>
          </p:cNvSpPr>
          <p:nvPr/>
        </p:nvSpPr>
        <p:spPr>
          <a:xfrm xmlns:a="http://schemas.openxmlformats.org/drawingml/2006/main">
            <a:off x="5791200"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Trace paths</a:t>
            </a:r>
          </a:p>
        </p:txBody>
      </p:sp>
      <p:sp>
        <p:nvSpPr>
          <p:cNvPr id="15" name="flow-body-3">
            <a:extLst xmlns:a="http://schemas.openxmlformats.org/drawingml/2006/main">
              <a:ext uri="{FF2B5EF4-FFF2-40B4-BE49-F238E27FC236}">
                <a16:creationId xmlns:a16="http://schemas.microsoft.com/office/drawing/2014/main" id="{735410BC-31D0-4AF2-958C-CB3F32988923}"/>
              </a:ext>
            </a:extLst>
          </p:cNvPr>
          <p:cNvSpPr>
            <a:spLocks xmlns:a="http://schemas.openxmlformats.org/drawingml/2006/main" noGrp="1"/>
          </p:cNvSpPr>
          <p:nvPr/>
        </p:nvSpPr>
        <p:spPr>
          <a:xfrm xmlns:a="http://schemas.openxmlformats.org/drawingml/2006/main">
            <a:off x="5791200"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Chronological graph reasoning with bounded depth and time.</a:t>
            </a:r>
          </a:p>
        </p:txBody>
      </p:sp>
      <p:sp>
        <p:nvSpPr>
          <p:cNvPr id="16" name="flow-box-4">
            <a:extLst xmlns:a="http://schemas.openxmlformats.org/drawingml/2006/main">
              <a:ext uri="{FF2B5EF4-FFF2-40B4-BE49-F238E27FC236}">
                <a16:creationId xmlns:a16="http://schemas.microsoft.com/office/drawing/2014/main" id="{229F9D49-ADA2-4F53-B4CD-47720E520D54}"/>
              </a:ext>
            </a:extLst>
          </p:cNvPr>
          <p:cNvSpPr>
            <a:spLocks xmlns:a="http://schemas.openxmlformats.org/drawingml/2006/main" noGrp="1"/>
          </p:cNvSpPr>
          <p:nvPr/>
        </p:nvSpPr>
        <p:spPr>
          <a:xfrm xmlns:a="http://schemas.openxmlformats.org/drawingml/2006/main">
            <a:off x="8124825"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flow-num-4">
            <a:extLst xmlns:a="http://schemas.openxmlformats.org/drawingml/2006/main">
              <a:ext uri="{FF2B5EF4-FFF2-40B4-BE49-F238E27FC236}">
                <a16:creationId xmlns:a16="http://schemas.microsoft.com/office/drawing/2014/main" id="{2CF09660-9BB2-4815-BC83-FF444B19D49C}"/>
              </a:ext>
            </a:extLst>
          </p:cNvPr>
          <p:cNvSpPr>
            <a:spLocks xmlns:a="http://schemas.openxmlformats.org/drawingml/2006/main" noGrp="1"/>
          </p:cNvSpPr>
          <p:nvPr/>
        </p:nvSpPr>
        <p:spPr>
          <a:xfrm xmlns:a="http://schemas.openxmlformats.org/drawingml/2006/main">
            <a:off x="8296275"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04</a:t>
            </a:r>
          </a:p>
        </p:txBody>
      </p:sp>
      <p:sp>
        <p:nvSpPr>
          <p:cNvPr id="18" name="flow-title-4">
            <a:extLst xmlns:a="http://schemas.openxmlformats.org/drawingml/2006/main">
              <a:ext uri="{FF2B5EF4-FFF2-40B4-BE49-F238E27FC236}">
                <a16:creationId xmlns:a16="http://schemas.microsoft.com/office/drawing/2014/main" id="{B95F747A-E688-4FB8-944D-B771B660570C}"/>
              </a:ext>
            </a:extLst>
          </p:cNvPr>
          <p:cNvSpPr>
            <a:spLocks xmlns:a="http://schemas.openxmlformats.org/drawingml/2006/main" noGrp="1"/>
          </p:cNvSpPr>
          <p:nvPr/>
        </p:nvSpPr>
        <p:spPr>
          <a:xfrm xmlns:a="http://schemas.openxmlformats.org/drawingml/2006/main">
            <a:off x="8296275"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Review evidence</a:t>
            </a:r>
          </a:p>
        </p:txBody>
      </p:sp>
      <p:sp>
        <p:nvSpPr>
          <p:cNvPr id="19" name="flow-body-4">
            <a:extLst xmlns:a="http://schemas.openxmlformats.org/drawingml/2006/main">
              <a:ext uri="{FF2B5EF4-FFF2-40B4-BE49-F238E27FC236}">
                <a16:creationId xmlns:a16="http://schemas.microsoft.com/office/drawing/2014/main" id="{A5CA7C99-A72B-40BB-97DB-239CCB7AD2B6}"/>
              </a:ext>
            </a:extLst>
          </p:cNvPr>
          <p:cNvSpPr>
            <a:spLocks xmlns:a="http://schemas.openxmlformats.org/drawingml/2006/main" noGrp="1"/>
          </p:cNvSpPr>
          <p:nvPr/>
        </p:nvSpPr>
        <p:spPr>
          <a:xfrm xmlns:a="http://schemas.openxmlformats.org/drawingml/2006/main">
            <a:off x="8296275"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Score, signals, rows, notes, and JSON snapshot.</a:t>
            </a:r>
          </a:p>
        </p:txBody>
      </p:sp>
      <p:cxnSp>
        <p:nvCxnSpPr>
          <p:cNvPr id="48" name=""/>
          <p:cNvCxnSpPr>
            <a:stCxn xmlns:a="http://schemas.openxmlformats.org/drawingml/2006/main" id="4" idx="3"/>
            <a:endCxn xmlns:a="http://schemas.openxmlformats.org/drawingml/2006/main" id="8" idx="1"/>
          </p:cNvCxnSpPr>
          <p:nvPr/>
        </p:nvCxnSpPr>
        <p:spPr>
          <a:xfrm xmlns:a="http://schemas.openxmlformats.org/drawingml/2006/main">
            <a:off x="2943225" y="3286125"/>
            <a:ext cx="171450" cy="0"/>
          </a:xfrm>
          <a:prstGeom xmlns:a="http://schemas.openxmlformats.org/drawingml/2006/main" prst="straightConnector1">
            <a:avLst/>
          </a:prstGeom>
          <a:ln xmlns:a="http://schemas.openxmlformats.org/drawingml/2006/main" w="19050">
            <a:solidFill>
              <a:srgbClr val="2F6FE5"/>
            </a:solidFill>
            <a:prstDash val="solid"/>
            <a:headEnd type="triangle" w="sm" len="sm"/>
          </a:ln>
        </p:spPr>
      </p:cxnSp>
      <p:cxnSp>
        <p:nvCxnSpPr>
          <p:cNvPr id="49" name=""/>
          <p:cNvCxnSpPr>
            <a:stCxn xmlns:a="http://schemas.openxmlformats.org/drawingml/2006/main" id="8" idx="3"/>
            <a:endCxn xmlns:a="http://schemas.openxmlformats.org/drawingml/2006/main" id="12" idx="1"/>
          </p:cNvCxnSpPr>
          <p:nvPr/>
        </p:nvCxnSpPr>
        <p:spPr>
          <a:xfrm xmlns:a="http://schemas.openxmlformats.org/drawingml/2006/main">
            <a:off x="5448300" y="3286125"/>
            <a:ext cx="171450" cy="0"/>
          </a:xfrm>
          <a:prstGeom xmlns:a="http://schemas.openxmlformats.org/drawingml/2006/main" prst="straightConnector1">
            <a:avLst/>
          </a:prstGeom>
          <a:ln xmlns:a="http://schemas.openxmlformats.org/drawingml/2006/main" w="19050">
            <a:solidFill>
              <a:srgbClr val="2F6FE5"/>
            </a:solidFill>
            <a:prstDash val="solid"/>
            <a:headEnd type="triangle" w="sm" len="sm"/>
          </a:ln>
        </p:spPr>
      </p:cxnSp>
      <p:cxnSp>
        <p:nvCxnSpPr>
          <p:cNvPr id="50" name=""/>
          <p:cNvCxnSpPr>
            <a:stCxn xmlns:a="http://schemas.openxmlformats.org/drawingml/2006/main" id="12" idx="3"/>
            <a:endCxn xmlns:a="http://schemas.openxmlformats.org/drawingml/2006/main" id="16" idx="1"/>
          </p:cNvCxnSpPr>
          <p:nvPr/>
        </p:nvCxnSpPr>
        <p:spPr>
          <a:xfrm xmlns:a="http://schemas.openxmlformats.org/drawingml/2006/main">
            <a:off x="7953375" y="3286125"/>
            <a:ext cx="171450" cy="0"/>
          </a:xfrm>
          <a:prstGeom xmlns:a="http://schemas.openxmlformats.org/drawingml/2006/main" prst="straightConnector1">
            <a:avLst/>
          </a:prstGeom>
          <a:ln xmlns:a="http://schemas.openxmlformats.org/drawingml/2006/main" w="19050">
            <a:solidFill>
              <a:srgbClr val="2F6FE5"/>
            </a:solidFill>
            <a:prstDash val="solid"/>
            <a:headEnd type="triangle" w="sm" len="sm"/>
          </a:ln>
        </p:spPr>
      </p:cxnSp>
      <p:sp>
        <p:nvSpPr>
          <p:cNvPr id="23" name="flow-bottom-band">
            <a:extLst xmlns:a="http://schemas.openxmlformats.org/drawingml/2006/main">
              <a:ext uri="{FF2B5EF4-FFF2-40B4-BE49-F238E27FC236}">
                <a16:creationId xmlns:a16="http://schemas.microsoft.com/office/drawing/2014/main" id="{CBED22C6-AB2E-48B2-B409-79A916878E93}"/>
              </a:ext>
            </a:extLst>
          </p:cNvPr>
          <p:cNvSpPr>
            <a:spLocks xmlns:a="http://schemas.openxmlformats.org/drawingml/2006/main" noGrp="1"/>
          </p:cNvSpPr>
          <p:nvPr/>
        </p:nvSpPr>
        <p:spPr>
          <a:xfrm xmlns:a="http://schemas.openxmlformats.org/drawingml/2006/main">
            <a:off x="609600" y="4762500"/>
            <a:ext cx="10972800" cy="990600"/>
          </a:xfrm>
          <a:prstGeom xmlns:a="http://schemas.openxmlformats.org/drawingml/2006/main" prst="roundRect">
            <a:avLst>
              <a:gd name="adj" fmla="val 17308"/>
            </a:avLst>
          </a:prstGeom>
          <a:solidFill xmlns:a="http://schemas.openxmlformats.org/drawingml/2006/main">
            <a:srgbClr val="071429"/>
          </a:solidFill>
          <a:ln xmlns:a="http://schemas.openxmlformats.org/drawingml/2006/main" w="9525">
            <a:solidFill>
              <a:srgbClr val="17345B"/>
            </a:solidFill>
            <a:prstDash val="solid"/>
          </a:ln>
        </p:spPr>
      </p:sp>
      <p:sp>
        <p:nvSpPr>
          <p:cNvPr id="24" name="flow-bottom-title">
            <a:extLst xmlns:a="http://schemas.openxmlformats.org/drawingml/2006/main">
              <a:ext uri="{FF2B5EF4-FFF2-40B4-BE49-F238E27FC236}">
                <a16:creationId xmlns:a16="http://schemas.microsoft.com/office/drawing/2014/main" id="{84724C38-8CC4-40AB-8458-26366D45257C}"/>
              </a:ext>
            </a:extLst>
          </p:cNvPr>
          <p:cNvSpPr>
            <a:spLocks xmlns:a="http://schemas.openxmlformats.org/drawingml/2006/main" noGrp="1"/>
          </p:cNvSpPr>
          <p:nvPr/>
        </p:nvSpPr>
        <p:spPr>
          <a:xfrm xmlns:a="http://schemas.openxmlformats.org/drawingml/2006/main">
            <a:off x="857250" y="499110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One response. Five product surfaces.</a:t>
            </a:r>
          </a:p>
        </p:txBody>
      </p:sp>
      <p:sp>
        <p:nvSpPr>
          <p:cNvPr id="25" name="flow-bottom-body">
            <a:extLst xmlns:a="http://schemas.openxmlformats.org/drawingml/2006/main">
              <a:ext uri="{FF2B5EF4-FFF2-40B4-BE49-F238E27FC236}">
                <a16:creationId xmlns:a16="http://schemas.microsoft.com/office/drawing/2014/main" id="{5C83E4A9-5B3E-4A61-AF1C-6092E2BBCB2D}"/>
              </a:ext>
            </a:extLst>
          </p:cNvPr>
          <p:cNvSpPr>
            <a:spLocks xmlns:a="http://schemas.openxmlformats.org/drawingml/2006/main" noGrp="1"/>
          </p:cNvSpPr>
          <p:nvPr/>
        </p:nvSpPr>
        <p:spPr>
          <a:xfrm xmlns:a="http://schemas.openxmlformats.org/drawingml/2006/main">
            <a:off x="5467350" y="4981575"/>
            <a:ext cx="561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141"/>
          </a:bodyPr>
          <a:lstStyle xmlns:a="http://schemas.openxmlformats.org/drawingml/2006/main"/>
          <a:p xmlns:a="http://schemas.openxmlformats.org/drawingml/2006/main">
            <a:pPr algn="l">
              <a:lnSpc>
                <a:spcPct val="130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The frontend never invents a second score. It renders the API or local engine snapshot that already contains the evidence links.</a:t>
            </a:r>
          </a:p>
        </p:txBody>
      </p:sp>
      <p:sp>
        <p:nvSpPr>
          <p:cNvPr id="26" name="footer-rule-3">
            <a:extLst xmlns:a="http://schemas.openxmlformats.org/drawingml/2006/main">
              <a:ext uri="{FF2B5EF4-FFF2-40B4-BE49-F238E27FC236}">
                <a16:creationId xmlns:a16="http://schemas.microsoft.com/office/drawing/2014/main" id="{084E4C4B-5577-45D5-92E2-83C0C867E9B2}"/>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7" name="footer-brand-3">
            <a:extLst xmlns:a="http://schemas.openxmlformats.org/drawingml/2006/main">
              <a:ext uri="{FF2B5EF4-FFF2-40B4-BE49-F238E27FC236}">
                <a16:creationId xmlns:a16="http://schemas.microsoft.com/office/drawing/2014/main" id="{F6E6237E-DB9B-4A25-A3C1-D2BCC13AFC2A}"/>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28" name="footer-page-3">
            <a:extLst xmlns:a="http://schemas.openxmlformats.org/drawingml/2006/main">
              <a:ext uri="{FF2B5EF4-FFF2-40B4-BE49-F238E27FC236}">
                <a16:creationId xmlns:a16="http://schemas.microsoft.com/office/drawing/2014/main" id="{0AAD1C05-D688-4407-87B8-623C65CD6BBA}"/>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03 / 09</a:t>
            </a:r>
          </a:p>
        </p:txBody>
      </p:sp>
    </p:spTree>
    <p:extLst>
      <p:ext uri="{BB962C8B-B14F-4D97-AF65-F5344CB8AC3E}">
        <p14:creationId xmlns:p14="http://schemas.microsoft.com/office/powerpoint/2010/main" val="1175807741"/>
      </p:ext>
    </p:extLst>
  </p:cSld>
</p:sld>
</file>

<file path=ppt/slides/slide4.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18" name="proof-kicker">
            <a:extLst xmlns:a="http://schemas.openxmlformats.org/drawingml/2006/main">
              <a:ext uri="{FF2B5EF4-FFF2-40B4-BE49-F238E27FC236}">
                <a16:creationId xmlns:a16="http://schemas.microsoft.com/office/drawing/2014/main" id="{8A31B0FD-894A-48A4-90C9-26D9DF9B3B72}"/>
              </a:ext>
            </a:extLst>
          </p:cNvPr>
          <p:cNvSpPr>
            <a:spLocks xmlns:a="http://schemas.openxmlformats.org/drawingml/2006/main" noGrp="1"/>
          </p:cNvSpPr>
          <p:nvPr/>
        </p:nvSpPr>
        <p:spPr>
          <a:xfrm xmlns:a="http://schemas.openxmlformats.org/drawingml/2006/main">
            <a:off x="609600" y="514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PRODUCT PROOF</a:t>
            </a:r>
          </a:p>
        </p:txBody>
      </p:sp>
      <p:sp>
        <p:nvSpPr>
          <p:cNvPr id="2" name="proof-title">
            <a:extLst xmlns:a="http://schemas.openxmlformats.org/drawingml/2006/main">
              <a:ext uri="{FF2B5EF4-FFF2-40B4-BE49-F238E27FC236}">
                <a16:creationId xmlns:a16="http://schemas.microsoft.com/office/drawing/2014/main" id="{CBAE3158-B8B2-4160-A120-D9E24F1F62B6}"/>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The product fits on one investigation screen</a:t>
            </a:r>
          </a:p>
        </p:txBody>
      </p:sp>
      <p:sp>
        <p:nvSpPr>
          <p:cNvPr id="3" name="proof-subtitle">
            <a:extLst xmlns:a="http://schemas.openxmlformats.org/drawingml/2006/main">
              <a:ext uri="{FF2B5EF4-FFF2-40B4-BE49-F238E27FC236}">
                <a16:creationId xmlns:a16="http://schemas.microsoft.com/office/drawing/2014/main" id="{A9790940-D5A2-43E8-9D4C-277EFA4EF2C2}"/>
              </a:ext>
            </a:extLst>
          </p:cNvPr>
          <p:cNvSpPr>
            <a:spLocks xmlns:a="http://schemas.openxmlformats.org/drawingml/2006/main" noGrp="1"/>
          </p:cNvSpPr>
          <p:nvPr/>
        </p:nvSpPr>
        <p:spPr>
          <a:xfrm xmlns:a="http://schemas.openxmlformats.org/drawingml/2006/main">
            <a:off x="628650" y="1485900"/>
            <a:ext cx="752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analyst can move from priority to graph to evidence without leaving the case.</a:t>
            </a:r>
          </a:p>
        </p:txBody>
      </p:sp>
      <p:sp>
        <p:nvSpPr>
          <p:cNvPr id="4" name="proof-image-frame">
            <a:extLst xmlns:a="http://schemas.openxmlformats.org/drawingml/2006/main">
              <a:ext uri="{FF2B5EF4-FFF2-40B4-BE49-F238E27FC236}">
                <a16:creationId xmlns:a16="http://schemas.microsoft.com/office/drawing/2014/main" id="{22CB153E-9843-47C8-8476-71C2019F6EDA}"/>
              </a:ext>
            </a:extLst>
          </p:cNvPr>
          <p:cNvSpPr>
            <a:spLocks xmlns:a="http://schemas.openxmlformats.org/drawingml/2006/main" noGrp="1"/>
          </p:cNvSpPr>
          <p:nvPr/>
        </p:nvSpPr>
        <p:spPr>
          <a:xfrm xmlns:a="http://schemas.openxmlformats.org/drawingml/2006/main">
            <a:off x="609600" y="2133600"/>
            <a:ext cx="6667500" cy="4171950"/>
          </a:xfrm>
          <a:prstGeom xmlns:a="http://schemas.openxmlformats.org/drawingml/2006/main" prst="roundRect">
            <a:avLst>
              <a:gd name="adj" fmla="val 4566"/>
            </a:avLst>
          </a:prstGeom>
          <a:solidFill xmlns:a="http://schemas.openxmlformats.org/drawingml/2006/main">
            <a:srgbClr val="0D203B"/>
          </a:solidFill>
          <a:ln xmlns:a="http://schemas.openxmlformats.org/drawingml/2006/main" w="9525">
            <a:solidFill>
              <a:srgbClr val="284A73"/>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2986e5f70bd47a4"/>
          <a:srcRect xmlns:a="http://schemas.openxmlformats.org/drawingml/2006/main" l="0" t="1006" r="0" b="1006"/>
          <a:stretch xmlns:a="http://schemas.openxmlformats.org/drawingml/2006/main">
            <a:fillRect l="0" t="0" r="0" b="0"/>
          </a:stretch>
        </p:blipFill>
        <p:spPr>
          <a:xfrm xmlns:a="http://schemas.openxmlformats.org/drawingml/2006/main">
            <a:off x="723900" y="2247900"/>
            <a:ext cx="6438900" cy="3943350"/>
          </a:xfrm>
          <a:prstGeom xmlns:a="http://schemas.openxmlformats.org/drawingml/2006/main" prst="roundRect">
            <a:avLst>
              <a:gd name="adj" fmla="val 3865"/>
            </a:avLst>
          </a:prstGeom>
        </p:spPr>
      </p:pic>
      <p:sp>
        <p:nvSpPr>
          <p:cNvPr id="6" name="proof-caption">
            <a:extLst xmlns:a="http://schemas.openxmlformats.org/drawingml/2006/main">
              <a:ext uri="{FF2B5EF4-FFF2-40B4-BE49-F238E27FC236}">
                <a16:creationId xmlns:a16="http://schemas.microsoft.com/office/drawing/2014/main" id="{1EAC14F9-2B37-40E4-8BD5-0CDBF2F1BDA0}"/>
              </a:ext>
            </a:extLst>
          </p:cNvPr>
          <p:cNvSpPr>
            <a:spLocks xmlns:a="http://schemas.openxmlformats.org/drawingml/2006/main" noGrp="1"/>
          </p:cNvSpPr>
          <p:nvPr/>
        </p:nvSpPr>
        <p:spPr>
          <a:xfrm xmlns:a="http://schemas.openxmlformats.org/drawingml/2006/main">
            <a:off x="8763000" y="21336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D8EFF"/>
                </a:solidFill>
                <a:latin typeface="Helvetica Neue"/>
                <a:ea typeface="Helvetica Neue"/>
                <a:cs typeface="Helvetica Neue"/>
              </a:defRPr>
            </a:pPr>
            <a:r>
              <a:rPr sz="750" b="1" i="0">
                <a:solidFill>
                  <a:srgbClr val="5D8EFF"/>
                </a:solidFill>
                <a:latin typeface="Helvetica Neue"/>
                <a:ea typeface="Helvetica Neue"/>
                <a:cs typeface="Helvetica Neue"/>
              </a:rPr>
              <a:t>CANONICAL SPLIT AND RECONVERGE SCENARIO</a:t>
            </a:r>
          </a:p>
        </p:txBody>
      </p:sp>
      <p:sp>
        <p:nvSpPr>
          <p:cNvPr id="7" name="proof-rule-1">
            <a:extLst xmlns:a="http://schemas.openxmlformats.org/drawingml/2006/main">
              <a:ext uri="{FF2B5EF4-FFF2-40B4-BE49-F238E27FC236}">
                <a16:creationId xmlns:a16="http://schemas.microsoft.com/office/drawing/2014/main" id="{E8991479-71AD-44C5-9D71-7161F6CA7D12}"/>
              </a:ext>
            </a:extLst>
          </p:cNvPr>
          <p:cNvSpPr>
            <a:spLocks xmlns:a="http://schemas.openxmlformats.org/drawingml/2006/main" noGrp="1"/>
          </p:cNvSpPr>
          <p:nvPr/>
        </p:nvSpPr>
        <p:spPr>
          <a:xfrm xmlns:a="http://schemas.openxmlformats.org/drawingml/2006/main">
            <a:off x="8763000" y="2562225"/>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8" name="proof-point-1-number">
            <a:extLst xmlns:a="http://schemas.openxmlformats.org/drawingml/2006/main">
              <a:ext uri="{FF2B5EF4-FFF2-40B4-BE49-F238E27FC236}">
                <a16:creationId xmlns:a16="http://schemas.microsoft.com/office/drawing/2014/main" id="{204664C1-A5C9-4D04-AB0F-1E5C5A05E2DB}"/>
              </a:ext>
            </a:extLst>
          </p:cNvPr>
          <p:cNvSpPr>
            <a:spLocks xmlns:a="http://schemas.openxmlformats.org/drawingml/2006/main" noGrp="1"/>
          </p:cNvSpPr>
          <p:nvPr/>
        </p:nvSpPr>
        <p:spPr>
          <a:xfrm xmlns:a="http://schemas.openxmlformats.org/drawingml/2006/main">
            <a:off x="8763000" y="28003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75" b="1" i="0">
                <a:solidFill>
                  <a:srgbClr val="F2756C"/>
                </a:solidFill>
                <a:latin typeface="Helvetica Neue"/>
                <a:ea typeface="Helvetica Neue"/>
                <a:cs typeface="Helvetica Neue"/>
              </a:defRPr>
            </a:pPr>
            <a:r>
              <a:rPr sz="2475" b="1" i="0">
                <a:solidFill>
                  <a:srgbClr val="F2756C"/>
                </a:solidFill>
                <a:latin typeface="Helvetica Neue"/>
                <a:ea typeface="Helvetica Neue"/>
                <a:cs typeface="Helvetica Neue"/>
              </a:rPr>
              <a:t>100/100</a:t>
            </a:r>
          </a:p>
        </p:txBody>
      </p:sp>
      <p:sp>
        <p:nvSpPr>
          <p:cNvPr id="9" name="proof-point-1">
            <a:extLst xmlns:a="http://schemas.openxmlformats.org/drawingml/2006/main">
              <a:ext uri="{FF2B5EF4-FFF2-40B4-BE49-F238E27FC236}">
                <a16:creationId xmlns:a16="http://schemas.microsoft.com/office/drawing/2014/main" id="{B7527F06-E51D-4D24-B31E-37F994A154E5}"/>
              </a:ext>
            </a:extLst>
          </p:cNvPr>
          <p:cNvSpPr>
            <a:spLocks xmlns:a="http://schemas.openxmlformats.org/drawingml/2006/main" noGrp="1"/>
          </p:cNvSpPr>
          <p:nvPr/>
        </p:nvSpPr>
        <p:spPr>
          <a:xfrm xmlns:a="http://schemas.openxmlformats.org/drawingml/2006/main">
            <a:off x="8763000" y="323850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Configured checks surface a high-priority review case for A101.</a:t>
            </a:r>
          </a:p>
        </p:txBody>
      </p:sp>
      <p:sp>
        <p:nvSpPr>
          <p:cNvPr id="10" name="proof-rule-2">
            <a:extLst xmlns:a="http://schemas.openxmlformats.org/drawingml/2006/main">
              <a:ext uri="{FF2B5EF4-FFF2-40B4-BE49-F238E27FC236}">
                <a16:creationId xmlns:a16="http://schemas.microsoft.com/office/drawing/2014/main" id="{091E9597-B81B-4822-9F9F-79F3B8B847C8}"/>
              </a:ext>
            </a:extLst>
          </p:cNvPr>
          <p:cNvSpPr>
            <a:spLocks xmlns:a="http://schemas.openxmlformats.org/drawingml/2006/main" noGrp="1"/>
          </p:cNvSpPr>
          <p:nvPr/>
        </p:nvSpPr>
        <p:spPr>
          <a:xfrm xmlns:a="http://schemas.openxmlformats.org/drawingml/2006/main">
            <a:off x="8763000" y="4000500"/>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1" name="proof-point-2-number">
            <a:extLst xmlns:a="http://schemas.openxmlformats.org/drawingml/2006/main">
              <a:ext uri="{FF2B5EF4-FFF2-40B4-BE49-F238E27FC236}">
                <a16:creationId xmlns:a16="http://schemas.microsoft.com/office/drawing/2014/main" id="{0820A688-59E6-4276-89AD-7B5A13743C7F}"/>
              </a:ext>
            </a:extLst>
          </p:cNvPr>
          <p:cNvSpPr>
            <a:spLocks xmlns:a="http://schemas.openxmlformats.org/drawingml/2006/main" noGrp="1"/>
          </p:cNvSpPr>
          <p:nvPr/>
        </p:nvSpPr>
        <p:spPr>
          <a:xfrm xmlns:a="http://schemas.openxmlformats.org/drawingml/2006/main">
            <a:off x="8763000" y="423862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63E0C5"/>
                </a:solidFill>
                <a:latin typeface="Helvetica Neue"/>
                <a:ea typeface="Helvetica Neue"/>
                <a:cs typeface="Helvetica Neue"/>
              </a:defRPr>
            </a:pPr>
            <a:r>
              <a:rPr sz="2175" b="1" i="0">
                <a:solidFill>
                  <a:srgbClr val="63E0C5"/>
                </a:solidFill>
                <a:latin typeface="Helvetica Neue"/>
                <a:ea typeface="Helvetica Neue"/>
                <a:cs typeface="Helvetica Neue"/>
              </a:rPr>
              <a:t>2 paths</a:t>
            </a:r>
          </a:p>
        </p:txBody>
      </p:sp>
      <p:sp>
        <p:nvSpPr>
          <p:cNvPr id="12" name="proof-point-2">
            <a:extLst xmlns:a="http://schemas.openxmlformats.org/drawingml/2006/main">
              <a:ext uri="{FF2B5EF4-FFF2-40B4-BE49-F238E27FC236}">
                <a16:creationId xmlns:a16="http://schemas.microsoft.com/office/drawing/2014/main" id="{29F12002-7EEA-47E4-9FE0-C73E8EA4FD74}"/>
              </a:ext>
            </a:extLst>
          </p:cNvPr>
          <p:cNvSpPr>
            <a:spLocks xmlns:a="http://schemas.openxmlformats.org/drawingml/2006/main" noGrp="1"/>
          </p:cNvSpPr>
          <p:nvPr/>
        </p:nvSpPr>
        <p:spPr>
          <a:xfrm xmlns:a="http://schemas.openxmlformats.org/drawingml/2006/main">
            <a:off x="8763000" y="4667250"/>
            <a:ext cx="2667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A101 to A201 to A301 and A101 to A202 to A301 are visible as separate chronological paths.</a:t>
            </a:r>
          </a:p>
        </p:txBody>
      </p:sp>
      <p:sp>
        <p:nvSpPr>
          <p:cNvPr id="13" name="proof-rule-3">
            <a:extLst xmlns:a="http://schemas.openxmlformats.org/drawingml/2006/main">
              <a:ext uri="{FF2B5EF4-FFF2-40B4-BE49-F238E27FC236}">
                <a16:creationId xmlns:a16="http://schemas.microsoft.com/office/drawing/2014/main" id="{520B220F-3602-43A6-B82E-9A7234657DBF}"/>
              </a:ext>
            </a:extLst>
          </p:cNvPr>
          <p:cNvSpPr>
            <a:spLocks xmlns:a="http://schemas.openxmlformats.org/drawingml/2006/main" noGrp="1"/>
          </p:cNvSpPr>
          <p:nvPr/>
        </p:nvSpPr>
        <p:spPr>
          <a:xfrm xmlns:a="http://schemas.openxmlformats.org/drawingml/2006/main">
            <a:off x="8763000" y="5657850"/>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4" name="proof-point-3">
            <a:extLst xmlns:a="http://schemas.openxmlformats.org/drawingml/2006/main">
              <a:ext uri="{FF2B5EF4-FFF2-40B4-BE49-F238E27FC236}">
                <a16:creationId xmlns:a16="http://schemas.microsoft.com/office/drawing/2014/main" id="{433F9BF3-77E1-4DE3-A157-8E9E86891191}"/>
              </a:ext>
            </a:extLst>
          </p:cNvPr>
          <p:cNvSpPr>
            <a:spLocks xmlns:a="http://schemas.openxmlformats.org/drawingml/2006/main" noGrp="1"/>
          </p:cNvSpPr>
          <p:nvPr/>
        </p:nvSpPr>
        <p:spPr>
          <a:xfrm xmlns:a="http://schemas.openxmlformats.org/drawingml/2006/main">
            <a:off x="8763000" y="588645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12 evidence rows stay linked to the selected cutoff and export.</a:t>
            </a:r>
          </a:p>
        </p:txBody>
      </p:sp>
      <p:sp>
        <p:nvSpPr>
          <p:cNvPr id="15" name="footer-rule-4">
            <a:extLst xmlns:a="http://schemas.openxmlformats.org/drawingml/2006/main">
              <a:ext uri="{FF2B5EF4-FFF2-40B4-BE49-F238E27FC236}">
                <a16:creationId xmlns:a16="http://schemas.microsoft.com/office/drawing/2014/main" id="{10FA5E93-28A3-491D-B31A-CC21398B93E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6" name="footer-brand-4">
            <a:extLst xmlns:a="http://schemas.openxmlformats.org/drawingml/2006/main">
              <a:ext uri="{FF2B5EF4-FFF2-40B4-BE49-F238E27FC236}">
                <a16:creationId xmlns:a16="http://schemas.microsoft.com/office/drawing/2014/main" id="{5D25C9B5-EDED-49D6-A53D-1BD3C18B4A38}"/>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17" name="footer-page-4">
            <a:extLst xmlns:a="http://schemas.openxmlformats.org/drawingml/2006/main">
              <a:ext uri="{FF2B5EF4-FFF2-40B4-BE49-F238E27FC236}">
                <a16:creationId xmlns:a16="http://schemas.microsoft.com/office/drawing/2014/main" id="{1E8A68C4-B1FD-42A9-BEF3-682250B74F1A}"/>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04 / 09</a:t>
            </a:r>
          </a:p>
        </p:txBody>
      </p:sp>
    </p:spTree>
    <p:extLst>
      <p:ext uri="{BB962C8B-B14F-4D97-AF65-F5344CB8AC3E}">
        <p14:creationId xmlns:p14="http://schemas.microsoft.com/office/powerpoint/2010/main" val="1647394332"/>
      </p:ext>
    </p:extLst>
  </p:cSld>
</p:sld>
</file>

<file path=ppt/slides/slide5.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22" name="score-kicker">
            <a:extLst xmlns:a="http://schemas.openxmlformats.org/drawingml/2006/main">
              <a:ext uri="{FF2B5EF4-FFF2-40B4-BE49-F238E27FC236}">
                <a16:creationId xmlns:a16="http://schemas.microsoft.com/office/drawing/2014/main" id="{14F29A9F-C317-4EDB-9F65-68B6E21B17DB}"/>
              </a:ext>
            </a:extLst>
          </p:cNvPr>
          <p:cNvSpPr>
            <a:spLocks xmlns:a="http://schemas.openxmlformats.org/drawingml/2006/main" noGrp="1"/>
          </p:cNvSpPr>
          <p:nvPr/>
        </p:nvSpPr>
        <p:spPr>
          <a:xfrm xmlns:a="http://schemas.openxmlformats.org/drawingml/2006/main">
            <a:off x="609600" y="5143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CANONICAL REPLAY</a:t>
            </a:r>
          </a:p>
        </p:txBody>
      </p:sp>
      <p:sp>
        <p:nvSpPr>
          <p:cNvPr id="2" name="score-title">
            <a:extLst xmlns:a="http://schemas.openxmlformats.org/drawingml/2006/main">
              <a:ext uri="{FF2B5EF4-FFF2-40B4-BE49-F238E27FC236}">
                <a16:creationId xmlns:a16="http://schemas.microsoft.com/office/drawing/2014/main" id="{7E28191A-BF92-4475-B3B2-B17A11492192}"/>
              </a:ext>
            </a:extLst>
          </p:cNvPr>
          <p:cNvSpPr>
            <a:spLocks xmlns:a="http://schemas.openxmlformats.org/drawingml/2006/main" noGrp="1"/>
          </p:cNvSpPr>
          <p:nvPr/>
        </p:nvSpPr>
        <p:spPr>
          <a:xfrm xmlns:a="http://schemas.openxmlformats.org/drawingml/2006/main">
            <a:off x="609600" y="828675"/>
            <a:ext cx="819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The score follows the observed sequence</a:t>
            </a:r>
          </a:p>
        </p:txBody>
      </p:sp>
      <p:sp>
        <p:nvSpPr>
          <p:cNvPr id="3" name="score-subtitle">
            <a:extLst xmlns:a="http://schemas.openxmlformats.org/drawingml/2006/main">
              <a:ext uri="{FF2B5EF4-FFF2-40B4-BE49-F238E27FC236}">
                <a16:creationId xmlns:a16="http://schemas.microsoft.com/office/drawing/2014/main" id="{E1344222-DE27-4714-A8C1-806054D8EA97}"/>
              </a:ext>
            </a:extLst>
          </p:cNvPr>
          <p:cNvSpPr>
            <a:spLocks xmlns:a="http://schemas.openxmlformats.org/drawingml/2006/main" noGrp="1"/>
          </p:cNvSpPr>
          <p:nvPr/>
        </p:nvSpPr>
        <p:spPr>
          <a:xfrm xmlns:a="http://schemas.openxmlformats.org/drawingml/2006/main">
            <a:off x="628650" y="14859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Every point appears only after the supporting transfer is visible at that cutoff.</a:t>
            </a:r>
          </a:p>
        </p:txBody>
      </p:sp>
      <p:sp>
        <p:nvSpPr>
          <p:cNvPr id="4" name="score-row-line-1">
            <a:extLst xmlns:a="http://schemas.openxmlformats.org/drawingml/2006/main">
              <a:ext uri="{FF2B5EF4-FFF2-40B4-BE49-F238E27FC236}">
                <a16:creationId xmlns:a16="http://schemas.microsoft.com/office/drawing/2014/main" id="{D12548AB-06E3-4E49-BB0C-D85F19977C24}"/>
              </a:ext>
            </a:extLst>
          </p:cNvPr>
          <p:cNvSpPr>
            <a:spLocks xmlns:a="http://schemas.openxmlformats.org/drawingml/2006/main" noGrp="1"/>
          </p:cNvSpPr>
          <p:nvPr/>
        </p:nvSpPr>
        <p:spPr>
          <a:xfrm xmlns:a="http://schemas.openxmlformats.org/drawingml/2006/main">
            <a:off x="609600" y="2419350"/>
            <a:ext cx="47625" cy="723900"/>
          </a:xfrm>
          <a:prstGeom xmlns:a="http://schemas.openxmlformats.org/drawingml/2006/main" prst="roundRect">
            <a:avLst>
              <a:gd name="adj" fmla="val 40000"/>
            </a:avLst>
          </a:prstGeom>
          <a:solidFill xmlns:a="http://schemas.openxmlformats.org/drawingml/2006/main">
            <a:srgbClr val="2F6FE5"/>
          </a:solidFill>
          <a:ln xmlns:a="http://schemas.openxmlformats.org/drawingml/2006/main" w="9525">
            <a:solidFill>
              <a:srgbClr val="2F6FE5"/>
            </a:solidFill>
            <a:prstDash val="solid"/>
          </a:ln>
        </p:spPr>
      </p:sp>
      <p:sp>
        <p:nvSpPr>
          <p:cNvPr id="5" name="score-row-number-1">
            <a:extLst xmlns:a="http://schemas.openxmlformats.org/drawingml/2006/main">
              <a:ext uri="{FF2B5EF4-FFF2-40B4-BE49-F238E27FC236}">
                <a16:creationId xmlns:a16="http://schemas.microsoft.com/office/drawing/2014/main" id="{B1A98817-1357-41F8-908E-73445821CB2C}"/>
              </a:ext>
            </a:extLst>
          </p:cNvPr>
          <p:cNvSpPr>
            <a:spLocks xmlns:a="http://schemas.openxmlformats.org/drawingml/2006/main" noGrp="1"/>
          </p:cNvSpPr>
          <p:nvPr/>
        </p:nvSpPr>
        <p:spPr>
          <a:xfrm xmlns:a="http://schemas.openxmlformats.org/drawingml/2006/main">
            <a:off x="838200" y="245745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2F6FE5"/>
                </a:solidFill>
                <a:latin typeface="Helvetica Neue"/>
                <a:ea typeface="Helvetica Neue"/>
                <a:cs typeface="Helvetica Neue"/>
              </a:defRPr>
            </a:pPr>
            <a:r>
              <a:rPr sz="2550" b="1" i="0">
                <a:solidFill>
                  <a:srgbClr val="2F6FE5"/>
                </a:solidFill>
                <a:latin typeface="Helvetica Neue"/>
                <a:ea typeface="Helvetica Neue"/>
                <a:cs typeface="Helvetica Neue"/>
              </a:rPr>
              <a:t>30</a:t>
            </a:r>
          </a:p>
        </p:txBody>
      </p:sp>
      <p:sp>
        <p:nvSpPr>
          <p:cNvPr id="6" name="score-row-heading-1">
            <a:extLst xmlns:a="http://schemas.openxmlformats.org/drawingml/2006/main">
              <a:ext uri="{FF2B5EF4-FFF2-40B4-BE49-F238E27FC236}">
                <a16:creationId xmlns:a16="http://schemas.microsoft.com/office/drawing/2014/main" id="{1DDC55F6-5581-494B-B38E-BED6978BA1A8}"/>
              </a:ext>
            </a:extLst>
          </p:cNvPr>
          <p:cNvSpPr>
            <a:spLocks xmlns:a="http://schemas.openxmlformats.org/drawingml/2006/main" noGrp="1"/>
          </p:cNvSpPr>
          <p:nvPr/>
        </p:nvSpPr>
        <p:spPr>
          <a:xfrm xmlns:a="http://schemas.openxmlformats.org/drawingml/2006/main">
            <a:off x="1733550" y="24765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Collection burst</a:t>
            </a:r>
          </a:p>
        </p:txBody>
      </p:sp>
      <p:sp>
        <p:nvSpPr>
          <p:cNvPr id="7" name="score-row-body-1">
            <a:extLst xmlns:a="http://schemas.openxmlformats.org/drawingml/2006/main">
              <a:ext uri="{FF2B5EF4-FFF2-40B4-BE49-F238E27FC236}">
                <a16:creationId xmlns:a16="http://schemas.microsoft.com/office/drawing/2014/main" id="{B4B69C84-1960-42A8-986A-90D7F197596C}"/>
              </a:ext>
            </a:extLst>
          </p:cNvPr>
          <p:cNvSpPr>
            <a:spLocks xmlns:a="http://schemas.openxmlformats.org/drawingml/2006/main" noGrp="1"/>
          </p:cNvSpPr>
          <p:nvPr/>
        </p:nvSpPr>
        <p:spPr>
          <a:xfrm xmlns:a="http://schemas.openxmlformats.org/drawingml/2006/main">
            <a:off x="1733550" y="27717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8 distinct senders paid A101 with ₹40,000 observed.</a:t>
            </a:r>
          </a:p>
        </p:txBody>
      </p:sp>
      <p:sp>
        <p:nvSpPr>
          <p:cNvPr id="8" name="score-row-line-2">
            <a:extLst xmlns:a="http://schemas.openxmlformats.org/drawingml/2006/main">
              <a:ext uri="{FF2B5EF4-FFF2-40B4-BE49-F238E27FC236}">
                <a16:creationId xmlns:a16="http://schemas.microsoft.com/office/drawing/2014/main" id="{8654657E-A9D2-480A-BEE4-C468AF95D2FE}"/>
              </a:ext>
            </a:extLst>
          </p:cNvPr>
          <p:cNvSpPr>
            <a:spLocks xmlns:a="http://schemas.openxmlformats.org/drawingml/2006/main" noGrp="1"/>
          </p:cNvSpPr>
          <p:nvPr/>
        </p:nvSpPr>
        <p:spPr>
          <a:xfrm xmlns:a="http://schemas.openxmlformats.org/drawingml/2006/main">
            <a:off x="609600" y="3390900"/>
            <a:ext cx="47625" cy="723900"/>
          </a:xfrm>
          <a:prstGeom xmlns:a="http://schemas.openxmlformats.org/drawingml/2006/main" prst="roundRect">
            <a:avLst>
              <a:gd name="adj" fmla="val 40000"/>
            </a:avLst>
          </a:prstGeom>
          <a:solidFill xmlns:a="http://schemas.openxmlformats.org/drawingml/2006/main">
            <a:srgbClr val="5D8EFF"/>
          </a:solidFill>
          <a:ln xmlns:a="http://schemas.openxmlformats.org/drawingml/2006/main" w="9525">
            <a:solidFill>
              <a:srgbClr val="5D8EFF"/>
            </a:solidFill>
            <a:prstDash val="solid"/>
          </a:ln>
        </p:spPr>
      </p:sp>
      <p:sp>
        <p:nvSpPr>
          <p:cNvPr id="9" name="score-row-number-2">
            <a:extLst xmlns:a="http://schemas.openxmlformats.org/drawingml/2006/main">
              <a:ext uri="{FF2B5EF4-FFF2-40B4-BE49-F238E27FC236}">
                <a16:creationId xmlns:a16="http://schemas.microsoft.com/office/drawing/2014/main" id="{480DDF8A-E8AD-402F-9722-68502352AD82}"/>
              </a:ext>
            </a:extLst>
          </p:cNvPr>
          <p:cNvSpPr>
            <a:spLocks xmlns:a="http://schemas.openxmlformats.org/drawingml/2006/main" noGrp="1"/>
          </p:cNvSpPr>
          <p:nvPr/>
        </p:nvSpPr>
        <p:spPr>
          <a:xfrm xmlns:a="http://schemas.openxmlformats.org/drawingml/2006/main">
            <a:off x="838200" y="342900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5D8EFF"/>
                </a:solidFill>
                <a:latin typeface="Helvetica Neue"/>
                <a:ea typeface="Helvetica Neue"/>
                <a:cs typeface="Helvetica Neue"/>
              </a:defRPr>
            </a:pPr>
            <a:r>
              <a:rPr sz="2550" b="1" i="0">
                <a:solidFill>
                  <a:srgbClr val="5D8EFF"/>
                </a:solidFill>
                <a:latin typeface="Helvetica Neue"/>
                <a:ea typeface="Helvetica Neue"/>
                <a:cs typeface="Helvetica Neue"/>
              </a:rPr>
              <a:t>70</a:t>
            </a:r>
          </a:p>
        </p:txBody>
      </p:sp>
      <p:sp>
        <p:nvSpPr>
          <p:cNvPr id="10" name="score-row-heading-2">
            <a:extLst xmlns:a="http://schemas.openxmlformats.org/drawingml/2006/main">
              <a:ext uri="{FF2B5EF4-FFF2-40B4-BE49-F238E27FC236}">
                <a16:creationId xmlns:a16="http://schemas.microsoft.com/office/drawing/2014/main" id="{80FE7747-6485-4BE1-8286-168027EEAC0A}"/>
              </a:ext>
            </a:extLst>
          </p:cNvPr>
          <p:cNvSpPr>
            <a:spLocks xmlns:a="http://schemas.openxmlformats.org/drawingml/2006/main" noGrp="1"/>
          </p:cNvSpPr>
          <p:nvPr/>
        </p:nvSpPr>
        <p:spPr>
          <a:xfrm xmlns:a="http://schemas.openxmlformats.org/drawingml/2006/main">
            <a:off x="1733550" y="34480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Rapid forwarding</a:t>
            </a:r>
          </a:p>
        </p:txBody>
      </p:sp>
      <p:sp>
        <p:nvSpPr>
          <p:cNvPr id="11" name="score-row-body-2">
            <a:extLst xmlns:a="http://schemas.openxmlformats.org/drawingml/2006/main">
              <a:ext uri="{FF2B5EF4-FFF2-40B4-BE49-F238E27FC236}">
                <a16:creationId xmlns:a16="http://schemas.microsoft.com/office/drawing/2014/main" id="{5ACF4F41-CB59-46E6-B36F-A6CFC4D44E1E}"/>
              </a:ext>
            </a:extLst>
          </p:cNvPr>
          <p:cNvSpPr>
            <a:spLocks xmlns:a="http://schemas.openxmlformats.org/drawingml/2006/main" noGrp="1"/>
          </p:cNvSpPr>
          <p:nvPr/>
        </p:nvSpPr>
        <p:spPr>
          <a:xfrm xmlns:a="http://schemas.openxmlformats.org/drawingml/2006/main">
            <a:off x="1733550" y="374332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701"/>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₹38,000 outward movement reaches 95% of the observed incoming volume.</a:t>
            </a:r>
          </a:p>
        </p:txBody>
      </p:sp>
      <p:sp>
        <p:nvSpPr>
          <p:cNvPr id="12" name="score-row-line-3">
            <a:extLst xmlns:a="http://schemas.openxmlformats.org/drawingml/2006/main">
              <a:ext uri="{FF2B5EF4-FFF2-40B4-BE49-F238E27FC236}">
                <a16:creationId xmlns:a16="http://schemas.microsoft.com/office/drawing/2014/main" id="{E58385F2-A786-46C5-8785-FA680EFBB481}"/>
              </a:ext>
            </a:extLst>
          </p:cNvPr>
          <p:cNvSpPr>
            <a:spLocks xmlns:a="http://schemas.openxmlformats.org/drawingml/2006/main" noGrp="1"/>
          </p:cNvSpPr>
          <p:nvPr/>
        </p:nvSpPr>
        <p:spPr>
          <a:xfrm xmlns:a="http://schemas.openxmlformats.org/drawingml/2006/main">
            <a:off x="609600" y="4362450"/>
            <a:ext cx="47625" cy="723900"/>
          </a:xfrm>
          <a:prstGeom xmlns:a="http://schemas.openxmlformats.org/drawingml/2006/main" prst="roundRect">
            <a:avLst>
              <a:gd name="adj" fmla="val 40000"/>
            </a:avLst>
          </a:prstGeom>
          <a:solidFill xmlns:a="http://schemas.openxmlformats.org/drawingml/2006/main">
            <a:srgbClr val="F2756C"/>
          </a:solidFill>
          <a:ln xmlns:a="http://schemas.openxmlformats.org/drawingml/2006/main" w="9525">
            <a:solidFill>
              <a:srgbClr val="F2756C"/>
            </a:solidFill>
            <a:prstDash val="solid"/>
          </a:ln>
        </p:spPr>
      </p:sp>
      <p:sp>
        <p:nvSpPr>
          <p:cNvPr id="13" name="score-row-number-3">
            <a:extLst xmlns:a="http://schemas.openxmlformats.org/drawingml/2006/main">
              <a:ext uri="{FF2B5EF4-FFF2-40B4-BE49-F238E27FC236}">
                <a16:creationId xmlns:a16="http://schemas.microsoft.com/office/drawing/2014/main" id="{1824BA73-5F61-412C-BF40-CDE917A92A5C}"/>
              </a:ext>
            </a:extLst>
          </p:cNvPr>
          <p:cNvSpPr>
            <a:spLocks xmlns:a="http://schemas.openxmlformats.org/drawingml/2006/main" noGrp="1"/>
          </p:cNvSpPr>
          <p:nvPr/>
        </p:nvSpPr>
        <p:spPr>
          <a:xfrm xmlns:a="http://schemas.openxmlformats.org/drawingml/2006/main">
            <a:off x="838200" y="440055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2756C"/>
                </a:solidFill>
                <a:latin typeface="Helvetica Neue"/>
                <a:ea typeface="Helvetica Neue"/>
                <a:cs typeface="Helvetica Neue"/>
              </a:defRPr>
            </a:pPr>
            <a:r>
              <a:rPr sz="2550" b="1" i="0">
                <a:solidFill>
                  <a:srgbClr val="F2756C"/>
                </a:solidFill>
                <a:latin typeface="Helvetica Neue"/>
                <a:ea typeface="Helvetica Neue"/>
                <a:cs typeface="Helvetica Neue"/>
              </a:rPr>
              <a:t>100</a:t>
            </a:r>
          </a:p>
        </p:txBody>
      </p:sp>
      <p:sp>
        <p:nvSpPr>
          <p:cNvPr id="14" name="score-row-heading-3">
            <a:extLst xmlns:a="http://schemas.openxmlformats.org/drawingml/2006/main">
              <a:ext uri="{FF2B5EF4-FFF2-40B4-BE49-F238E27FC236}">
                <a16:creationId xmlns:a16="http://schemas.microsoft.com/office/drawing/2014/main" id="{7A898FB4-45F0-4E82-964D-2BE5891C5787}"/>
              </a:ext>
            </a:extLst>
          </p:cNvPr>
          <p:cNvSpPr>
            <a:spLocks xmlns:a="http://schemas.openxmlformats.org/drawingml/2006/main" noGrp="1"/>
          </p:cNvSpPr>
          <p:nvPr/>
        </p:nvSpPr>
        <p:spPr>
          <a:xfrm xmlns:a="http://schemas.openxmlformats.org/drawingml/2006/main">
            <a:off x="1733550" y="44196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Split and reconverge</a:t>
            </a:r>
          </a:p>
        </p:txBody>
      </p:sp>
      <p:sp>
        <p:nvSpPr>
          <p:cNvPr id="15" name="score-row-body-3">
            <a:extLst xmlns:a="http://schemas.openxmlformats.org/drawingml/2006/main">
              <a:ext uri="{FF2B5EF4-FFF2-40B4-BE49-F238E27FC236}">
                <a16:creationId xmlns:a16="http://schemas.microsoft.com/office/drawing/2014/main" id="{FF58868E-127F-4AEF-AFCE-5E5BC81E64C9}"/>
              </a:ext>
            </a:extLst>
          </p:cNvPr>
          <p:cNvSpPr>
            <a:spLocks xmlns:a="http://schemas.openxmlformats.org/drawingml/2006/main" noGrp="1"/>
          </p:cNvSpPr>
          <p:nvPr/>
        </p:nvSpPr>
        <p:spPr>
          <a:xfrm xmlns:a="http://schemas.openxmlformats.org/drawingml/2006/main">
            <a:off x="1733550" y="47148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68"/>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Two branches reach the common destination A301 in order.</a:t>
            </a:r>
          </a:p>
        </p:txBody>
      </p:sp>
      <p:graphicFrame>
        <p:nvGraphicFramePr>
          <p:cNvPr id="37" name="Chart"/>
          <p:cNvGraphicFramePr/>
          <p:nvPr/>
        </p:nvGraphicFramePr>
        <p:xfrm>
          <a:off xmlns:a="http://schemas.openxmlformats.org/drawingml/2006/main" x="5962650" y="2190750"/>
          <a:ext xmlns:a="http://schemas.openxmlformats.org/drawingml/2006/main" cx="5619750" cy="3143250"/>
        </p:xfrm>
        <a:graphic xmlns:a="http://schemas.openxmlformats.org/drawingml/2006/main">
          <a:graphicData uri="http://schemas.openxmlformats.org/drawingml/2006/chart">
            <c:chart xmlns:r="http://schemas.openxmlformats.org/officeDocument/2006/relationships" xmlns:c="http://schemas.openxmlformats.org/drawingml/2006/chart" r:id="R919748708ed0419f"/>
          </a:graphicData>
        </a:graphic>
      </p:graphicFrame>
      <p:sp>
        <p:nvSpPr>
          <p:cNvPr id="17" name="score-caveat">
            <a:extLst xmlns:a="http://schemas.openxmlformats.org/drawingml/2006/main">
              <a:ext uri="{FF2B5EF4-FFF2-40B4-BE49-F238E27FC236}">
                <a16:creationId xmlns:a16="http://schemas.microsoft.com/office/drawing/2014/main" id="{44969C3E-B4BE-4C1E-AC09-5E8B8E1E6DB6}"/>
              </a:ext>
            </a:extLst>
          </p:cNvPr>
          <p:cNvSpPr>
            <a:spLocks xmlns:a="http://schemas.openxmlformats.org/drawingml/2006/main" noGrp="1"/>
          </p:cNvSpPr>
          <p:nvPr/>
        </p:nvSpPr>
        <p:spPr>
          <a:xfrm xmlns:a="http://schemas.openxmlformats.org/drawingml/2006/main">
            <a:off x="5962650" y="5600700"/>
            <a:ext cx="5619750" cy="438150"/>
          </a:xfrm>
          <a:prstGeom xmlns:a="http://schemas.openxmlformats.org/drawingml/2006/main" prst="roundRect">
            <a:avLst>
              <a:gd name="adj" fmla="val 21739"/>
            </a:avLst>
          </a:prstGeom>
          <a:solidFill xmlns:a="http://schemas.openxmlformats.org/drawingml/2006/main">
            <a:srgbClr val="071429"/>
          </a:solidFill>
          <a:ln xmlns:a="http://schemas.openxmlformats.org/drawingml/2006/main" w="9525">
            <a:solidFill>
              <a:srgbClr val="17345B"/>
            </a:solidFill>
            <a:prstDash val="solid"/>
          </a:ln>
        </p:spPr>
      </p:sp>
      <p:sp>
        <p:nvSpPr>
          <p:cNvPr id="18" name="score-caveat-text">
            <a:extLst xmlns:a="http://schemas.openxmlformats.org/drawingml/2006/main">
              <a:ext uri="{FF2B5EF4-FFF2-40B4-BE49-F238E27FC236}">
                <a16:creationId xmlns:a16="http://schemas.microsoft.com/office/drawing/2014/main" id="{AEF63340-249E-4427-99DA-542877263F4C}"/>
              </a:ext>
            </a:extLst>
          </p:cNvPr>
          <p:cNvSpPr>
            <a:spLocks xmlns:a="http://schemas.openxmlformats.org/drawingml/2006/main" noGrp="1"/>
          </p:cNvSpPr>
          <p:nvPr/>
        </p:nvSpPr>
        <p:spPr>
          <a:xfrm xmlns:a="http://schemas.openxmlformats.org/drawingml/2006/main">
            <a:off x="6153150" y="5724525"/>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F6F9FF"/>
                </a:solidFill>
                <a:latin typeface="Helvetica Neue"/>
                <a:ea typeface="Helvetica Neue"/>
                <a:cs typeface="Helvetica Neue"/>
              </a:defRPr>
            </a:pPr>
            <a:r>
              <a:rPr sz="1125" b="1" i="0">
                <a:solidFill>
                  <a:srgbClr val="F6F9FF"/>
                </a:solidFill>
                <a:latin typeface="Helvetica Neue"/>
                <a:ea typeface="Helvetica Neue"/>
                <a:cs typeface="Helvetica Neue"/>
              </a:rPr>
              <a:t>Configured review points. Not a fraud probability.</a:t>
            </a:r>
          </a:p>
        </p:txBody>
      </p:sp>
      <p:sp>
        <p:nvSpPr>
          <p:cNvPr id="19" name="footer-rule-5">
            <a:extLst xmlns:a="http://schemas.openxmlformats.org/drawingml/2006/main">
              <a:ext uri="{FF2B5EF4-FFF2-40B4-BE49-F238E27FC236}">
                <a16:creationId xmlns:a16="http://schemas.microsoft.com/office/drawing/2014/main" id="{FD676A63-2C3B-4C69-B5DA-A21B351A5F1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0" name="footer-brand-5">
            <a:extLst xmlns:a="http://schemas.openxmlformats.org/drawingml/2006/main">
              <a:ext uri="{FF2B5EF4-FFF2-40B4-BE49-F238E27FC236}">
                <a16:creationId xmlns:a16="http://schemas.microsoft.com/office/drawing/2014/main" id="{321CBB4F-6E3D-4736-AF20-DAE311F50976}"/>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21" name="footer-page-5">
            <a:extLst xmlns:a="http://schemas.openxmlformats.org/drawingml/2006/main">
              <a:ext uri="{FF2B5EF4-FFF2-40B4-BE49-F238E27FC236}">
                <a16:creationId xmlns:a16="http://schemas.microsoft.com/office/drawing/2014/main" id="{F6E287CF-8557-434E-A1FF-F73BA38F4FDB}"/>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05 / 09</a:t>
            </a:r>
          </a:p>
        </p:txBody>
      </p:sp>
    </p:spTree>
    <p:extLst>
      <p:ext uri="{BB962C8B-B14F-4D97-AF65-F5344CB8AC3E}">
        <p14:creationId xmlns:p14="http://schemas.microsoft.com/office/powerpoint/2010/main" val="296143978"/>
      </p:ext>
    </p:extLst>
  </p:cSld>
</p:sld>
</file>

<file path=ppt/slides/slide6.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59" name="trace-kicker">
            <a:extLst xmlns:a="http://schemas.openxmlformats.org/drawingml/2006/main">
              <a:ext uri="{FF2B5EF4-FFF2-40B4-BE49-F238E27FC236}">
                <a16:creationId xmlns:a16="http://schemas.microsoft.com/office/drawing/2014/main" id="{464FDC32-7A28-4280-BEF8-3B98EB92912A}"/>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GRAPH INTELLIGENCE</a:t>
            </a:r>
          </a:p>
        </p:txBody>
      </p:sp>
      <p:sp>
        <p:nvSpPr>
          <p:cNvPr id="2" name="trace-title">
            <a:extLst xmlns:a="http://schemas.openxmlformats.org/drawingml/2006/main">
              <a:ext uri="{FF2B5EF4-FFF2-40B4-BE49-F238E27FC236}">
                <a16:creationId xmlns:a16="http://schemas.microsoft.com/office/drawing/2014/main" id="{21D5959D-DBF8-40BE-B6A0-0B9FA5374B57}"/>
              </a:ext>
            </a:extLst>
          </p:cNvPr>
          <p:cNvSpPr>
            <a:spLocks xmlns:a="http://schemas.openxmlformats.org/drawingml/2006/main" noGrp="1"/>
          </p:cNvSpPr>
          <p:nvPr/>
        </p:nvSpPr>
        <p:spPr>
          <a:xfrm xmlns:a="http://schemas.openxmlformats.org/drawingml/2006/main">
            <a:off x="609600" y="828675"/>
            <a:ext cx="962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84"/>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Money-flow tracing makes the evidence inspectable</a:t>
            </a:r>
          </a:p>
        </p:txBody>
      </p:sp>
      <p:sp>
        <p:nvSpPr>
          <p:cNvPr id="3" name="trace-subtitle">
            <a:extLst xmlns:a="http://schemas.openxmlformats.org/drawingml/2006/main">
              <a:ext uri="{FF2B5EF4-FFF2-40B4-BE49-F238E27FC236}">
                <a16:creationId xmlns:a16="http://schemas.microsoft.com/office/drawing/2014/main" id="{E655BCB7-FCD6-45B1-8409-4E6C1C6742E0}"/>
              </a:ext>
            </a:extLst>
          </p:cNvPr>
          <p:cNvSpPr>
            <a:spLocks xmlns:a="http://schemas.openxmlformats.org/drawingml/2006/main" noGrp="1"/>
          </p:cNvSpPr>
          <p:nvPr/>
        </p:nvSpPr>
        <p:spPr>
          <a:xfrm xmlns:a="http://schemas.openxmlformats.org/drawingml/2006/main">
            <a:off x="628650" y="1485900"/>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engine follows chronological edges and reports what the data supports at the selected cutoff.</a:t>
            </a:r>
          </a:p>
        </p:txBody>
      </p:sp>
      <p:sp>
        <p:nvSpPr>
          <p:cNvPr id="4" name="trace-rule">
            <a:extLst xmlns:a="http://schemas.openxmlformats.org/drawingml/2006/main">
              <a:ext uri="{FF2B5EF4-FFF2-40B4-BE49-F238E27FC236}">
                <a16:creationId xmlns:a16="http://schemas.microsoft.com/office/drawing/2014/main" id="{176D91AA-0C6E-40B3-814A-ED61443F1C44}"/>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 name="trace-source-1">
            <a:extLst xmlns:a="http://schemas.openxmlformats.org/drawingml/2006/main">
              <a:ext uri="{FF2B5EF4-FFF2-40B4-BE49-F238E27FC236}">
                <a16:creationId xmlns:a16="http://schemas.microsoft.com/office/drawing/2014/main" id="{B35A53E0-7B2D-4C3A-8A40-AABEFE187265}"/>
              </a:ext>
            </a:extLst>
          </p:cNvPr>
          <p:cNvSpPr>
            <a:spLocks xmlns:a="http://schemas.openxmlformats.org/drawingml/2006/main" noGrp="1"/>
          </p:cNvSpPr>
          <p:nvPr/>
        </p:nvSpPr>
        <p:spPr>
          <a:xfrm xmlns:a="http://schemas.openxmlformats.org/drawingml/2006/main">
            <a:off x="742950" y="23336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6" name="trace-source-1-title">
            <a:extLst xmlns:a="http://schemas.openxmlformats.org/drawingml/2006/main">
              <a:ext uri="{FF2B5EF4-FFF2-40B4-BE49-F238E27FC236}">
                <a16:creationId xmlns:a16="http://schemas.microsoft.com/office/drawing/2014/main" id="{F19DCA80-F253-4411-84C7-C31E7510A0A0}"/>
              </a:ext>
            </a:extLst>
          </p:cNvPr>
          <p:cNvSpPr>
            <a:spLocks xmlns:a="http://schemas.openxmlformats.org/drawingml/2006/main" noGrp="1"/>
          </p:cNvSpPr>
          <p:nvPr/>
        </p:nvSpPr>
        <p:spPr>
          <a:xfrm xmlns:a="http://schemas.openxmlformats.org/drawingml/2006/main">
            <a:off x="876300" y="24479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A001</a:t>
            </a:r>
          </a:p>
        </p:txBody>
      </p:sp>
      <p:sp>
        <p:nvSpPr>
          <p:cNvPr id="7" name="trace-source-2">
            <a:extLst xmlns:a="http://schemas.openxmlformats.org/drawingml/2006/main">
              <a:ext uri="{FF2B5EF4-FFF2-40B4-BE49-F238E27FC236}">
                <a16:creationId xmlns:a16="http://schemas.microsoft.com/office/drawing/2014/main" id="{B1976295-4D54-4B00-91D5-EFDFF44FE7EC}"/>
              </a:ext>
            </a:extLst>
          </p:cNvPr>
          <p:cNvSpPr>
            <a:spLocks xmlns:a="http://schemas.openxmlformats.org/drawingml/2006/main" noGrp="1"/>
          </p:cNvSpPr>
          <p:nvPr/>
        </p:nvSpPr>
        <p:spPr>
          <a:xfrm xmlns:a="http://schemas.openxmlformats.org/drawingml/2006/main">
            <a:off x="742950" y="26955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8" name="trace-source-2-title">
            <a:extLst xmlns:a="http://schemas.openxmlformats.org/drawingml/2006/main">
              <a:ext uri="{FF2B5EF4-FFF2-40B4-BE49-F238E27FC236}">
                <a16:creationId xmlns:a16="http://schemas.microsoft.com/office/drawing/2014/main" id="{3F15C47F-47F5-4456-9068-9009CC858392}"/>
              </a:ext>
            </a:extLst>
          </p:cNvPr>
          <p:cNvSpPr>
            <a:spLocks xmlns:a="http://schemas.openxmlformats.org/drawingml/2006/main" noGrp="1"/>
          </p:cNvSpPr>
          <p:nvPr/>
        </p:nvSpPr>
        <p:spPr>
          <a:xfrm xmlns:a="http://schemas.openxmlformats.org/drawingml/2006/main">
            <a:off x="876300" y="28098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A002</a:t>
            </a:r>
          </a:p>
        </p:txBody>
      </p:sp>
      <p:sp>
        <p:nvSpPr>
          <p:cNvPr id="9" name="trace-source-3">
            <a:extLst xmlns:a="http://schemas.openxmlformats.org/drawingml/2006/main">
              <a:ext uri="{FF2B5EF4-FFF2-40B4-BE49-F238E27FC236}">
                <a16:creationId xmlns:a16="http://schemas.microsoft.com/office/drawing/2014/main" id="{578CEDE8-35F2-49FF-9BA0-0B56195D3DD8}"/>
              </a:ext>
            </a:extLst>
          </p:cNvPr>
          <p:cNvSpPr>
            <a:spLocks xmlns:a="http://schemas.openxmlformats.org/drawingml/2006/main" noGrp="1"/>
          </p:cNvSpPr>
          <p:nvPr/>
        </p:nvSpPr>
        <p:spPr>
          <a:xfrm xmlns:a="http://schemas.openxmlformats.org/drawingml/2006/main">
            <a:off x="742950" y="30575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0" name="trace-source-3-title">
            <a:extLst xmlns:a="http://schemas.openxmlformats.org/drawingml/2006/main">
              <a:ext uri="{FF2B5EF4-FFF2-40B4-BE49-F238E27FC236}">
                <a16:creationId xmlns:a16="http://schemas.microsoft.com/office/drawing/2014/main" id="{E2A0130F-2AAE-4CC8-A485-49DD3D471C95}"/>
              </a:ext>
            </a:extLst>
          </p:cNvPr>
          <p:cNvSpPr>
            <a:spLocks xmlns:a="http://schemas.openxmlformats.org/drawingml/2006/main" noGrp="1"/>
          </p:cNvSpPr>
          <p:nvPr/>
        </p:nvSpPr>
        <p:spPr>
          <a:xfrm xmlns:a="http://schemas.openxmlformats.org/drawingml/2006/main">
            <a:off x="876300" y="31718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A003</a:t>
            </a:r>
          </a:p>
        </p:txBody>
      </p:sp>
      <p:sp>
        <p:nvSpPr>
          <p:cNvPr id="11" name="trace-source-4">
            <a:extLst xmlns:a="http://schemas.openxmlformats.org/drawingml/2006/main">
              <a:ext uri="{FF2B5EF4-FFF2-40B4-BE49-F238E27FC236}">
                <a16:creationId xmlns:a16="http://schemas.microsoft.com/office/drawing/2014/main" id="{575B5505-183E-4AD9-A425-6FDBF4EB004F}"/>
              </a:ext>
            </a:extLst>
          </p:cNvPr>
          <p:cNvSpPr>
            <a:spLocks xmlns:a="http://schemas.openxmlformats.org/drawingml/2006/main" noGrp="1"/>
          </p:cNvSpPr>
          <p:nvPr/>
        </p:nvSpPr>
        <p:spPr>
          <a:xfrm xmlns:a="http://schemas.openxmlformats.org/drawingml/2006/main">
            <a:off x="742950" y="34194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2" name="trace-source-4-title">
            <a:extLst xmlns:a="http://schemas.openxmlformats.org/drawingml/2006/main">
              <a:ext uri="{FF2B5EF4-FFF2-40B4-BE49-F238E27FC236}">
                <a16:creationId xmlns:a16="http://schemas.microsoft.com/office/drawing/2014/main" id="{89B8453E-B027-493D-93B7-030365E65DB0}"/>
              </a:ext>
            </a:extLst>
          </p:cNvPr>
          <p:cNvSpPr>
            <a:spLocks xmlns:a="http://schemas.openxmlformats.org/drawingml/2006/main" noGrp="1"/>
          </p:cNvSpPr>
          <p:nvPr/>
        </p:nvSpPr>
        <p:spPr>
          <a:xfrm xmlns:a="http://schemas.openxmlformats.org/drawingml/2006/main">
            <a:off x="876300" y="35337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A004</a:t>
            </a:r>
          </a:p>
        </p:txBody>
      </p:sp>
      <p:sp>
        <p:nvSpPr>
          <p:cNvPr id="13" name="trace-source-5">
            <a:extLst xmlns:a="http://schemas.openxmlformats.org/drawingml/2006/main">
              <a:ext uri="{FF2B5EF4-FFF2-40B4-BE49-F238E27FC236}">
                <a16:creationId xmlns:a16="http://schemas.microsoft.com/office/drawing/2014/main" id="{1182F548-23C1-40AF-8970-2CF10C082EC0}"/>
              </a:ext>
            </a:extLst>
          </p:cNvPr>
          <p:cNvSpPr>
            <a:spLocks xmlns:a="http://schemas.openxmlformats.org/drawingml/2006/main" noGrp="1"/>
          </p:cNvSpPr>
          <p:nvPr/>
        </p:nvSpPr>
        <p:spPr>
          <a:xfrm xmlns:a="http://schemas.openxmlformats.org/drawingml/2006/main">
            <a:off x="742950" y="37814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4" name="trace-source-5-title">
            <a:extLst xmlns:a="http://schemas.openxmlformats.org/drawingml/2006/main">
              <a:ext uri="{FF2B5EF4-FFF2-40B4-BE49-F238E27FC236}">
                <a16:creationId xmlns:a16="http://schemas.microsoft.com/office/drawing/2014/main" id="{C5AA2541-5DAC-4C98-81D2-14997317AD75}"/>
              </a:ext>
            </a:extLst>
          </p:cNvPr>
          <p:cNvSpPr>
            <a:spLocks xmlns:a="http://schemas.openxmlformats.org/drawingml/2006/main" noGrp="1"/>
          </p:cNvSpPr>
          <p:nvPr/>
        </p:nvSpPr>
        <p:spPr>
          <a:xfrm xmlns:a="http://schemas.openxmlformats.org/drawingml/2006/main">
            <a:off x="876300" y="38957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A005</a:t>
            </a:r>
          </a:p>
        </p:txBody>
      </p:sp>
      <p:sp>
        <p:nvSpPr>
          <p:cNvPr id="15" name="trace-source-6">
            <a:extLst xmlns:a="http://schemas.openxmlformats.org/drawingml/2006/main">
              <a:ext uri="{FF2B5EF4-FFF2-40B4-BE49-F238E27FC236}">
                <a16:creationId xmlns:a16="http://schemas.microsoft.com/office/drawing/2014/main" id="{78E51787-D939-42A6-A1F2-F20775354AF5}"/>
              </a:ext>
            </a:extLst>
          </p:cNvPr>
          <p:cNvSpPr>
            <a:spLocks xmlns:a="http://schemas.openxmlformats.org/drawingml/2006/main" noGrp="1"/>
          </p:cNvSpPr>
          <p:nvPr/>
        </p:nvSpPr>
        <p:spPr>
          <a:xfrm xmlns:a="http://schemas.openxmlformats.org/drawingml/2006/main">
            <a:off x="742950" y="41433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6" name="trace-source-6-title">
            <a:extLst xmlns:a="http://schemas.openxmlformats.org/drawingml/2006/main">
              <a:ext uri="{FF2B5EF4-FFF2-40B4-BE49-F238E27FC236}">
                <a16:creationId xmlns:a16="http://schemas.microsoft.com/office/drawing/2014/main" id="{7C900926-3501-4D2B-B755-DA55B6E377FB}"/>
              </a:ext>
            </a:extLst>
          </p:cNvPr>
          <p:cNvSpPr>
            <a:spLocks xmlns:a="http://schemas.openxmlformats.org/drawingml/2006/main" noGrp="1"/>
          </p:cNvSpPr>
          <p:nvPr/>
        </p:nvSpPr>
        <p:spPr>
          <a:xfrm xmlns:a="http://schemas.openxmlformats.org/drawingml/2006/main">
            <a:off x="876300" y="42576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A006</a:t>
            </a:r>
          </a:p>
        </p:txBody>
      </p:sp>
      <p:sp>
        <p:nvSpPr>
          <p:cNvPr id="17" name="trace-source-7">
            <a:extLst xmlns:a="http://schemas.openxmlformats.org/drawingml/2006/main">
              <a:ext uri="{FF2B5EF4-FFF2-40B4-BE49-F238E27FC236}">
                <a16:creationId xmlns:a16="http://schemas.microsoft.com/office/drawing/2014/main" id="{90ACBEB8-836B-4576-9F72-3997D00C2B8E}"/>
              </a:ext>
            </a:extLst>
          </p:cNvPr>
          <p:cNvSpPr>
            <a:spLocks xmlns:a="http://schemas.openxmlformats.org/drawingml/2006/main" noGrp="1"/>
          </p:cNvSpPr>
          <p:nvPr/>
        </p:nvSpPr>
        <p:spPr>
          <a:xfrm xmlns:a="http://schemas.openxmlformats.org/drawingml/2006/main">
            <a:off x="742950" y="45053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8" name="trace-source-7-title">
            <a:extLst xmlns:a="http://schemas.openxmlformats.org/drawingml/2006/main">
              <a:ext uri="{FF2B5EF4-FFF2-40B4-BE49-F238E27FC236}">
                <a16:creationId xmlns:a16="http://schemas.microsoft.com/office/drawing/2014/main" id="{2BADB3FB-3322-497C-A0DD-1A6C67875128}"/>
              </a:ext>
            </a:extLst>
          </p:cNvPr>
          <p:cNvSpPr>
            <a:spLocks xmlns:a="http://schemas.openxmlformats.org/drawingml/2006/main" noGrp="1"/>
          </p:cNvSpPr>
          <p:nvPr/>
        </p:nvSpPr>
        <p:spPr>
          <a:xfrm xmlns:a="http://schemas.openxmlformats.org/drawingml/2006/main">
            <a:off x="876300" y="46196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A007</a:t>
            </a:r>
          </a:p>
        </p:txBody>
      </p:sp>
      <p:sp>
        <p:nvSpPr>
          <p:cNvPr id="19" name="trace-source-8">
            <a:extLst xmlns:a="http://schemas.openxmlformats.org/drawingml/2006/main">
              <a:ext uri="{FF2B5EF4-FFF2-40B4-BE49-F238E27FC236}">
                <a16:creationId xmlns:a16="http://schemas.microsoft.com/office/drawing/2014/main" id="{B096298C-8928-44E0-A9B8-219E24318D01}"/>
              </a:ext>
            </a:extLst>
          </p:cNvPr>
          <p:cNvSpPr>
            <a:spLocks xmlns:a="http://schemas.openxmlformats.org/drawingml/2006/main" noGrp="1"/>
          </p:cNvSpPr>
          <p:nvPr/>
        </p:nvSpPr>
        <p:spPr>
          <a:xfrm xmlns:a="http://schemas.openxmlformats.org/drawingml/2006/main">
            <a:off x="742950" y="48672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20" name="trace-source-8-title">
            <a:extLst xmlns:a="http://schemas.openxmlformats.org/drawingml/2006/main">
              <a:ext uri="{FF2B5EF4-FFF2-40B4-BE49-F238E27FC236}">
                <a16:creationId xmlns:a16="http://schemas.microsoft.com/office/drawing/2014/main" id="{E1164031-5D8B-4C8E-846C-05AC1D71C718}"/>
              </a:ext>
            </a:extLst>
          </p:cNvPr>
          <p:cNvSpPr>
            <a:spLocks xmlns:a="http://schemas.openxmlformats.org/drawingml/2006/main" noGrp="1"/>
          </p:cNvSpPr>
          <p:nvPr/>
        </p:nvSpPr>
        <p:spPr>
          <a:xfrm xmlns:a="http://schemas.openxmlformats.org/drawingml/2006/main">
            <a:off x="876300" y="49815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A008</a:t>
            </a:r>
          </a:p>
        </p:txBody>
      </p:sp>
      <p:sp>
        <p:nvSpPr>
          <p:cNvPr id="21" name="trace-focal">
            <a:extLst xmlns:a="http://schemas.openxmlformats.org/drawingml/2006/main">
              <a:ext uri="{FF2B5EF4-FFF2-40B4-BE49-F238E27FC236}">
                <a16:creationId xmlns:a16="http://schemas.microsoft.com/office/drawing/2014/main" id="{E4229AAC-6B07-4D78-974F-2F7BEBA07D39}"/>
              </a:ext>
            </a:extLst>
          </p:cNvPr>
          <p:cNvSpPr>
            <a:spLocks xmlns:a="http://schemas.openxmlformats.org/drawingml/2006/main" noGrp="1"/>
          </p:cNvSpPr>
          <p:nvPr/>
        </p:nvSpPr>
        <p:spPr>
          <a:xfrm xmlns:a="http://schemas.openxmlformats.org/drawingml/2006/main">
            <a:off x="3238500" y="3476625"/>
            <a:ext cx="1524000" cy="609600"/>
          </a:xfrm>
          <a:prstGeom xmlns:a="http://schemas.openxmlformats.org/drawingml/2006/main" prst="roundRect">
            <a:avLst>
              <a:gd name="adj" fmla="val 20313"/>
            </a:avLst>
          </a:prstGeom>
          <a:solidFill xmlns:a="http://schemas.openxmlformats.org/drawingml/2006/main">
            <a:srgbClr val="2F6FE5"/>
          </a:solidFill>
          <a:ln xmlns:a="http://schemas.openxmlformats.org/drawingml/2006/main" w="9525">
            <a:solidFill>
              <a:srgbClr val="77A4FF"/>
            </a:solidFill>
            <a:prstDash val="solid"/>
          </a:ln>
        </p:spPr>
      </p:sp>
      <p:sp>
        <p:nvSpPr>
          <p:cNvPr id="22" name="trace-focal-title">
            <a:extLst xmlns:a="http://schemas.openxmlformats.org/drawingml/2006/main">
              <a:ext uri="{FF2B5EF4-FFF2-40B4-BE49-F238E27FC236}">
                <a16:creationId xmlns:a16="http://schemas.microsoft.com/office/drawing/2014/main" id="{FA70435C-F2B3-4C02-A970-F09A0B78E0E3}"/>
              </a:ext>
            </a:extLst>
          </p:cNvPr>
          <p:cNvSpPr>
            <a:spLocks xmlns:a="http://schemas.openxmlformats.org/drawingml/2006/main" noGrp="1"/>
          </p:cNvSpPr>
          <p:nvPr/>
        </p:nvSpPr>
        <p:spPr>
          <a:xfrm xmlns:a="http://schemas.openxmlformats.org/drawingml/2006/main">
            <a:off x="3371850" y="359092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7505"/>
          </a:bodyPr>
          <a:lstStyle xmlns:a="http://schemas.openxmlformats.org/drawingml/2006/main"/>
          <a:p xmlns:a="http://schemas.openxmlformats.org/drawingml/2006/main">
            <a:pPr algn="l">
              <a:lnSpc>
                <a:spcPct val="112000"/>
              </a:lnSpc>
              <a:buNone/>
              <a:defRPr sz="1800" b="1" i="0">
                <a:solidFill>
                  <a:srgbClr val="F6F9FF"/>
                </a:solidFill>
                <a:latin typeface="Helvetica Neue"/>
                <a:ea typeface="Helvetica Neue"/>
                <a:cs typeface="Helvetica Neue"/>
              </a:defRPr>
            </a:pPr>
            <a:r>
              <a:rPr sz="1800" b="1" i="0">
                <a:solidFill>
                  <a:srgbClr val="F6F9FF"/>
                </a:solidFill>
                <a:latin typeface="Helvetica Neue"/>
                <a:ea typeface="Helvetica Neue"/>
                <a:cs typeface="Helvetica Neue"/>
              </a:rPr>
              <a:t>A101</a:t>
            </a:r>
          </a:p>
        </p:txBody>
      </p:sp>
      <p:sp>
        <p:nvSpPr>
          <p:cNvPr id="23" name="trace-focal-body">
            <a:extLst xmlns:a="http://schemas.openxmlformats.org/drawingml/2006/main">
              <a:ext uri="{FF2B5EF4-FFF2-40B4-BE49-F238E27FC236}">
                <a16:creationId xmlns:a16="http://schemas.microsoft.com/office/drawing/2014/main" id="{FF759C24-1467-4F10-9B24-47E5DAB7FE99}"/>
              </a:ext>
            </a:extLst>
          </p:cNvPr>
          <p:cNvSpPr>
            <a:spLocks xmlns:a="http://schemas.openxmlformats.org/drawingml/2006/main" noGrp="1"/>
          </p:cNvSpPr>
          <p:nvPr/>
        </p:nvSpPr>
        <p:spPr>
          <a:xfrm xmlns:a="http://schemas.openxmlformats.org/drawingml/2006/main">
            <a:off x="3371850" y="3857625"/>
            <a:ext cx="1257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12000"/>
              </a:lnSpc>
              <a:buNone/>
              <a:defRPr sz="900" b="0" i="0">
                <a:solidFill>
                  <a:srgbClr val="DDE9FF"/>
                </a:solidFill>
                <a:latin typeface="Helvetica Neue"/>
                <a:ea typeface="Helvetica Neue"/>
                <a:cs typeface="Helvetica Neue"/>
              </a:defRPr>
            </a:pPr>
            <a:r>
              <a:rPr sz="900" b="0" i="0">
                <a:solidFill>
                  <a:srgbClr val="DDE9FF"/>
                </a:solidFill>
                <a:latin typeface="Helvetica Neue"/>
                <a:ea typeface="Helvetica Neue"/>
                <a:cs typeface="Helvetica Neue"/>
              </a:rPr>
              <a:t>focal account</a:t>
            </a:r>
          </a:p>
        </p:txBody>
      </p:sp>
      <p:sp>
        <p:nvSpPr>
          <p:cNvPr id="24" name="trace-branch-1">
            <a:extLst xmlns:a="http://schemas.openxmlformats.org/drawingml/2006/main">
              <a:ext uri="{FF2B5EF4-FFF2-40B4-BE49-F238E27FC236}">
                <a16:creationId xmlns:a16="http://schemas.microsoft.com/office/drawing/2014/main" id="{2215EC05-EE85-4956-B57C-0D2A6EEDDD23}"/>
              </a:ext>
            </a:extLst>
          </p:cNvPr>
          <p:cNvSpPr>
            <a:spLocks xmlns:a="http://schemas.openxmlformats.org/drawingml/2006/main" noGrp="1"/>
          </p:cNvSpPr>
          <p:nvPr/>
        </p:nvSpPr>
        <p:spPr>
          <a:xfrm xmlns:a="http://schemas.openxmlformats.org/drawingml/2006/main">
            <a:off x="5715000" y="2781300"/>
            <a:ext cx="1428750" cy="571500"/>
          </a:xfrm>
          <a:prstGeom xmlns:a="http://schemas.openxmlformats.org/drawingml/2006/main" prst="roundRect">
            <a:avLst>
              <a:gd name="adj" fmla="val 20000"/>
            </a:avLst>
          </a:prstGeom>
          <a:solidFill xmlns:a="http://schemas.openxmlformats.org/drawingml/2006/main">
            <a:srgbClr val="172D4B"/>
          </a:solidFill>
          <a:ln xmlns:a="http://schemas.openxmlformats.org/drawingml/2006/main" w="9525">
            <a:solidFill>
              <a:srgbClr val="5679A7"/>
            </a:solidFill>
            <a:prstDash val="solid"/>
          </a:ln>
        </p:spPr>
      </p:sp>
      <p:sp>
        <p:nvSpPr>
          <p:cNvPr id="25" name="trace-branch-1-title">
            <a:extLst xmlns:a="http://schemas.openxmlformats.org/drawingml/2006/main">
              <a:ext uri="{FF2B5EF4-FFF2-40B4-BE49-F238E27FC236}">
                <a16:creationId xmlns:a16="http://schemas.microsoft.com/office/drawing/2014/main" id="{6DD82E56-DF8C-4417-A18D-59E669A13366}"/>
              </a:ext>
            </a:extLst>
          </p:cNvPr>
          <p:cNvSpPr>
            <a:spLocks xmlns:a="http://schemas.openxmlformats.org/drawingml/2006/main" noGrp="1"/>
          </p:cNvSpPr>
          <p:nvPr/>
        </p:nvSpPr>
        <p:spPr>
          <a:xfrm xmlns:a="http://schemas.openxmlformats.org/drawingml/2006/main">
            <a:off x="5848350" y="289560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901"/>
          </a:bodyPr>
          <a:lstStyle xmlns:a="http://schemas.openxmlformats.org/drawingml/2006/main"/>
          <a:p xmlns:a="http://schemas.openxmlformats.org/drawingml/2006/main">
            <a:pPr algn="l">
              <a:lnSpc>
                <a:spcPct val="112000"/>
              </a:lnSpc>
              <a:buNone/>
              <a:defRPr sz="1425" b="1" i="0">
                <a:solidFill>
                  <a:srgbClr val="F6F9FF"/>
                </a:solidFill>
                <a:latin typeface="Helvetica Neue"/>
                <a:ea typeface="Helvetica Neue"/>
                <a:cs typeface="Helvetica Neue"/>
              </a:defRPr>
            </a:pPr>
            <a:r>
              <a:rPr sz="1425" b="1" i="0">
                <a:solidFill>
                  <a:srgbClr val="F6F9FF"/>
                </a:solidFill>
                <a:latin typeface="Helvetica Neue"/>
                <a:ea typeface="Helvetica Neue"/>
                <a:cs typeface="Helvetica Neue"/>
              </a:rPr>
              <a:t>A201</a:t>
            </a:r>
          </a:p>
        </p:txBody>
      </p:sp>
      <p:sp>
        <p:nvSpPr>
          <p:cNvPr id="26" name="trace-branch-1-body">
            <a:extLst xmlns:a="http://schemas.openxmlformats.org/drawingml/2006/main">
              <a:ext uri="{FF2B5EF4-FFF2-40B4-BE49-F238E27FC236}">
                <a16:creationId xmlns:a16="http://schemas.microsoft.com/office/drawing/2014/main" id="{1AF4F39D-84D9-460B-BCB8-3DAA9B6EC385}"/>
              </a:ext>
            </a:extLst>
          </p:cNvPr>
          <p:cNvSpPr>
            <a:spLocks xmlns:a="http://schemas.openxmlformats.org/drawingml/2006/main" noGrp="1"/>
          </p:cNvSpPr>
          <p:nvPr/>
        </p:nvSpPr>
        <p:spPr>
          <a:xfrm xmlns:a="http://schemas.openxmlformats.org/drawingml/2006/main">
            <a:off x="5848350" y="3162300"/>
            <a:ext cx="11620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169"/>
          </a:bodyPr>
          <a:lstStyle xmlns:a="http://schemas.openxmlformats.org/drawingml/2006/main"/>
          <a:p xmlns:a="http://schemas.openxmlformats.org/drawingml/2006/main">
            <a:pPr algn="l">
              <a:lnSpc>
                <a:spcPct val="112000"/>
              </a:lnSpc>
              <a:buNone/>
              <a:defRPr sz="825" b="0" i="0">
                <a:solidFill>
                  <a:srgbClr val="AFC1D8"/>
                </a:solidFill>
                <a:latin typeface="Helvetica Neue"/>
                <a:ea typeface="Helvetica Neue"/>
                <a:cs typeface="Helvetica Neue"/>
              </a:defRPr>
            </a:pPr>
            <a:r>
              <a:rPr sz="825" b="0" i="0">
                <a:solidFill>
                  <a:srgbClr val="AFC1D8"/>
                </a:solidFill>
                <a:latin typeface="Helvetica Neue"/>
                <a:ea typeface="Helvetica Neue"/>
                <a:cs typeface="Helvetica Neue"/>
              </a:rPr>
              <a:t>first hop</a:t>
            </a:r>
          </a:p>
        </p:txBody>
      </p:sp>
      <p:sp>
        <p:nvSpPr>
          <p:cNvPr id="27" name="trace-branch-2">
            <a:extLst xmlns:a="http://schemas.openxmlformats.org/drawingml/2006/main">
              <a:ext uri="{FF2B5EF4-FFF2-40B4-BE49-F238E27FC236}">
                <a16:creationId xmlns:a16="http://schemas.microsoft.com/office/drawing/2014/main" id="{746F00A3-B463-4331-B7A5-553E73AA5C0B}"/>
              </a:ext>
            </a:extLst>
          </p:cNvPr>
          <p:cNvSpPr>
            <a:spLocks xmlns:a="http://schemas.openxmlformats.org/drawingml/2006/main" noGrp="1"/>
          </p:cNvSpPr>
          <p:nvPr/>
        </p:nvSpPr>
        <p:spPr>
          <a:xfrm xmlns:a="http://schemas.openxmlformats.org/drawingml/2006/main">
            <a:off x="5715000" y="4095750"/>
            <a:ext cx="1428750" cy="571500"/>
          </a:xfrm>
          <a:prstGeom xmlns:a="http://schemas.openxmlformats.org/drawingml/2006/main" prst="roundRect">
            <a:avLst>
              <a:gd name="adj" fmla="val 20000"/>
            </a:avLst>
          </a:prstGeom>
          <a:solidFill xmlns:a="http://schemas.openxmlformats.org/drawingml/2006/main">
            <a:srgbClr val="172D4B"/>
          </a:solidFill>
          <a:ln xmlns:a="http://schemas.openxmlformats.org/drawingml/2006/main" w="9525">
            <a:solidFill>
              <a:srgbClr val="5679A7"/>
            </a:solidFill>
            <a:prstDash val="solid"/>
          </a:ln>
        </p:spPr>
      </p:sp>
      <p:sp>
        <p:nvSpPr>
          <p:cNvPr id="28" name="trace-branch-2-title">
            <a:extLst xmlns:a="http://schemas.openxmlformats.org/drawingml/2006/main">
              <a:ext uri="{FF2B5EF4-FFF2-40B4-BE49-F238E27FC236}">
                <a16:creationId xmlns:a16="http://schemas.microsoft.com/office/drawing/2014/main" id="{30034337-01C1-4215-ACB9-F28A1C374384}"/>
              </a:ext>
            </a:extLst>
          </p:cNvPr>
          <p:cNvSpPr>
            <a:spLocks xmlns:a="http://schemas.openxmlformats.org/drawingml/2006/main" noGrp="1"/>
          </p:cNvSpPr>
          <p:nvPr/>
        </p:nvSpPr>
        <p:spPr>
          <a:xfrm xmlns:a="http://schemas.openxmlformats.org/drawingml/2006/main">
            <a:off x="5848350" y="421005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901"/>
          </a:bodyPr>
          <a:lstStyle xmlns:a="http://schemas.openxmlformats.org/drawingml/2006/main"/>
          <a:p xmlns:a="http://schemas.openxmlformats.org/drawingml/2006/main">
            <a:pPr algn="l">
              <a:lnSpc>
                <a:spcPct val="112000"/>
              </a:lnSpc>
              <a:buNone/>
              <a:defRPr sz="1425" b="1" i="0">
                <a:solidFill>
                  <a:srgbClr val="F6F9FF"/>
                </a:solidFill>
                <a:latin typeface="Helvetica Neue"/>
                <a:ea typeface="Helvetica Neue"/>
                <a:cs typeface="Helvetica Neue"/>
              </a:defRPr>
            </a:pPr>
            <a:r>
              <a:rPr sz="1425" b="1" i="0">
                <a:solidFill>
                  <a:srgbClr val="F6F9FF"/>
                </a:solidFill>
                <a:latin typeface="Helvetica Neue"/>
                <a:ea typeface="Helvetica Neue"/>
                <a:cs typeface="Helvetica Neue"/>
              </a:rPr>
              <a:t>A202</a:t>
            </a:r>
          </a:p>
        </p:txBody>
      </p:sp>
      <p:sp>
        <p:nvSpPr>
          <p:cNvPr id="29" name="trace-branch-2-body">
            <a:extLst xmlns:a="http://schemas.openxmlformats.org/drawingml/2006/main">
              <a:ext uri="{FF2B5EF4-FFF2-40B4-BE49-F238E27FC236}">
                <a16:creationId xmlns:a16="http://schemas.microsoft.com/office/drawing/2014/main" id="{55F7ECF9-2128-44FF-8120-80E80C16F0C5}"/>
              </a:ext>
            </a:extLst>
          </p:cNvPr>
          <p:cNvSpPr>
            <a:spLocks xmlns:a="http://schemas.openxmlformats.org/drawingml/2006/main" noGrp="1"/>
          </p:cNvSpPr>
          <p:nvPr/>
        </p:nvSpPr>
        <p:spPr>
          <a:xfrm xmlns:a="http://schemas.openxmlformats.org/drawingml/2006/main">
            <a:off x="5848350" y="4476750"/>
            <a:ext cx="11620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169"/>
          </a:bodyPr>
          <a:lstStyle xmlns:a="http://schemas.openxmlformats.org/drawingml/2006/main"/>
          <a:p xmlns:a="http://schemas.openxmlformats.org/drawingml/2006/main">
            <a:pPr algn="l">
              <a:lnSpc>
                <a:spcPct val="112000"/>
              </a:lnSpc>
              <a:buNone/>
              <a:defRPr sz="825" b="0" i="0">
                <a:solidFill>
                  <a:srgbClr val="AFC1D8"/>
                </a:solidFill>
                <a:latin typeface="Helvetica Neue"/>
                <a:ea typeface="Helvetica Neue"/>
                <a:cs typeface="Helvetica Neue"/>
              </a:defRPr>
            </a:pPr>
            <a:r>
              <a:rPr sz="825" b="0" i="0">
                <a:solidFill>
                  <a:srgbClr val="AFC1D8"/>
                </a:solidFill>
                <a:latin typeface="Helvetica Neue"/>
                <a:ea typeface="Helvetica Neue"/>
                <a:cs typeface="Helvetica Neue"/>
              </a:rPr>
              <a:t>first hop</a:t>
            </a:r>
          </a:p>
        </p:txBody>
      </p:sp>
      <p:sp>
        <p:nvSpPr>
          <p:cNvPr id="30" name="trace-target">
            <a:extLst xmlns:a="http://schemas.openxmlformats.org/drawingml/2006/main">
              <a:ext uri="{FF2B5EF4-FFF2-40B4-BE49-F238E27FC236}">
                <a16:creationId xmlns:a16="http://schemas.microsoft.com/office/drawing/2014/main" id="{512F4334-60D7-4FBD-8FF3-E20A017B9034}"/>
              </a:ext>
            </a:extLst>
          </p:cNvPr>
          <p:cNvSpPr>
            <a:spLocks xmlns:a="http://schemas.openxmlformats.org/drawingml/2006/main" noGrp="1"/>
          </p:cNvSpPr>
          <p:nvPr/>
        </p:nvSpPr>
        <p:spPr>
          <a:xfrm xmlns:a="http://schemas.openxmlformats.org/drawingml/2006/main">
            <a:off x="8210550" y="3429000"/>
            <a:ext cx="1485900" cy="609600"/>
          </a:xfrm>
          <a:prstGeom xmlns:a="http://schemas.openxmlformats.org/drawingml/2006/main" prst="roundRect">
            <a:avLst>
              <a:gd name="adj" fmla="val 20313"/>
            </a:avLst>
          </a:prstGeom>
          <a:solidFill xmlns:a="http://schemas.openxmlformats.org/drawingml/2006/main">
            <a:srgbClr val="143A3A"/>
          </a:solidFill>
          <a:ln xmlns:a="http://schemas.openxmlformats.org/drawingml/2006/main" w="9525">
            <a:solidFill>
              <a:srgbClr val="3B8F84"/>
            </a:solidFill>
            <a:prstDash val="solid"/>
          </a:ln>
        </p:spPr>
      </p:sp>
      <p:sp>
        <p:nvSpPr>
          <p:cNvPr id="31" name="trace-target-title">
            <a:extLst xmlns:a="http://schemas.openxmlformats.org/drawingml/2006/main">
              <a:ext uri="{FF2B5EF4-FFF2-40B4-BE49-F238E27FC236}">
                <a16:creationId xmlns:a16="http://schemas.microsoft.com/office/drawing/2014/main" id="{A8D74C8C-DA4B-481F-B754-EF4D9FC4204B}"/>
              </a:ext>
            </a:extLst>
          </p:cNvPr>
          <p:cNvSpPr>
            <a:spLocks xmlns:a="http://schemas.openxmlformats.org/drawingml/2006/main" noGrp="1"/>
          </p:cNvSpPr>
          <p:nvPr/>
        </p:nvSpPr>
        <p:spPr>
          <a:xfrm xmlns:a="http://schemas.openxmlformats.org/drawingml/2006/main">
            <a:off x="8343900" y="3543300"/>
            <a:ext cx="121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577"/>
          </a:bodyPr>
          <a:lstStyle xmlns:a="http://schemas.openxmlformats.org/drawingml/2006/main"/>
          <a:p xmlns:a="http://schemas.openxmlformats.org/drawingml/2006/main">
            <a:pPr algn="l">
              <a:lnSpc>
                <a:spcPct val="112000"/>
              </a:lnSpc>
              <a:buNone/>
              <a:defRPr sz="1575" b="1" i="0">
                <a:solidFill>
                  <a:srgbClr val="63E0C5"/>
                </a:solidFill>
                <a:latin typeface="Helvetica Neue"/>
                <a:ea typeface="Helvetica Neue"/>
                <a:cs typeface="Helvetica Neue"/>
              </a:defRPr>
            </a:pPr>
            <a:r>
              <a:rPr sz="1575" b="1" i="0">
                <a:solidFill>
                  <a:srgbClr val="63E0C5"/>
                </a:solidFill>
                <a:latin typeface="Helvetica Neue"/>
                <a:ea typeface="Helvetica Neue"/>
                <a:cs typeface="Helvetica Neue"/>
              </a:rPr>
              <a:t>A301</a:t>
            </a:r>
          </a:p>
        </p:txBody>
      </p:sp>
      <p:sp>
        <p:nvSpPr>
          <p:cNvPr id="32" name="trace-target-body">
            <a:extLst xmlns:a="http://schemas.openxmlformats.org/drawingml/2006/main">
              <a:ext uri="{FF2B5EF4-FFF2-40B4-BE49-F238E27FC236}">
                <a16:creationId xmlns:a16="http://schemas.microsoft.com/office/drawing/2014/main" id="{A31894AA-7BFA-49AA-AA2A-0F9C70C30226}"/>
              </a:ext>
            </a:extLst>
          </p:cNvPr>
          <p:cNvSpPr>
            <a:spLocks xmlns:a="http://schemas.openxmlformats.org/drawingml/2006/main" noGrp="1"/>
          </p:cNvSpPr>
          <p:nvPr/>
        </p:nvSpPr>
        <p:spPr>
          <a:xfrm xmlns:a="http://schemas.openxmlformats.org/drawingml/2006/main">
            <a:off x="8343900" y="3810000"/>
            <a:ext cx="1219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825" b="0" i="0">
                <a:solidFill>
                  <a:srgbClr val="B9E8DF"/>
                </a:solidFill>
                <a:latin typeface="Helvetica Neue"/>
                <a:ea typeface="Helvetica Neue"/>
                <a:cs typeface="Helvetica Neue"/>
              </a:defRPr>
            </a:pPr>
            <a:r>
              <a:rPr sz="825" b="0" i="0">
                <a:solidFill>
                  <a:srgbClr val="B9E8DF"/>
                </a:solidFill>
                <a:latin typeface="Helvetica Neue"/>
                <a:ea typeface="Helvetica Neue"/>
                <a:cs typeface="Helvetica Neue"/>
              </a:rPr>
              <a:t>common destination</a:t>
            </a:r>
          </a:p>
        </p:txBody>
      </p:sp>
      <p:cxnSp>
        <p:nvCxnSpPr>
          <p:cNvPr id="91" name=""/>
          <p:cNvCxnSpPr>
            <a:stCxn xmlns:a="http://schemas.openxmlformats.org/drawingml/2006/main" id="5" idx="3"/>
            <a:endCxn xmlns:a="http://schemas.openxmlformats.org/drawingml/2006/main" id="21" idx="1"/>
          </p:cNvCxnSpPr>
          <p:nvPr/>
        </p:nvCxnSpPr>
        <p:spPr>
          <a:xfrm xmlns:a="http://schemas.openxmlformats.org/drawingml/2006/main">
            <a:off x="1743075" y="2466975"/>
            <a:ext cx="1495425" cy="1314450"/>
          </a:xfrm>
          <a:prstGeom xmlns:a="http://schemas.openxmlformats.org/drawingml/2006/main" prst="bentConnector3">
            <a:avLst>
              <a:gd name="adj1" fmla="val 50000"/>
            </a:avLst>
          </a:prstGeom>
          <a:ln xmlns:a="http://schemas.openxmlformats.org/drawingml/2006/main" w="11430">
            <a:solidFill>
              <a:srgbClr val="3C5B83"/>
            </a:solidFill>
            <a:prstDash val="solid"/>
            <a:headEnd type="triangle" w="sm" len="sm"/>
          </a:ln>
        </p:spPr>
      </p:cxnSp>
      <p:cxnSp>
        <p:nvCxnSpPr>
          <p:cNvPr id="92" name=""/>
          <p:cNvCxnSpPr>
            <a:stCxn xmlns:a="http://schemas.openxmlformats.org/drawingml/2006/main" id="7" idx="3"/>
            <a:endCxn xmlns:a="http://schemas.openxmlformats.org/drawingml/2006/main" id="21" idx="1"/>
          </p:cNvCxnSpPr>
          <p:nvPr/>
        </p:nvCxnSpPr>
        <p:spPr>
          <a:xfrm xmlns:a="http://schemas.openxmlformats.org/drawingml/2006/main">
            <a:off x="1743075" y="2828925"/>
            <a:ext cx="1495425" cy="952500"/>
          </a:xfrm>
          <a:prstGeom xmlns:a="http://schemas.openxmlformats.org/drawingml/2006/main" prst="bentConnector3">
            <a:avLst>
              <a:gd name="adj1" fmla="val 50000"/>
            </a:avLst>
          </a:prstGeom>
          <a:ln xmlns:a="http://schemas.openxmlformats.org/drawingml/2006/main" w="11430">
            <a:solidFill>
              <a:srgbClr val="3C5B83"/>
            </a:solidFill>
            <a:prstDash val="solid"/>
            <a:headEnd type="triangle" w="sm" len="sm"/>
          </a:ln>
        </p:spPr>
      </p:cxnSp>
      <p:cxnSp>
        <p:nvCxnSpPr>
          <p:cNvPr id="93" name=""/>
          <p:cNvCxnSpPr>
            <a:stCxn xmlns:a="http://schemas.openxmlformats.org/drawingml/2006/main" id="9" idx="3"/>
            <a:endCxn xmlns:a="http://schemas.openxmlformats.org/drawingml/2006/main" id="21" idx="1"/>
          </p:cNvCxnSpPr>
          <p:nvPr/>
        </p:nvCxnSpPr>
        <p:spPr>
          <a:xfrm xmlns:a="http://schemas.openxmlformats.org/drawingml/2006/main">
            <a:off x="1743075" y="3190875"/>
            <a:ext cx="1495425" cy="590550"/>
          </a:xfrm>
          <a:prstGeom xmlns:a="http://schemas.openxmlformats.org/drawingml/2006/main" prst="bentConnector3">
            <a:avLst>
              <a:gd name="adj1" fmla="val 50000"/>
            </a:avLst>
          </a:prstGeom>
          <a:ln xmlns:a="http://schemas.openxmlformats.org/drawingml/2006/main" w="11430">
            <a:solidFill>
              <a:srgbClr val="3C5B83"/>
            </a:solidFill>
            <a:prstDash val="solid"/>
            <a:headEnd type="triangle" w="sm" len="sm"/>
          </a:ln>
        </p:spPr>
      </p:cxnSp>
      <p:cxnSp>
        <p:nvCxnSpPr>
          <p:cNvPr id="94" name=""/>
          <p:cNvCxnSpPr>
            <a:stCxn xmlns:a="http://schemas.openxmlformats.org/drawingml/2006/main" id="11" idx="3"/>
            <a:endCxn xmlns:a="http://schemas.openxmlformats.org/drawingml/2006/main" id="21" idx="1"/>
          </p:cNvCxnSpPr>
          <p:nvPr/>
        </p:nvCxnSpPr>
        <p:spPr>
          <a:xfrm xmlns:a="http://schemas.openxmlformats.org/drawingml/2006/main">
            <a:off x="1743075" y="3552825"/>
            <a:ext cx="1495425" cy="228600"/>
          </a:xfrm>
          <a:prstGeom xmlns:a="http://schemas.openxmlformats.org/drawingml/2006/main" prst="bentConnector3">
            <a:avLst>
              <a:gd name="adj1" fmla="val 50000"/>
            </a:avLst>
          </a:prstGeom>
          <a:ln xmlns:a="http://schemas.openxmlformats.org/drawingml/2006/main" w="11430">
            <a:solidFill>
              <a:srgbClr val="3C5B83"/>
            </a:solidFill>
            <a:prstDash val="solid"/>
            <a:headEnd type="triangle" w="sm" len="sm"/>
          </a:ln>
        </p:spPr>
      </p:cxnSp>
      <p:cxnSp>
        <p:nvCxnSpPr>
          <p:cNvPr id="95" name=""/>
          <p:cNvCxnSpPr>
            <a:stCxn xmlns:a="http://schemas.openxmlformats.org/drawingml/2006/main" id="13" idx="3"/>
            <a:endCxn xmlns:a="http://schemas.openxmlformats.org/drawingml/2006/main" id="21" idx="1"/>
          </p:cNvCxnSpPr>
          <p:nvPr/>
        </p:nvCxnSpPr>
        <p:spPr>
          <a:xfrm xmlns:a="http://schemas.openxmlformats.org/drawingml/2006/main" flipV="1">
            <a:off x="1743075" y="3781425"/>
            <a:ext cx="1495425" cy="133350"/>
          </a:xfrm>
          <a:prstGeom xmlns:a="http://schemas.openxmlformats.org/drawingml/2006/main" prst="bentConnector3">
            <a:avLst>
              <a:gd name="adj1" fmla="val 50000"/>
            </a:avLst>
          </a:prstGeom>
          <a:ln xmlns:a="http://schemas.openxmlformats.org/drawingml/2006/main" w="11430">
            <a:solidFill>
              <a:srgbClr val="3C5B83"/>
            </a:solidFill>
            <a:prstDash val="solid"/>
            <a:headEnd type="triangle" w="sm" len="sm"/>
          </a:ln>
        </p:spPr>
      </p:cxnSp>
      <p:cxnSp>
        <p:nvCxnSpPr>
          <p:cNvPr id="96" name=""/>
          <p:cNvCxnSpPr>
            <a:stCxn xmlns:a="http://schemas.openxmlformats.org/drawingml/2006/main" id="15" idx="3"/>
            <a:endCxn xmlns:a="http://schemas.openxmlformats.org/drawingml/2006/main" id="21" idx="1"/>
          </p:cNvCxnSpPr>
          <p:nvPr/>
        </p:nvCxnSpPr>
        <p:spPr>
          <a:xfrm xmlns:a="http://schemas.openxmlformats.org/drawingml/2006/main" flipV="1">
            <a:off x="1743075" y="3781425"/>
            <a:ext cx="1495425" cy="495300"/>
          </a:xfrm>
          <a:prstGeom xmlns:a="http://schemas.openxmlformats.org/drawingml/2006/main" prst="bentConnector3">
            <a:avLst>
              <a:gd name="adj1" fmla="val 50000"/>
            </a:avLst>
          </a:prstGeom>
          <a:ln xmlns:a="http://schemas.openxmlformats.org/drawingml/2006/main" w="11430">
            <a:solidFill>
              <a:srgbClr val="3C5B83"/>
            </a:solidFill>
            <a:prstDash val="solid"/>
            <a:headEnd type="triangle" w="sm" len="sm"/>
          </a:ln>
        </p:spPr>
      </p:cxnSp>
      <p:cxnSp>
        <p:nvCxnSpPr>
          <p:cNvPr id="97" name=""/>
          <p:cNvCxnSpPr>
            <a:stCxn xmlns:a="http://schemas.openxmlformats.org/drawingml/2006/main" id="17" idx="3"/>
            <a:endCxn xmlns:a="http://schemas.openxmlformats.org/drawingml/2006/main" id="21" idx="1"/>
          </p:cNvCxnSpPr>
          <p:nvPr/>
        </p:nvCxnSpPr>
        <p:spPr>
          <a:xfrm xmlns:a="http://schemas.openxmlformats.org/drawingml/2006/main" flipV="1">
            <a:off x="1743075" y="3781425"/>
            <a:ext cx="1495425" cy="857250"/>
          </a:xfrm>
          <a:prstGeom xmlns:a="http://schemas.openxmlformats.org/drawingml/2006/main" prst="bentConnector3">
            <a:avLst>
              <a:gd name="adj1" fmla="val 50000"/>
            </a:avLst>
          </a:prstGeom>
          <a:ln xmlns:a="http://schemas.openxmlformats.org/drawingml/2006/main" w="11430">
            <a:solidFill>
              <a:srgbClr val="3C5B83"/>
            </a:solidFill>
            <a:prstDash val="solid"/>
            <a:headEnd type="triangle" w="sm" len="sm"/>
          </a:ln>
        </p:spPr>
      </p:cxnSp>
      <p:cxnSp>
        <p:nvCxnSpPr>
          <p:cNvPr id="98" name=""/>
          <p:cNvCxnSpPr>
            <a:stCxn xmlns:a="http://schemas.openxmlformats.org/drawingml/2006/main" id="19" idx="3"/>
            <a:endCxn xmlns:a="http://schemas.openxmlformats.org/drawingml/2006/main" id="21" idx="1"/>
          </p:cNvCxnSpPr>
          <p:nvPr/>
        </p:nvCxnSpPr>
        <p:spPr>
          <a:xfrm xmlns:a="http://schemas.openxmlformats.org/drawingml/2006/main" flipV="1">
            <a:off x="1743075" y="3781425"/>
            <a:ext cx="1495425" cy="1219200"/>
          </a:xfrm>
          <a:prstGeom xmlns:a="http://schemas.openxmlformats.org/drawingml/2006/main" prst="bentConnector3">
            <a:avLst>
              <a:gd name="adj1" fmla="val 50000"/>
            </a:avLst>
          </a:prstGeom>
          <a:ln xmlns:a="http://schemas.openxmlformats.org/drawingml/2006/main" w="11430">
            <a:solidFill>
              <a:srgbClr val="3C5B83"/>
            </a:solidFill>
            <a:prstDash val="solid"/>
            <a:headEnd type="triangle" w="sm" len="sm"/>
          </a:ln>
        </p:spPr>
      </p:cxnSp>
      <p:cxnSp>
        <p:nvCxnSpPr>
          <p:cNvPr id="99" name=""/>
          <p:cNvCxnSpPr>
            <a:stCxn xmlns:a="http://schemas.openxmlformats.org/drawingml/2006/main" id="21" idx="3"/>
            <a:endCxn xmlns:a="http://schemas.openxmlformats.org/drawingml/2006/main" id="24" idx="1"/>
          </p:cNvCxnSpPr>
          <p:nvPr/>
        </p:nvCxnSpPr>
        <p:spPr>
          <a:xfrm xmlns:a="http://schemas.openxmlformats.org/drawingml/2006/main" flipV="1">
            <a:off x="4762500" y="3067050"/>
            <a:ext cx="952500" cy="714375"/>
          </a:xfrm>
          <a:prstGeom xmlns:a="http://schemas.openxmlformats.org/drawingml/2006/main" prst="bentConnector3">
            <a:avLst>
              <a:gd name="adj1" fmla="val 50000"/>
            </a:avLst>
          </a:prstGeom>
          <a:ln xmlns:a="http://schemas.openxmlformats.org/drawingml/2006/main" w="20955">
            <a:solidFill>
              <a:srgbClr val="5D8EFF"/>
            </a:solidFill>
            <a:prstDash val="solid"/>
            <a:headEnd type="triangle" w="sm" len="sm"/>
          </a:ln>
        </p:spPr>
      </p:cxnSp>
      <p:cxnSp>
        <p:nvCxnSpPr>
          <p:cNvPr id="100" name=""/>
          <p:cNvCxnSpPr>
            <a:stCxn xmlns:a="http://schemas.openxmlformats.org/drawingml/2006/main" id="21" idx="3"/>
            <a:endCxn xmlns:a="http://schemas.openxmlformats.org/drawingml/2006/main" id="27" idx="1"/>
          </p:cNvCxnSpPr>
          <p:nvPr/>
        </p:nvCxnSpPr>
        <p:spPr>
          <a:xfrm xmlns:a="http://schemas.openxmlformats.org/drawingml/2006/main">
            <a:off x="4762500" y="3781425"/>
            <a:ext cx="952500" cy="600075"/>
          </a:xfrm>
          <a:prstGeom xmlns:a="http://schemas.openxmlformats.org/drawingml/2006/main" prst="bentConnector3">
            <a:avLst>
              <a:gd name="adj1" fmla="val 50000"/>
            </a:avLst>
          </a:prstGeom>
          <a:ln xmlns:a="http://schemas.openxmlformats.org/drawingml/2006/main" w="20955">
            <a:solidFill>
              <a:srgbClr val="5D8EFF"/>
            </a:solidFill>
            <a:prstDash val="solid"/>
            <a:headEnd type="triangle" w="sm" len="sm"/>
          </a:ln>
        </p:spPr>
      </p:cxnSp>
      <p:cxnSp>
        <p:nvCxnSpPr>
          <p:cNvPr id="101" name=""/>
          <p:cNvCxnSpPr>
            <a:stCxn xmlns:a="http://schemas.openxmlformats.org/drawingml/2006/main" id="24" idx="3"/>
            <a:endCxn xmlns:a="http://schemas.openxmlformats.org/drawingml/2006/main" id="30" idx="1"/>
          </p:cNvCxnSpPr>
          <p:nvPr/>
        </p:nvCxnSpPr>
        <p:spPr>
          <a:xfrm xmlns:a="http://schemas.openxmlformats.org/drawingml/2006/main">
            <a:off x="7143750" y="3067050"/>
            <a:ext cx="1066800" cy="666750"/>
          </a:xfrm>
          <a:prstGeom xmlns:a="http://schemas.openxmlformats.org/drawingml/2006/main" prst="bentConnector3">
            <a:avLst>
              <a:gd name="adj1" fmla="val 50000"/>
            </a:avLst>
          </a:prstGeom>
          <a:ln xmlns:a="http://schemas.openxmlformats.org/drawingml/2006/main" w="20955">
            <a:solidFill>
              <a:srgbClr val="63E0C5"/>
            </a:solidFill>
            <a:prstDash val="solid"/>
            <a:headEnd type="triangle" w="sm" len="sm"/>
          </a:ln>
        </p:spPr>
      </p:cxnSp>
      <p:cxnSp>
        <p:nvCxnSpPr>
          <p:cNvPr id="102" name=""/>
          <p:cNvCxnSpPr>
            <a:stCxn xmlns:a="http://schemas.openxmlformats.org/drawingml/2006/main" id="27" idx="3"/>
            <a:endCxn xmlns:a="http://schemas.openxmlformats.org/drawingml/2006/main" id="30" idx="1"/>
          </p:cNvCxnSpPr>
          <p:nvPr/>
        </p:nvCxnSpPr>
        <p:spPr>
          <a:xfrm xmlns:a="http://schemas.openxmlformats.org/drawingml/2006/main" flipV="1">
            <a:off x="7143750" y="3733800"/>
            <a:ext cx="1066800" cy="647700"/>
          </a:xfrm>
          <a:prstGeom xmlns:a="http://schemas.openxmlformats.org/drawingml/2006/main" prst="bentConnector3">
            <a:avLst>
              <a:gd name="adj1" fmla="val 50000"/>
            </a:avLst>
          </a:prstGeom>
          <a:ln xmlns:a="http://schemas.openxmlformats.org/drawingml/2006/main" w="20955">
            <a:solidFill>
              <a:srgbClr val="63E0C5"/>
            </a:solidFill>
            <a:prstDash val="solid"/>
            <a:headEnd type="triangle" w="sm" len="sm"/>
          </a:ln>
        </p:spPr>
      </p:cxnSp>
      <p:sp>
        <p:nvSpPr>
          <p:cNvPr id="45" name="trace-metrics">
            <a:extLst xmlns:a="http://schemas.openxmlformats.org/drawingml/2006/main">
              <a:ext uri="{FF2B5EF4-FFF2-40B4-BE49-F238E27FC236}">
                <a16:creationId xmlns:a16="http://schemas.microsoft.com/office/drawing/2014/main" id="{C49130D0-2A68-4AD5-9754-18123A30D1DA}"/>
              </a:ext>
            </a:extLst>
          </p:cNvPr>
          <p:cNvSpPr>
            <a:spLocks xmlns:a="http://schemas.openxmlformats.org/drawingml/2006/main" noGrp="1"/>
          </p:cNvSpPr>
          <p:nvPr/>
        </p:nvSpPr>
        <p:spPr>
          <a:xfrm xmlns:a="http://schemas.openxmlformats.org/drawingml/2006/main">
            <a:off x="9982200" y="2447925"/>
            <a:ext cx="1600200" cy="2209800"/>
          </a:xfrm>
          <a:prstGeom xmlns:a="http://schemas.openxmlformats.org/drawingml/2006/main" prst="roundRect">
            <a:avLst>
              <a:gd name="adj" fmla="val 9524"/>
            </a:avLst>
          </a:prstGeom>
          <a:solidFill xmlns:a="http://schemas.openxmlformats.org/drawingml/2006/main">
            <a:srgbClr val="102746"/>
          </a:solidFill>
          <a:ln xmlns:a="http://schemas.openxmlformats.org/drawingml/2006/main" w="9525">
            <a:solidFill>
              <a:srgbClr val="244B77"/>
            </a:solidFill>
            <a:prstDash val="solid"/>
          </a:ln>
        </p:spPr>
      </p:sp>
      <p:sp>
        <p:nvSpPr>
          <p:cNvPr id="46" name="trace-metrics-label">
            <a:extLst xmlns:a="http://schemas.openxmlformats.org/drawingml/2006/main">
              <a:ext uri="{FF2B5EF4-FFF2-40B4-BE49-F238E27FC236}">
                <a16:creationId xmlns:a16="http://schemas.microsoft.com/office/drawing/2014/main" id="{24F4847E-2724-42BA-A13A-C944A6BC0452}"/>
              </a:ext>
            </a:extLst>
          </p:cNvPr>
          <p:cNvSpPr>
            <a:spLocks xmlns:a="http://schemas.openxmlformats.org/drawingml/2006/main" noGrp="1"/>
          </p:cNvSpPr>
          <p:nvPr/>
        </p:nvSpPr>
        <p:spPr>
          <a:xfrm xmlns:a="http://schemas.openxmlformats.org/drawingml/2006/main">
            <a:off x="10134600" y="264795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D8EFF"/>
                </a:solidFill>
                <a:latin typeface="Helvetica Neue"/>
                <a:ea typeface="Helvetica Neue"/>
                <a:cs typeface="Helvetica Neue"/>
              </a:defRPr>
            </a:pPr>
            <a:r>
              <a:rPr sz="750" b="1" i="0">
                <a:solidFill>
                  <a:srgbClr val="5D8EFF"/>
                </a:solidFill>
                <a:latin typeface="Helvetica Neue"/>
                <a:ea typeface="Helvetica Neue"/>
                <a:cs typeface="Helvetica Neue"/>
              </a:rPr>
              <a:t>OBSERVED OUTPUT</a:t>
            </a:r>
          </a:p>
        </p:txBody>
      </p:sp>
      <p:sp>
        <p:nvSpPr>
          <p:cNvPr id="47" name="trace-metric-1">
            <a:extLst xmlns:a="http://schemas.openxmlformats.org/drawingml/2006/main">
              <a:ext uri="{FF2B5EF4-FFF2-40B4-BE49-F238E27FC236}">
                <a16:creationId xmlns:a16="http://schemas.microsoft.com/office/drawing/2014/main" id="{EB06B0A2-D39B-4A46-B3D8-7137B6896F3B}"/>
              </a:ext>
            </a:extLst>
          </p:cNvPr>
          <p:cNvSpPr>
            <a:spLocks xmlns:a="http://schemas.openxmlformats.org/drawingml/2006/main" noGrp="1"/>
          </p:cNvSpPr>
          <p:nvPr/>
        </p:nvSpPr>
        <p:spPr>
          <a:xfrm xmlns:a="http://schemas.openxmlformats.org/drawingml/2006/main">
            <a:off x="10134600" y="2981325"/>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2400" b="1" i="0">
                <a:solidFill>
                  <a:srgbClr val="F6F9FF"/>
                </a:solidFill>
                <a:latin typeface="Helvetica Neue"/>
                <a:ea typeface="Helvetica Neue"/>
                <a:cs typeface="Helvetica Neue"/>
              </a:defRPr>
            </a:pPr>
            <a:r>
              <a:rPr sz="2400" b="1" i="0">
                <a:solidFill>
                  <a:srgbClr val="F6F9FF"/>
                </a:solidFill>
                <a:latin typeface="Helvetica Neue"/>
                <a:ea typeface="Helvetica Neue"/>
                <a:cs typeface="Helvetica Neue"/>
              </a:rPr>
              <a:t>2</a:t>
            </a:r>
          </a:p>
        </p:txBody>
      </p:sp>
      <p:sp>
        <p:nvSpPr>
          <p:cNvPr id="48" name="trace-metric-1-label">
            <a:extLst xmlns:a="http://schemas.openxmlformats.org/drawingml/2006/main">
              <a:ext uri="{FF2B5EF4-FFF2-40B4-BE49-F238E27FC236}">
                <a16:creationId xmlns:a16="http://schemas.microsoft.com/office/drawing/2014/main" id="{484E8F63-7381-492C-9DF3-120020A6F031}"/>
              </a:ext>
            </a:extLst>
          </p:cNvPr>
          <p:cNvSpPr>
            <a:spLocks xmlns:a="http://schemas.openxmlformats.org/drawingml/2006/main" noGrp="1"/>
          </p:cNvSpPr>
          <p:nvPr/>
        </p:nvSpPr>
        <p:spPr>
          <a:xfrm xmlns:a="http://schemas.openxmlformats.org/drawingml/2006/main">
            <a:off x="10572750" y="3057525"/>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chronological paths</a:t>
            </a:r>
          </a:p>
        </p:txBody>
      </p:sp>
      <p:sp>
        <p:nvSpPr>
          <p:cNvPr id="49" name="trace-metric-rule-1">
            <a:extLst xmlns:a="http://schemas.openxmlformats.org/drawingml/2006/main">
              <a:ext uri="{FF2B5EF4-FFF2-40B4-BE49-F238E27FC236}">
                <a16:creationId xmlns:a16="http://schemas.microsoft.com/office/drawing/2014/main" id="{0101A45C-5FD8-42F6-8D77-473EA6984D83}"/>
              </a:ext>
            </a:extLst>
          </p:cNvPr>
          <p:cNvSpPr>
            <a:spLocks xmlns:a="http://schemas.openxmlformats.org/drawingml/2006/main" noGrp="1"/>
          </p:cNvSpPr>
          <p:nvPr/>
        </p:nvSpPr>
        <p:spPr>
          <a:xfrm xmlns:a="http://schemas.openxmlformats.org/drawingml/2006/main">
            <a:off x="10134600" y="3476625"/>
            <a:ext cx="12954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50" name="trace-metric-2">
            <a:extLst xmlns:a="http://schemas.openxmlformats.org/drawingml/2006/main">
              <a:ext uri="{FF2B5EF4-FFF2-40B4-BE49-F238E27FC236}">
                <a16:creationId xmlns:a16="http://schemas.microsoft.com/office/drawing/2014/main" id="{22E6D082-595B-4B92-BB28-7E9EC2191994}"/>
              </a:ext>
            </a:extLst>
          </p:cNvPr>
          <p:cNvSpPr>
            <a:spLocks xmlns:a="http://schemas.openxmlformats.org/drawingml/2006/main" noGrp="1"/>
          </p:cNvSpPr>
          <p:nvPr/>
        </p:nvSpPr>
        <p:spPr>
          <a:xfrm xmlns:a="http://schemas.openxmlformats.org/drawingml/2006/main">
            <a:off x="10134600" y="3638550"/>
            <a:ext cx="1333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63E0C5"/>
                </a:solidFill>
                <a:latin typeface="Helvetica Neue"/>
                <a:ea typeface="Helvetica Neue"/>
                <a:cs typeface="Helvetica Neue"/>
              </a:defRPr>
            </a:pPr>
            <a:r>
              <a:rPr sz="1725" b="1" i="0">
                <a:solidFill>
                  <a:srgbClr val="63E0C5"/>
                </a:solidFill>
                <a:latin typeface="Helvetica Neue"/>
                <a:ea typeface="Helvetica Neue"/>
                <a:cs typeface="Helvetica Neue"/>
              </a:rPr>
              <a:t>₹18,500</a:t>
            </a:r>
          </a:p>
        </p:txBody>
      </p:sp>
      <p:sp>
        <p:nvSpPr>
          <p:cNvPr id="51" name="trace-metric-2-label">
            <a:extLst xmlns:a="http://schemas.openxmlformats.org/drawingml/2006/main">
              <a:ext uri="{FF2B5EF4-FFF2-40B4-BE49-F238E27FC236}">
                <a16:creationId xmlns:a16="http://schemas.microsoft.com/office/drawing/2014/main" id="{FF4268BE-8303-4793-8257-F1DC8D9540E3}"/>
              </a:ext>
            </a:extLst>
          </p:cNvPr>
          <p:cNvSpPr>
            <a:spLocks xmlns:a="http://schemas.openxmlformats.org/drawingml/2006/main" noGrp="1"/>
          </p:cNvSpPr>
          <p:nvPr/>
        </p:nvSpPr>
        <p:spPr>
          <a:xfrm xmlns:a="http://schemas.openxmlformats.org/drawingml/2006/main">
            <a:off x="10134600" y="399097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observed bottleneck</a:t>
            </a:r>
          </a:p>
        </p:txBody>
      </p:sp>
      <p:sp>
        <p:nvSpPr>
          <p:cNvPr id="52" name="trace-metric-rule-2">
            <a:extLst xmlns:a="http://schemas.openxmlformats.org/drawingml/2006/main">
              <a:ext uri="{FF2B5EF4-FFF2-40B4-BE49-F238E27FC236}">
                <a16:creationId xmlns:a16="http://schemas.microsoft.com/office/drawing/2014/main" id="{84B69A3F-22E5-47DF-A8F1-4C7DFA59C230}"/>
              </a:ext>
            </a:extLst>
          </p:cNvPr>
          <p:cNvSpPr>
            <a:spLocks xmlns:a="http://schemas.openxmlformats.org/drawingml/2006/main" noGrp="1"/>
          </p:cNvSpPr>
          <p:nvPr/>
        </p:nvSpPr>
        <p:spPr>
          <a:xfrm xmlns:a="http://schemas.openxmlformats.org/drawingml/2006/main">
            <a:off x="10134600" y="4333875"/>
            <a:ext cx="12954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53" name="trace-metric-3">
            <a:extLst xmlns:a="http://schemas.openxmlformats.org/drawingml/2006/main">
              <a:ext uri="{FF2B5EF4-FFF2-40B4-BE49-F238E27FC236}">
                <a16:creationId xmlns:a16="http://schemas.microsoft.com/office/drawing/2014/main" id="{0FEE2B02-2875-4EA2-A2C7-C0EFC0599479}"/>
              </a:ext>
            </a:extLst>
          </p:cNvPr>
          <p:cNvSpPr>
            <a:spLocks xmlns:a="http://schemas.openxmlformats.org/drawingml/2006/main" noGrp="1"/>
          </p:cNvSpPr>
          <p:nvPr/>
        </p:nvSpPr>
        <p:spPr>
          <a:xfrm xmlns:a="http://schemas.openxmlformats.org/drawingml/2006/main">
            <a:off x="10134600" y="44767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F6F9FF"/>
                </a:solidFill>
                <a:latin typeface="Helvetica Neue"/>
                <a:ea typeface="Helvetica Neue"/>
                <a:cs typeface="Helvetica Neue"/>
              </a:defRPr>
            </a:pPr>
            <a:r>
              <a:rPr sz="1875" b="1" i="0">
                <a:solidFill>
                  <a:srgbClr val="F6F9FF"/>
                </a:solidFill>
                <a:latin typeface="Helvetica Neue"/>
                <a:ea typeface="Helvetica Neue"/>
                <a:cs typeface="Helvetica Neue"/>
              </a:rPr>
              <a:t>0</a:t>
            </a:r>
          </a:p>
        </p:txBody>
      </p:sp>
      <p:sp>
        <p:nvSpPr>
          <p:cNvPr id="54" name="trace-metric-3-label">
            <a:extLst xmlns:a="http://schemas.openxmlformats.org/drawingml/2006/main">
              <a:ext uri="{FF2B5EF4-FFF2-40B4-BE49-F238E27FC236}">
                <a16:creationId xmlns:a16="http://schemas.microsoft.com/office/drawing/2014/main" id="{2E5EF803-23FE-4EC7-A5B6-A6FD5303AE54}"/>
              </a:ext>
            </a:extLst>
          </p:cNvPr>
          <p:cNvSpPr>
            <a:spLocks xmlns:a="http://schemas.openxmlformats.org/drawingml/2006/main" noGrp="1"/>
          </p:cNvSpPr>
          <p:nvPr/>
        </p:nvSpPr>
        <p:spPr>
          <a:xfrm xmlns:a="http://schemas.openxmlformats.org/drawingml/2006/main">
            <a:off x="10572750" y="4543425"/>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cycles in this case</a:t>
            </a:r>
          </a:p>
        </p:txBody>
      </p:sp>
      <p:sp>
        <p:nvSpPr>
          <p:cNvPr id="55" name="trace-footnote">
            <a:extLst xmlns:a="http://schemas.openxmlformats.org/drawingml/2006/main">
              <a:ext uri="{FF2B5EF4-FFF2-40B4-BE49-F238E27FC236}">
                <a16:creationId xmlns:a16="http://schemas.microsoft.com/office/drawing/2014/main" id="{CD6AA90A-773D-4C36-8479-656A0823D8E8}"/>
              </a:ext>
            </a:extLst>
          </p:cNvPr>
          <p:cNvSpPr>
            <a:spLocks xmlns:a="http://schemas.openxmlformats.org/drawingml/2006/main" noGrp="1"/>
          </p:cNvSpPr>
          <p:nvPr/>
        </p:nvSpPr>
        <p:spPr>
          <a:xfrm xmlns:a="http://schemas.openxmlformats.org/drawingml/2006/main">
            <a:off x="742950" y="56578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8EA2BE"/>
                </a:solidFill>
                <a:latin typeface="Helvetica Neue"/>
                <a:ea typeface="Helvetica Neue"/>
                <a:cs typeface="Helvetica Neue"/>
              </a:defRPr>
            </a:pPr>
            <a:r>
              <a:rPr sz="1050" b="1" i="0">
                <a:solidFill>
                  <a:srgbClr val="8EA2BE"/>
                </a:solidFill>
                <a:latin typeface="Helvetica Neue"/>
                <a:ea typeface="Helvetica Neue"/>
                <a:cs typeface="Helvetica Neue"/>
              </a:rPr>
              <a:t>Trace limits: 5 hops / 30-minute total window / 10-minute hop window</a:t>
            </a:r>
          </a:p>
        </p:txBody>
      </p:sp>
      <p:sp>
        <p:nvSpPr>
          <p:cNvPr id="56" name="footer-rule-6">
            <a:extLst xmlns:a="http://schemas.openxmlformats.org/drawingml/2006/main">
              <a:ext uri="{FF2B5EF4-FFF2-40B4-BE49-F238E27FC236}">
                <a16:creationId xmlns:a16="http://schemas.microsoft.com/office/drawing/2014/main" id="{48B6CBA7-2217-4B87-BE24-2529EC3BFE12}"/>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7" name="footer-brand-6">
            <a:extLst xmlns:a="http://schemas.openxmlformats.org/drawingml/2006/main">
              <a:ext uri="{FF2B5EF4-FFF2-40B4-BE49-F238E27FC236}">
                <a16:creationId xmlns:a16="http://schemas.microsoft.com/office/drawing/2014/main" id="{EBC50660-47E0-42E8-8A45-F5B03868F8F9}"/>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58" name="footer-page-6">
            <a:extLst xmlns:a="http://schemas.openxmlformats.org/drawingml/2006/main">
              <a:ext uri="{FF2B5EF4-FFF2-40B4-BE49-F238E27FC236}">
                <a16:creationId xmlns:a16="http://schemas.microsoft.com/office/drawing/2014/main" id="{4A3D9D98-1790-4F7B-9C5B-CFA337F8DFA0}"/>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06 / 09</a:t>
            </a:r>
          </a:p>
        </p:txBody>
      </p:sp>
    </p:spTree>
    <p:extLst>
      <p:ext uri="{BB962C8B-B14F-4D97-AF65-F5344CB8AC3E}">
        <p14:creationId xmlns:p14="http://schemas.microsoft.com/office/powerpoint/2010/main" val="754589630"/>
      </p:ext>
    </p:extLst>
  </p:cSld>
</p:sld>
</file>

<file path=ppt/slides/slide7.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33" name="build-kicker">
            <a:extLst xmlns:a="http://schemas.openxmlformats.org/drawingml/2006/main">
              <a:ext uri="{FF2B5EF4-FFF2-40B4-BE49-F238E27FC236}">
                <a16:creationId xmlns:a16="http://schemas.microsoft.com/office/drawing/2014/main" id="{28ED3FDA-4D4F-41D7-B072-BA8BBD9D5ACE}"/>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BUILD AND READINESS</a:t>
            </a:r>
          </a:p>
        </p:txBody>
      </p:sp>
      <p:sp>
        <p:nvSpPr>
          <p:cNvPr id="2" name="build-title">
            <a:extLst xmlns:a="http://schemas.openxmlformats.org/drawingml/2006/main">
              <a:ext uri="{FF2B5EF4-FFF2-40B4-BE49-F238E27FC236}">
                <a16:creationId xmlns:a16="http://schemas.microsoft.com/office/drawing/2014/main" id="{FA7978C4-D2B0-4856-A8EC-C0549CD9E412}"/>
              </a:ext>
            </a:extLst>
          </p:cNvPr>
          <p:cNvSpPr>
            <a:spLocks xmlns:a="http://schemas.openxmlformats.org/drawingml/2006/main" noGrp="1"/>
          </p:cNvSpPr>
          <p:nvPr/>
        </p:nvSpPr>
        <p:spPr>
          <a:xfrm xmlns:a="http://schemas.openxmlformats.org/drawingml/2006/main">
            <a:off x="609600" y="828675"/>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Built for the hackathon and ready for the next step</a:t>
            </a:r>
          </a:p>
        </p:txBody>
      </p:sp>
      <p:sp>
        <p:nvSpPr>
          <p:cNvPr id="3" name="build-subtitle">
            <a:extLst xmlns:a="http://schemas.openxmlformats.org/drawingml/2006/main">
              <a:ext uri="{FF2B5EF4-FFF2-40B4-BE49-F238E27FC236}">
                <a16:creationId xmlns:a16="http://schemas.microsoft.com/office/drawing/2014/main" id="{0C8C2946-49C6-436B-83E5-02A912D6C00B}"/>
              </a:ext>
            </a:extLst>
          </p:cNvPr>
          <p:cNvSpPr>
            <a:spLocks xmlns:a="http://schemas.openxmlformats.org/drawingml/2006/main" noGrp="1"/>
          </p:cNvSpPr>
          <p:nvPr/>
        </p:nvSpPr>
        <p:spPr>
          <a:xfrm xmlns:a="http://schemas.openxmlformats.org/drawingml/2006/main">
            <a:off x="628650" y="1485900"/>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A focused two-member build keeps the demo reliable while leaving a clear path to private workspaces.</a:t>
            </a:r>
          </a:p>
        </p:txBody>
      </p:sp>
      <p:sp>
        <p:nvSpPr>
          <p:cNvPr id="4" name="build-rule">
            <a:extLst xmlns:a="http://schemas.openxmlformats.org/drawingml/2006/main">
              <a:ext uri="{FF2B5EF4-FFF2-40B4-BE49-F238E27FC236}">
                <a16:creationId xmlns:a16="http://schemas.microsoft.com/office/drawing/2014/main" id="{C473013F-6C93-48D4-9C37-23644C604D3D}"/>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build-working-label">
            <a:extLst xmlns:a="http://schemas.openxmlformats.org/drawingml/2006/main">
              <a:ext uri="{FF2B5EF4-FFF2-40B4-BE49-F238E27FC236}">
                <a16:creationId xmlns:a16="http://schemas.microsoft.com/office/drawing/2014/main" id="{F7950793-8873-40A6-A865-A6C11194DA24}"/>
              </a:ext>
            </a:extLst>
          </p:cNvPr>
          <p:cNvSpPr>
            <a:spLocks xmlns:a="http://schemas.openxmlformats.org/drawingml/2006/main" noGrp="1"/>
          </p:cNvSpPr>
          <p:nvPr/>
        </p:nvSpPr>
        <p:spPr>
          <a:xfrm xmlns:a="http://schemas.openxmlformats.org/drawingml/2006/main">
            <a:off x="609600" y="24003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WORKING TODAY</a:t>
            </a:r>
          </a:p>
        </p:txBody>
      </p:sp>
      <p:sp>
        <p:nvSpPr>
          <p:cNvPr id="6" name="build-stat-1">
            <a:extLst xmlns:a="http://schemas.openxmlformats.org/drawingml/2006/main">
              <a:ext uri="{FF2B5EF4-FFF2-40B4-BE49-F238E27FC236}">
                <a16:creationId xmlns:a16="http://schemas.microsoft.com/office/drawing/2014/main" id="{4B98B562-C41B-40A5-A57D-59574C9E4C92}"/>
              </a:ext>
            </a:extLst>
          </p:cNvPr>
          <p:cNvSpPr>
            <a:spLocks xmlns:a="http://schemas.openxmlformats.org/drawingml/2006/main" noGrp="1"/>
          </p:cNvSpPr>
          <p:nvPr/>
        </p:nvSpPr>
        <p:spPr>
          <a:xfrm xmlns:a="http://schemas.openxmlformats.org/drawingml/2006/main">
            <a:off x="609600" y="27813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F6FE5"/>
                </a:solidFill>
                <a:latin typeface="Helvetica Neue"/>
                <a:ea typeface="Helvetica Neue"/>
                <a:cs typeface="Helvetica Neue"/>
              </a:defRPr>
            </a:pPr>
            <a:r>
              <a:rPr sz="2250" b="1" i="0">
                <a:solidFill>
                  <a:srgbClr val="2F6FE5"/>
                </a:solidFill>
                <a:latin typeface="Helvetica Neue"/>
                <a:ea typeface="Helvetica Neue"/>
                <a:cs typeface="Helvetica Neue"/>
              </a:rPr>
              <a:t>25/25</a:t>
            </a:r>
          </a:p>
        </p:txBody>
      </p:sp>
      <p:sp>
        <p:nvSpPr>
          <p:cNvPr id="7" name="build-stat-heading-1">
            <a:extLst xmlns:a="http://schemas.openxmlformats.org/drawingml/2006/main">
              <a:ext uri="{FF2B5EF4-FFF2-40B4-BE49-F238E27FC236}">
                <a16:creationId xmlns:a16="http://schemas.microsoft.com/office/drawing/2014/main" id="{7BF5A08E-6043-4B4C-BC34-417362ECAF0C}"/>
              </a:ext>
            </a:extLst>
          </p:cNvPr>
          <p:cNvSpPr>
            <a:spLocks xmlns:a="http://schemas.openxmlformats.org/drawingml/2006/main" noGrp="1"/>
          </p:cNvSpPr>
          <p:nvPr/>
        </p:nvSpPr>
        <p:spPr>
          <a:xfrm xmlns:a="http://schemas.openxmlformats.org/drawingml/2006/main">
            <a:off x="1885950" y="28003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accuracy scenarios</a:t>
            </a:r>
          </a:p>
        </p:txBody>
      </p:sp>
      <p:sp>
        <p:nvSpPr>
          <p:cNvPr id="8" name="build-stat-body-1">
            <a:extLst xmlns:a="http://schemas.openxmlformats.org/drawingml/2006/main">
              <a:ext uri="{FF2B5EF4-FFF2-40B4-BE49-F238E27FC236}">
                <a16:creationId xmlns:a16="http://schemas.microsoft.com/office/drawing/2014/main" id="{52F9688B-4B11-4BF3-8285-3C6485A1A503}"/>
              </a:ext>
            </a:extLst>
          </p:cNvPr>
          <p:cNvSpPr>
            <a:spLocks xmlns:a="http://schemas.openxmlformats.org/drawingml/2006/main" noGrp="1"/>
          </p:cNvSpPr>
          <p:nvPr/>
        </p:nvSpPr>
        <p:spPr>
          <a:xfrm xmlns:a="http://schemas.openxmlformats.org/drawingml/2006/main">
            <a:off x="1885950" y="30575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Boundary checks across collection, forwarding, reconvergence, cycles, velocity, cutoff, and depth.</a:t>
            </a:r>
          </a:p>
        </p:txBody>
      </p:sp>
      <p:sp>
        <p:nvSpPr>
          <p:cNvPr id="9" name="build-stat-2">
            <a:extLst xmlns:a="http://schemas.openxmlformats.org/drawingml/2006/main">
              <a:ext uri="{FF2B5EF4-FFF2-40B4-BE49-F238E27FC236}">
                <a16:creationId xmlns:a16="http://schemas.microsoft.com/office/drawing/2014/main" id="{18A1A95D-FFAB-48CC-8DC1-115CCBEF45C7}"/>
              </a:ext>
            </a:extLst>
          </p:cNvPr>
          <p:cNvSpPr>
            <a:spLocks xmlns:a="http://schemas.openxmlformats.org/drawingml/2006/main" noGrp="1"/>
          </p:cNvSpPr>
          <p:nvPr/>
        </p:nvSpPr>
        <p:spPr>
          <a:xfrm xmlns:a="http://schemas.openxmlformats.org/drawingml/2006/main">
            <a:off x="609600" y="36195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F6FE5"/>
                </a:solidFill>
                <a:latin typeface="Helvetica Neue"/>
                <a:ea typeface="Helvetica Neue"/>
                <a:cs typeface="Helvetica Neue"/>
              </a:defRPr>
            </a:pPr>
            <a:r>
              <a:rPr sz="2250" b="1" i="0">
                <a:solidFill>
                  <a:srgbClr val="2F6FE5"/>
                </a:solidFill>
                <a:latin typeface="Helvetica Neue"/>
                <a:ea typeface="Helvetica Neue"/>
                <a:cs typeface="Helvetica Neue"/>
              </a:rPr>
              <a:t>58</a:t>
            </a:r>
          </a:p>
        </p:txBody>
      </p:sp>
      <p:sp>
        <p:nvSpPr>
          <p:cNvPr id="10" name="build-stat-heading-2">
            <a:extLst xmlns:a="http://schemas.openxmlformats.org/drawingml/2006/main">
              <a:ext uri="{FF2B5EF4-FFF2-40B4-BE49-F238E27FC236}">
                <a16:creationId xmlns:a16="http://schemas.microsoft.com/office/drawing/2014/main" id="{84A9BDC5-EBB3-4123-B20F-C6BB40C412CA}"/>
              </a:ext>
            </a:extLst>
          </p:cNvPr>
          <p:cNvSpPr>
            <a:spLocks xmlns:a="http://schemas.openxmlformats.org/drawingml/2006/main" noGrp="1"/>
          </p:cNvSpPr>
          <p:nvPr/>
        </p:nvSpPr>
        <p:spPr>
          <a:xfrm xmlns:a="http://schemas.openxmlformats.org/drawingml/2006/main">
            <a:off x="1885950" y="36385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full tests passing</a:t>
            </a:r>
          </a:p>
        </p:txBody>
      </p:sp>
      <p:sp>
        <p:nvSpPr>
          <p:cNvPr id="11" name="build-stat-body-2">
            <a:extLst xmlns:a="http://schemas.openxmlformats.org/drawingml/2006/main">
              <a:ext uri="{FF2B5EF4-FFF2-40B4-BE49-F238E27FC236}">
                <a16:creationId xmlns:a16="http://schemas.microsoft.com/office/drawing/2014/main" id="{479DB872-9198-41FF-AEE4-4D83B09F01EC}"/>
              </a:ext>
            </a:extLst>
          </p:cNvPr>
          <p:cNvSpPr>
            <a:spLocks xmlns:a="http://schemas.openxmlformats.org/drawingml/2006/main" noGrp="1"/>
          </p:cNvSpPr>
          <p:nvPr/>
        </p:nvSpPr>
        <p:spPr>
          <a:xfrm xmlns:a="http://schemas.openxmlformats.org/drawingml/2006/main">
            <a:off x="1885950" y="38957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Engine, API, replay, validation, export, and intelligence coverage.</a:t>
            </a:r>
          </a:p>
        </p:txBody>
      </p:sp>
      <p:sp>
        <p:nvSpPr>
          <p:cNvPr id="12" name="build-stat-3">
            <a:extLst xmlns:a="http://schemas.openxmlformats.org/drawingml/2006/main">
              <a:ext uri="{FF2B5EF4-FFF2-40B4-BE49-F238E27FC236}">
                <a16:creationId xmlns:a16="http://schemas.microsoft.com/office/drawing/2014/main" id="{880EA1D7-5CB8-4C0A-A015-29AFE0AEC612}"/>
              </a:ext>
            </a:extLst>
          </p:cNvPr>
          <p:cNvSpPr>
            <a:spLocks xmlns:a="http://schemas.openxmlformats.org/drawingml/2006/main" noGrp="1"/>
          </p:cNvSpPr>
          <p:nvPr/>
        </p:nvSpPr>
        <p:spPr>
          <a:xfrm xmlns:a="http://schemas.openxmlformats.org/drawingml/2006/main">
            <a:off x="609600" y="44577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69C77"/>
                </a:solidFill>
                <a:latin typeface="Helvetica Neue"/>
                <a:ea typeface="Helvetica Neue"/>
                <a:cs typeface="Helvetica Neue"/>
              </a:defRPr>
            </a:pPr>
            <a:r>
              <a:rPr sz="2250" b="1" i="0">
                <a:solidFill>
                  <a:srgbClr val="269C77"/>
                </a:solidFill>
                <a:latin typeface="Helvetica Neue"/>
                <a:ea typeface="Helvetica Neue"/>
                <a:cs typeface="Helvetica Neue"/>
              </a:rPr>
              <a:t>0</a:t>
            </a:r>
          </a:p>
        </p:txBody>
      </p:sp>
      <p:sp>
        <p:nvSpPr>
          <p:cNvPr id="13" name="build-stat-heading-3">
            <a:extLst xmlns:a="http://schemas.openxmlformats.org/drawingml/2006/main">
              <a:ext uri="{FF2B5EF4-FFF2-40B4-BE49-F238E27FC236}">
                <a16:creationId xmlns:a16="http://schemas.microsoft.com/office/drawing/2014/main" id="{AF125CA8-83CE-4C0B-9D69-882D04ABD8F2}"/>
              </a:ext>
            </a:extLst>
          </p:cNvPr>
          <p:cNvSpPr>
            <a:spLocks xmlns:a="http://schemas.openxmlformats.org/drawingml/2006/main" noGrp="1"/>
          </p:cNvSpPr>
          <p:nvPr/>
        </p:nvSpPr>
        <p:spPr>
          <a:xfrm xmlns:a="http://schemas.openxmlformats.org/drawingml/2006/main">
            <a:off x="1885950" y="44767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production blockers</a:t>
            </a:r>
          </a:p>
        </p:txBody>
      </p:sp>
      <p:sp>
        <p:nvSpPr>
          <p:cNvPr id="14" name="build-stat-body-3">
            <a:extLst xmlns:a="http://schemas.openxmlformats.org/drawingml/2006/main">
              <a:ext uri="{FF2B5EF4-FFF2-40B4-BE49-F238E27FC236}">
                <a16:creationId xmlns:a16="http://schemas.microsoft.com/office/drawing/2014/main" id="{60547FC8-C7A6-494F-870D-BFC1660E5108}"/>
              </a:ext>
            </a:extLst>
          </p:cNvPr>
          <p:cNvSpPr>
            <a:spLocks xmlns:a="http://schemas.openxmlformats.org/drawingml/2006/main" noGrp="1"/>
          </p:cNvSpPr>
          <p:nvPr/>
        </p:nvSpPr>
        <p:spPr>
          <a:xfrm xmlns:a="http://schemas.openxmlformats.org/drawingml/2006/main">
            <a:off x="1885950" y="47339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Typecheck, lint, and Vite build pass on the current codebase.</a:t>
            </a:r>
          </a:p>
        </p:txBody>
      </p:sp>
      <p:sp>
        <p:nvSpPr>
          <p:cNvPr id="15" name="build-stack-label">
            <a:extLst xmlns:a="http://schemas.openxmlformats.org/drawingml/2006/main">
              <a:ext uri="{FF2B5EF4-FFF2-40B4-BE49-F238E27FC236}">
                <a16:creationId xmlns:a16="http://schemas.microsoft.com/office/drawing/2014/main" id="{E494C8AE-103B-424D-866D-7CB0B3075EB2}"/>
              </a:ext>
            </a:extLst>
          </p:cNvPr>
          <p:cNvSpPr>
            <a:spLocks xmlns:a="http://schemas.openxmlformats.org/drawingml/2006/main" noGrp="1"/>
          </p:cNvSpPr>
          <p:nvPr/>
        </p:nvSpPr>
        <p:spPr>
          <a:xfrm xmlns:a="http://schemas.openxmlformats.org/drawingml/2006/main">
            <a:off x="6591300" y="24003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STACK AND HANDOFF</a:t>
            </a:r>
          </a:p>
        </p:txBody>
      </p:sp>
      <p:sp>
        <p:nvSpPr>
          <p:cNvPr id="16" name="build-stack-box-1">
            <a:extLst xmlns:a="http://schemas.openxmlformats.org/drawingml/2006/main">
              <a:ext uri="{FF2B5EF4-FFF2-40B4-BE49-F238E27FC236}">
                <a16:creationId xmlns:a16="http://schemas.microsoft.com/office/drawing/2014/main" id="{FDD9E513-0143-4492-87C0-BA3CA01D7E7F}"/>
              </a:ext>
            </a:extLst>
          </p:cNvPr>
          <p:cNvSpPr>
            <a:spLocks xmlns:a="http://schemas.openxmlformats.org/drawingml/2006/main" noGrp="1"/>
          </p:cNvSpPr>
          <p:nvPr/>
        </p:nvSpPr>
        <p:spPr>
          <a:xfrm xmlns:a="http://schemas.openxmlformats.org/drawingml/2006/main">
            <a:off x="6591300" y="2781300"/>
            <a:ext cx="4991100" cy="476250"/>
          </a:xfrm>
          <a:prstGeom xmlns:a="http://schemas.openxmlformats.org/drawingml/2006/main" prst="roundRect">
            <a:avLst>
              <a:gd name="adj" fmla="val 20000"/>
            </a:avLst>
          </a:prstGeom>
          <a:solidFill xmlns:a="http://schemas.openxmlformats.org/drawingml/2006/main">
            <a:srgbClr val="EAF2FF"/>
          </a:solidFill>
          <a:ln xmlns:a="http://schemas.openxmlformats.org/drawingml/2006/main" w="9525">
            <a:solidFill>
              <a:srgbClr val="EAF2FF"/>
            </a:solidFill>
            <a:prstDash val="solid"/>
          </a:ln>
        </p:spPr>
      </p:sp>
      <p:sp>
        <p:nvSpPr>
          <p:cNvPr id="17" name="build-stack-heading-1">
            <a:extLst xmlns:a="http://schemas.openxmlformats.org/drawingml/2006/main">
              <a:ext uri="{FF2B5EF4-FFF2-40B4-BE49-F238E27FC236}">
                <a16:creationId xmlns:a16="http://schemas.microsoft.com/office/drawing/2014/main" id="{02022A85-D39C-4002-8CE1-DC74F3F72011}"/>
              </a:ext>
            </a:extLst>
          </p:cNvPr>
          <p:cNvSpPr>
            <a:spLocks xmlns:a="http://schemas.openxmlformats.org/drawingml/2006/main" noGrp="1"/>
          </p:cNvSpPr>
          <p:nvPr/>
        </p:nvSpPr>
        <p:spPr>
          <a:xfrm xmlns:a="http://schemas.openxmlformats.org/drawingml/2006/main">
            <a:off x="6762750" y="286702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Frontend</a:t>
            </a:r>
          </a:p>
        </p:txBody>
      </p:sp>
      <p:sp>
        <p:nvSpPr>
          <p:cNvPr id="18" name="build-stack-body-1">
            <a:extLst xmlns:a="http://schemas.openxmlformats.org/drawingml/2006/main">
              <a:ext uri="{FF2B5EF4-FFF2-40B4-BE49-F238E27FC236}">
                <a16:creationId xmlns:a16="http://schemas.microsoft.com/office/drawing/2014/main" id="{71046447-ACEF-49B0-B7B8-D06B2A77D710}"/>
              </a:ext>
            </a:extLst>
          </p:cNvPr>
          <p:cNvSpPr>
            <a:spLocks xmlns:a="http://schemas.openxmlformats.org/drawingml/2006/main" noGrp="1"/>
          </p:cNvSpPr>
          <p:nvPr/>
        </p:nvSpPr>
        <p:spPr>
          <a:xfrm xmlns:a="http://schemas.openxmlformats.org/drawingml/2006/main">
            <a:off x="7905750" y="286702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React + Vite + TypeScript</a:t>
            </a:r>
          </a:p>
        </p:txBody>
      </p:sp>
      <p:sp>
        <p:nvSpPr>
          <p:cNvPr id="19" name="build-stack-box-2">
            <a:extLst xmlns:a="http://schemas.openxmlformats.org/drawingml/2006/main">
              <a:ext uri="{FF2B5EF4-FFF2-40B4-BE49-F238E27FC236}">
                <a16:creationId xmlns:a16="http://schemas.microsoft.com/office/drawing/2014/main" id="{76B485C0-2C8E-409E-AA80-C930881F72AC}"/>
              </a:ext>
            </a:extLst>
          </p:cNvPr>
          <p:cNvSpPr>
            <a:spLocks xmlns:a="http://schemas.openxmlformats.org/drawingml/2006/main" noGrp="1"/>
          </p:cNvSpPr>
          <p:nvPr/>
        </p:nvSpPr>
        <p:spPr>
          <a:xfrm xmlns:a="http://schemas.openxmlformats.org/drawingml/2006/main">
            <a:off x="6591300" y="3409950"/>
            <a:ext cx="4991100" cy="476250"/>
          </a:xfrm>
          <a:prstGeom xmlns:a="http://schemas.openxmlformats.org/drawingml/2006/main" prst="roundRect">
            <a:avLst>
              <a:gd name="adj" fmla="val 20000"/>
            </a:avLst>
          </a:prstGeom>
          <a:solidFill xmlns:a="http://schemas.openxmlformats.org/drawingml/2006/main">
            <a:srgbClr val="EDF5FF"/>
          </a:solidFill>
          <a:ln xmlns:a="http://schemas.openxmlformats.org/drawingml/2006/main" w="9525">
            <a:solidFill>
              <a:srgbClr val="EDF5FF"/>
            </a:solidFill>
            <a:prstDash val="solid"/>
          </a:ln>
        </p:spPr>
      </p:sp>
      <p:sp>
        <p:nvSpPr>
          <p:cNvPr id="20" name="build-stack-heading-2">
            <a:extLst xmlns:a="http://schemas.openxmlformats.org/drawingml/2006/main">
              <a:ext uri="{FF2B5EF4-FFF2-40B4-BE49-F238E27FC236}">
                <a16:creationId xmlns:a16="http://schemas.microsoft.com/office/drawing/2014/main" id="{49D83483-0B03-47DA-89E7-4BEEFED51412}"/>
              </a:ext>
            </a:extLst>
          </p:cNvPr>
          <p:cNvSpPr>
            <a:spLocks xmlns:a="http://schemas.openxmlformats.org/drawingml/2006/main" noGrp="1"/>
          </p:cNvSpPr>
          <p:nvPr/>
        </p:nvSpPr>
        <p:spPr>
          <a:xfrm xmlns:a="http://schemas.openxmlformats.org/drawingml/2006/main">
            <a:off x="6762750" y="3495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Analysis</a:t>
            </a:r>
          </a:p>
        </p:txBody>
      </p:sp>
      <p:sp>
        <p:nvSpPr>
          <p:cNvPr id="21" name="build-stack-body-2">
            <a:extLst xmlns:a="http://schemas.openxmlformats.org/drawingml/2006/main">
              <a:ext uri="{FF2B5EF4-FFF2-40B4-BE49-F238E27FC236}">
                <a16:creationId xmlns:a16="http://schemas.microsoft.com/office/drawing/2014/main" id="{4BB23353-D39A-4967-9041-8E12A127E48B}"/>
              </a:ext>
            </a:extLst>
          </p:cNvPr>
          <p:cNvSpPr>
            <a:spLocks xmlns:a="http://schemas.openxmlformats.org/drawingml/2006/main" noGrp="1"/>
          </p:cNvSpPr>
          <p:nvPr/>
        </p:nvSpPr>
        <p:spPr>
          <a:xfrm xmlns:a="http://schemas.openxmlformats.org/drawingml/2006/main">
            <a:off x="7905750" y="349567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Vercel Function with local fallback</a:t>
            </a:r>
          </a:p>
        </p:txBody>
      </p:sp>
      <p:sp>
        <p:nvSpPr>
          <p:cNvPr id="22" name="build-stack-box-3">
            <a:extLst xmlns:a="http://schemas.openxmlformats.org/drawingml/2006/main">
              <a:ext uri="{FF2B5EF4-FFF2-40B4-BE49-F238E27FC236}">
                <a16:creationId xmlns:a16="http://schemas.microsoft.com/office/drawing/2014/main" id="{CD53D473-7F4C-4557-9C51-CF3ED3E3D966}"/>
              </a:ext>
            </a:extLst>
          </p:cNvPr>
          <p:cNvSpPr>
            <a:spLocks xmlns:a="http://schemas.openxmlformats.org/drawingml/2006/main" noGrp="1"/>
          </p:cNvSpPr>
          <p:nvPr/>
        </p:nvSpPr>
        <p:spPr>
          <a:xfrm xmlns:a="http://schemas.openxmlformats.org/drawingml/2006/main">
            <a:off x="6591300" y="4038600"/>
            <a:ext cx="4991100" cy="476250"/>
          </a:xfrm>
          <a:prstGeom xmlns:a="http://schemas.openxmlformats.org/drawingml/2006/main" prst="roundRect">
            <a:avLst>
              <a:gd name="adj" fmla="val 20000"/>
            </a:avLst>
          </a:prstGeom>
          <a:solidFill xmlns:a="http://schemas.openxmlformats.org/drawingml/2006/main">
            <a:srgbClr val="E9FBF6"/>
          </a:solidFill>
          <a:ln xmlns:a="http://schemas.openxmlformats.org/drawingml/2006/main" w="9525">
            <a:solidFill>
              <a:srgbClr val="E9FBF6"/>
            </a:solidFill>
            <a:prstDash val="solid"/>
          </a:ln>
        </p:spPr>
      </p:sp>
      <p:sp>
        <p:nvSpPr>
          <p:cNvPr id="23" name="build-stack-heading-3">
            <a:extLst xmlns:a="http://schemas.openxmlformats.org/drawingml/2006/main">
              <a:ext uri="{FF2B5EF4-FFF2-40B4-BE49-F238E27FC236}">
                <a16:creationId xmlns:a16="http://schemas.microsoft.com/office/drawing/2014/main" id="{56610080-9203-4524-BB43-86A81EBA53D2}"/>
              </a:ext>
            </a:extLst>
          </p:cNvPr>
          <p:cNvSpPr>
            <a:spLocks xmlns:a="http://schemas.openxmlformats.org/drawingml/2006/main" noGrp="1"/>
          </p:cNvSpPr>
          <p:nvPr/>
        </p:nvSpPr>
        <p:spPr>
          <a:xfrm xmlns:a="http://schemas.openxmlformats.org/drawingml/2006/main">
            <a:off x="6762750" y="412432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48C73"/>
                </a:solidFill>
                <a:latin typeface="Helvetica Neue"/>
                <a:ea typeface="Helvetica Neue"/>
                <a:cs typeface="Helvetica Neue"/>
              </a:defRPr>
            </a:pPr>
            <a:r>
              <a:rPr sz="975" b="1" i="0">
                <a:solidFill>
                  <a:srgbClr val="248C73"/>
                </a:solidFill>
                <a:latin typeface="Helvetica Neue"/>
                <a:ea typeface="Helvetica Neue"/>
                <a:cs typeface="Helvetica Neue"/>
              </a:rPr>
              <a:t>Persistence</a:t>
            </a:r>
          </a:p>
        </p:txBody>
      </p:sp>
      <p:sp>
        <p:nvSpPr>
          <p:cNvPr id="24" name="build-stack-body-3">
            <a:extLst xmlns:a="http://schemas.openxmlformats.org/drawingml/2006/main">
              <a:ext uri="{FF2B5EF4-FFF2-40B4-BE49-F238E27FC236}">
                <a16:creationId xmlns:a16="http://schemas.microsoft.com/office/drawing/2014/main" id="{01EBF6EA-6097-43A6-A146-81AB2C1B227C}"/>
              </a:ext>
            </a:extLst>
          </p:cNvPr>
          <p:cNvSpPr>
            <a:spLocks xmlns:a="http://schemas.openxmlformats.org/drawingml/2006/main" noGrp="1"/>
          </p:cNvSpPr>
          <p:nvPr/>
        </p:nvSpPr>
        <p:spPr>
          <a:xfrm xmlns:a="http://schemas.openxmlformats.org/drawingml/2006/main">
            <a:off x="7905750" y="412432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Supabase Auth + Postgres RLS</a:t>
            </a:r>
          </a:p>
        </p:txBody>
      </p:sp>
      <p:sp>
        <p:nvSpPr>
          <p:cNvPr id="25" name="build-stack-box-4">
            <a:extLst xmlns:a="http://schemas.openxmlformats.org/drawingml/2006/main">
              <a:ext uri="{FF2B5EF4-FFF2-40B4-BE49-F238E27FC236}">
                <a16:creationId xmlns:a16="http://schemas.microsoft.com/office/drawing/2014/main" id="{90961369-C73F-4975-A55E-74925C8CCF75}"/>
              </a:ext>
            </a:extLst>
          </p:cNvPr>
          <p:cNvSpPr>
            <a:spLocks xmlns:a="http://schemas.openxmlformats.org/drawingml/2006/main" noGrp="1"/>
          </p:cNvSpPr>
          <p:nvPr/>
        </p:nvSpPr>
        <p:spPr>
          <a:xfrm xmlns:a="http://schemas.openxmlformats.org/drawingml/2006/main">
            <a:off x="6591300" y="4667250"/>
            <a:ext cx="4991100" cy="476250"/>
          </a:xfrm>
          <a:prstGeom xmlns:a="http://schemas.openxmlformats.org/drawingml/2006/main" prst="roundRect">
            <a:avLst>
              <a:gd name="adj" fmla="val 20000"/>
            </a:avLst>
          </a:prstGeom>
          <a:solidFill xmlns:a="http://schemas.openxmlformats.org/drawingml/2006/main">
            <a:srgbClr val="FFF0EE"/>
          </a:solidFill>
          <a:ln xmlns:a="http://schemas.openxmlformats.org/drawingml/2006/main" w="9525">
            <a:solidFill>
              <a:srgbClr val="FFF0EE"/>
            </a:solidFill>
            <a:prstDash val="solid"/>
          </a:ln>
        </p:spPr>
      </p:sp>
      <p:sp>
        <p:nvSpPr>
          <p:cNvPr id="26" name="build-stack-heading-4">
            <a:extLst xmlns:a="http://schemas.openxmlformats.org/drawingml/2006/main">
              <a:ext uri="{FF2B5EF4-FFF2-40B4-BE49-F238E27FC236}">
                <a16:creationId xmlns:a16="http://schemas.microsoft.com/office/drawing/2014/main" id="{E5E16E27-197C-4C31-95AD-1146E7A36FD5}"/>
              </a:ext>
            </a:extLst>
          </p:cNvPr>
          <p:cNvSpPr>
            <a:spLocks xmlns:a="http://schemas.openxmlformats.org/drawingml/2006/main" noGrp="1"/>
          </p:cNvSpPr>
          <p:nvPr/>
        </p:nvSpPr>
        <p:spPr>
          <a:xfrm xmlns:a="http://schemas.openxmlformats.org/drawingml/2006/main">
            <a:off x="6762750" y="47529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B84D49"/>
                </a:solidFill>
                <a:latin typeface="Helvetica Neue"/>
                <a:ea typeface="Helvetica Neue"/>
                <a:cs typeface="Helvetica Neue"/>
              </a:defRPr>
            </a:pPr>
            <a:r>
              <a:rPr sz="975" b="1" i="0">
                <a:solidFill>
                  <a:srgbClr val="B84D49"/>
                </a:solidFill>
                <a:latin typeface="Helvetica Neue"/>
                <a:ea typeface="Helvetica Neue"/>
                <a:cs typeface="Helvetica Neue"/>
              </a:rPr>
              <a:t>Verification</a:t>
            </a:r>
          </a:p>
        </p:txBody>
      </p:sp>
      <p:sp>
        <p:nvSpPr>
          <p:cNvPr id="27" name="build-stack-body-4">
            <a:extLst xmlns:a="http://schemas.openxmlformats.org/drawingml/2006/main">
              <a:ext uri="{FF2B5EF4-FFF2-40B4-BE49-F238E27FC236}">
                <a16:creationId xmlns:a16="http://schemas.microsoft.com/office/drawing/2014/main" id="{A2E9AF26-054A-460D-B4CB-2CBBE18A236F}"/>
              </a:ext>
            </a:extLst>
          </p:cNvPr>
          <p:cNvSpPr>
            <a:spLocks xmlns:a="http://schemas.openxmlformats.org/drawingml/2006/main" noGrp="1"/>
          </p:cNvSpPr>
          <p:nvPr/>
        </p:nvSpPr>
        <p:spPr>
          <a:xfrm xmlns:a="http://schemas.openxmlformats.org/drawingml/2006/main">
            <a:off x="7905750" y="475297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Vitest matrix + headed Playwright flow</a:t>
            </a:r>
          </a:p>
        </p:txBody>
      </p:sp>
      <p:sp>
        <p:nvSpPr>
          <p:cNvPr id="28" name="build-bottom-band">
            <a:extLst xmlns:a="http://schemas.openxmlformats.org/drawingml/2006/main">
              <a:ext uri="{FF2B5EF4-FFF2-40B4-BE49-F238E27FC236}">
                <a16:creationId xmlns:a16="http://schemas.microsoft.com/office/drawing/2014/main" id="{4DA5AE63-B77E-4000-AEE2-00D1DDF6A964}"/>
              </a:ext>
            </a:extLst>
          </p:cNvPr>
          <p:cNvSpPr>
            <a:spLocks xmlns:a="http://schemas.openxmlformats.org/drawingml/2006/main" noGrp="1"/>
          </p:cNvSpPr>
          <p:nvPr/>
        </p:nvSpPr>
        <p:spPr>
          <a:xfrm xmlns:a="http://schemas.openxmlformats.org/drawingml/2006/main">
            <a:off x="609600" y="5543550"/>
            <a:ext cx="10972800" cy="495300"/>
          </a:xfrm>
          <a:prstGeom xmlns:a="http://schemas.openxmlformats.org/drawingml/2006/main" prst="roundRect">
            <a:avLst>
              <a:gd name="adj" fmla="val 23077"/>
            </a:avLst>
          </a:prstGeom>
          <a:solidFill xmlns:a="http://schemas.openxmlformats.org/drawingml/2006/main">
            <a:srgbClr val="071429"/>
          </a:solidFill>
          <a:ln xmlns:a="http://schemas.openxmlformats.org/drawingml/2006/main" w="9525">
            <a:solidFill>
              <a:srgbClr val="17345B"/>
            </a:solidFill>
            <a:prstDash val="solid"/>
          </a:ln>
        </p:spPr>
      </p:sp>
      <p:sp>
        <p:nvSpPr>
          <p:cNvPr id="29" name="build-bottom">
            <a:extLst xmlns:a="http://schemas.openxmlformats.org/drawingml/2006/main">
              <a:ext uri="{FF2B5EF4-FFF2-40B4-BE49-F238E27FC236}">
                <a16:creationId xmlns:a16="http://schemas.microsoft.com/office/drawing/2014/main" id="{79993956-A0DC-4B23-B667-0AA181CE72F1}"/>
              </a:ext>
            </a:extLst>
          </p:cNvPr>
          <p:cNvSpPr>
            <a:spLocks xmlns:a="http://schemas.openxmlformats.org/drawingml/2006/main" noGrp="1"/>
          </p:cNvSpPr>
          <p:nvPr/>
        </p:nvSpPr>
        <p:spPr>
          <a:xfrm xmlns:a="http://schemas.openxmlformats.org/drawingml/2006/main">
            <a:off x="838200" y="5695950"/>
            <a:ext cx="1047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F6F9FF"/>
                </a:solidFill>
                <a:latin typeface="Helvetica Neue"/>
                <a:ea typeface="Helvetica Neue"/>
                <a:cs typeface="Helvetica Neue"/>
              </a:defRPr>
            </a:pPr>
            <a:r>
              <a:rPr sz="1125" b="1" i="0">
                <a:solidFill>
                  <a:srgbClr val="F6F9FF"/>
                </a:solidFill>
                <a:latin typeface="Helvetica Neue"/>
                <a:ea typeface="Helvetica Neue"/>
                <a:cs typeface="Helvetica Neue"/>
              </a:rPr>
              <a:t>The next step is configuration, not reinvention: add Supabase values, apply the RLS schema, then deploy to Vercel.</a:t>
            </a:r>
          </a:p>
        </p:txBody>
      </p:sp>
      <p:sp>
        <p:nvSpPr>
          <p:cNvPr id="30" name="footer-rule-7">
            <a:extLst xmlns:a="http://schemas.openxmlformats.org/drawingml/2006/main">
              <a:ext uri="{FF2B5EF4-FFF2-40B4-BE49-F238E27FC236}">
                <a16:creationId xmlns:a16="http://schemas.microsoft.com/office/drawing/2014/main" id="{CA6D3CA0-929A-4BA3-A977-1FF5477C080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1" name="footer-brand-7">
            <a:extLst xmlns:a="http://schemas.openxmlformats.org/drawingml/2006/main">
              <a:ext uri="{FF2B5EF4-FFF2-40B4-BE49-F238E27FC236}">
                <a16:creationId xmlns:a16="http://schemas.microsoft.com/office/drawing/2014/main" id="{70AC689E-0636-4D82-8F8F-A5820F3729B3}"/>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32" name="footer-page-7">
            <a:extLst xmlns:a="http://schemas.openxmlformats.org/drawingml/2006/main">
              <a:ext uri="{FF2B5EF4-FFF2-40B4-BE49-F238E27FC236}">
                <a16:creationId xmlns:a16="http://schemas.microsoft.com/office/drawing/2014/main" id="{9D035A2E-0471-480E-B2F4-0404EB9131D7}"/>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07 / 09</a:t>
            </a:r>
          </a:p>
        </p:txBody>
      </p:sp>
    </p:spTree>
    <p:extLst>
      <p:ext uri="{BB962C8B-B14F-4D97-AF65-F5344CB8AC3E}">
        <p14:creationId xmlns:p14="http://schemas.microsoft.com/office/powerpoint/2010/main" val="752230434"/>
      </p:ext>
    </p:extLst>
  </p:cSld>
</p:sld>
</file>

<file path=ppt/slides/slide8.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1" name="trust-kicker">
            <a:extLst xmlns:a="http://schemas.openxmlformats.org/drawingml/2006/main">
              <a:ext uri="{FF2B5EF4-FFF2-40B4-BE49-F238E27FC236}">
                <a16:creationId xmlns:a16="http://schemas.microsoft.com/office/drawing/2014/main" id="{4A0DED8D-C3E2-44F7-93F6-2C3FAE353161}"/>
              </a:ext>
            </a:extLst>
          </p:cNvPr>
          <p:cNvSpPr>
            <a:spLocks xmlns:a="http://schemas.openxmlformats.org/drawingml/2006/main" noGrp="1"/>
          </p:cNvSpPr>
          <p:nvPr/>
        </p:nvSpPr>
        <p:spPr>
          <a:xfrm xmlns:a="http://schemas.openxmlformats.org/drawingml/2006/main">
            <a:off x="609600" y="5143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RESPONSIBLE USE</a:t>
            </a:r>
          </a:p>
        </p:txBody>
      </p:sp>
      <p:sp>
        <p:nvSpPr>
          <p:cNvPr id="2" name="trust-title">
            <a:extLst xmlns:a="http://schemas.openxmlformats.org/drawingml/2006/main">
              <a:ext uri="{FF2B5EF4-FFF2-40B4-BE49-F238E27FC236}">
                <a16:creationId xmlns:a16="http://schemas.microsoft.com/office/drawing/2014/main" id="{4493CA6A-D138-456B-863D-94D1AD3E3108}"/>
              </a:ext>
            </a:extLst>
          </p:cNvPr>
          <p:cNvSpPr>
            <a:spLocks xmlns:a="http://schemas.openxmlformats.org/drawingml/2006/main" noGrp="1"/>
          </p:cNvSpPr>
          <p:nvPr/>
        </p:nvSpPr>
        <p:spPr>
          <a:xfrm xmlns:a="http://schemas.openxmlformats.org/drawingml/2006/main">
            <a:off x="609600" y="828675"/>
            <a:ext cx="685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Trust is part of the product</a:t>
            </a:r>
          </a:p>
        </p:txBody>
      </p:sp>
      <p:sp>
        <p:nvSpPr>
          <p:cNvPr id="3" name="trust-quote">
            <a:extLst xmlns:a="http://schemas.openxmlformats.org/drawingml/2006/main">
              <a:ext uri="{FF2B5EF4-FFF2-40B4-BE49-F238E27FC236}">
                <a16:creationId xmlns:a16="http://schemas.microsoft.com/office/drawing/2014/main" id="{A4D52DC7-D992-4756-B841-BB16B89C578D}"/>
              </a:ext>
            </a:extLst>
          </p:cNvPr>
          <p:cNvSpPr>
            <a:spLocks xmlns:a="http://schemas.openxmlformats.org/drawingml/2006/main" noGrp="1"/>
          </p:cNvSpPr>
          <p:nvPr/>
        </p:nvSpPr>
        <p:spPr>
          <a:xfrm xmlns:a="http://schemas.openxmlformats.org/drawingml/2006/main">
            <a:off x="609600" y="1866900"/>
            <a:ext cx="561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925" b="1" i="0">
                <a:solidFill>
                  <a:srgbClr val="63E0C5"/>
                </a:solidFill>
                <a:latin typeface="Helvetica Neue"/>
                <a:ea typeface="Helvetica Neue"/>
                <a:cs typeface="Helvetica Neue"/>
              </a:defRPr>
            </a:pPr>
            <a:r>
              <a:rPr sz="2925" b="1" i="0">
                <a:solidFill>
                  <a:srgbClr val="63E0C5"/>
                </a:solidFill>
                <a:latin typeface="Helvetica Neue"/>
                <a:ea typeface="Helvetica Neue"/>
                <a:cs typeface="Helvetica Neue"/>
              </a:rPr>
              <a:t>Signals support human review.</a:t>
            </a:r>
          </a:p>
        </p:txBody>
      </p:sp>
      <p:sp>
        <p:nvSpPr>
          <p:cNvPr id="4" name="trust-copy">
            <a:extLst xmlns:a="http://schemas.openxmlformats.org/drawingml/2006/main">
              <a:ext uri="{FF2B5EF4-FFF2-40B4-BE49-F238E27FC236}">
                <a16:creationId xmlns:a16="http://schemas.microsoft.com/office/drawing/2014/main" id="{B9BE25C0-5082-4711-8446-2405B1B913D3}"/>
              </a:ext>
            </a:extLst>
          </p:cNvPr>
          <p:cNvSpPr>
            <a:spLocks xmlns:a="http://schemas.openxmlformats.org/drawingml/2006/main" noGrp="1"/>
          </p:cNvSpPr>
          <p:nvPr/>
        </p:nvSpPr>
        <p:spPr>
          <a:xfrm xmlns:a="http://schemas.openxmlformats.org/drawingml/2006/main">
            <a:off x="628650" y="2800350"/>
            <a:ext cx="533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lnSpc>
                <a:spcPct val="135000"/>
              </a:lnSpc>
              <a:buNone/>
              <a:defRPr sz="1500" b="0" i="0">
                <a:solidFill>
                  <a:srgbClr val="B3C2D8"/>
                </a:solidFill>
                <a:latin typeface="Helvetica Neue"/>
                <a:ea typeface="Helvetica Neue"/>
                <a:cs typeface="Helvetica Neue"/>
              </a:defRPr>
            </a:pPr>
            <a:r>
              <a:rPr sz="1500" b="0" i="0">
                <a:solidFill>
                  <a:srgbClr val="B3C2D8"/>
                </a:solidFill>
                <a:latin typeface="Helvetica Neue"/>
                <a:ea typeface="Helvetica Neue"/>
                <a:cs typeface="Helvetica Neue"/>
              </a:rPr>
              <a:t>FINTRACE describes the evidence in the supplied records. It does not decide what happened outside the observed data.</a:t>
            </a:r>
          </a:p>
        </p:txBody>
      </p:sp>
      <p:sp>
        <p:nvSpPr>
          <p:cNvPr id="5" name="trust-divider">
            <a:extLst xmlns:a="http://schemas.openxmlformats.org/drawingml/2006/main">
              <a:ext uri="{FF2B5EF4-FFF2-40B4-BE49-F238E27FC236}">
                <a16:creationId xmlns:a16="http://schemas.microsoft.com/office/drawing/2014/main" id="{6E4490E6-5E6C-4B21-92CE-CB2935056B08}"/>
              </a:ext>
            </a:extLst>
          </p:cNvPr>
          <p:cNvSpPr>
            <a:spLocks xmlns:a="http://schemas.openxmlformats.org/drawingml/2006/main" noGrp="1"/>
          </p:cNvSpPr>
          <p:nvPr/>
        </p:nvSpPr>
        <p:spPr>
          <a:xfrm xmlns:a="http://schemas.openxmlformats.org/drawingml/2006/main">
            <a:off x="6591300" y="1790700"/>
            <a:ext cx="9525"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6" name="trust-mark-1">
            <a:extLst xmlns:a="http://schemas.openxmlformats.org/drawingml/2006/main">
              <a:ext uri="{FF2B5EF4-FFF2-40B4-BE49-F238E27FC236}">
                <a16:creationId xmlns:a16="http://schemas.microsoft.com/office/drawing/2014/main" id="{5918D25F-48C4-4BB7-8E10-954E4929583C}"/>
              </a:ext>
            </a:extLst>
          </p:cNvPr>
          <p:cNvSpPr>
            <a:spLocks xmlns:a="http://schemas.openxmlformats.org/drawingml/2006/main" noGrp="1"/>
          </p:cNvSpPr>
          <p:nvPr/>
        </p:nvSpPr>
        <p:spPr>
          <a:xfrm xmlns:a="http://schemas.openxmlformats.org/drawingml/2006/main">
            <a:off x="7105650" y="1905000"/>
            <a:ext cx="95250" cy="533400"/>
          </a:xfrm>
          <a:prstGeom xmlns:a="http://schemas.openxmlformats.org/drawingml/2006/main" prst="roundRect">
            <a:avLst>
              <a:gd name="adj" fmla="val 50000"/>
            </a:avLst>
          </a:prstGeom>
          <a:solidFill xmlns:a="http://schemas.openxmlformats.org/drawingml/2006/main">
            <a:srgbClr val="5D8EFF"/>
          </a:solidFill>
          <a:ln xmlns:a="http://schemas.openxmlformats.org/drawingml/2006/main" w="9525">
            <a:solidFill>
              <a:srgbClr val="5D8EFF"/>
            </a:solidFill>
            <a:prstDash val="solid"/>
          </a:ln>
        </p:spPr>
      </p:sp>
      <p:sp>
        <p:nvSpPr>
          <p:cNvPr id="7" name="trust-heading-1">
            <a:extLst xmlns:a="http://schemas.openxmlformats.org/drawingml/2006/main">
              <a:ext uri="{FF2B5EF4-FFF2-40B4-BE49-F238E27FC236}">
                <a16:creationId xmlns:a16="http://schemas.microsoft.com/office/drawing/2014/main" id="{07EBA5E6-50D9-4D21-8665-EDF29A716BE5}"/>
              </a:ext>
            </a:extLst>
          </p:cNvPr>
          <p:cNvSpPr>
            <a:spLocks xmlns:a="http://schemas.openxmlformats.org/drawingml/2006/main" noGrp="1"/>
          </p:cNvSpPr>
          <p:nvPr/>
        </p:nvSpPr>
        <p:spPr>
          <a:xfrm xmlns:a="http://schemas.openxmlformats.org/drawingml/2006/main">
            <a:off x="7429500" y="18669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Observed records only</a:t>
            </a:r>
          </a:p>
        </p:txBody>
      </p:sp>
      <p:sp>
        <p:nvSpPr>
          <p:cNvPr id="8" name="trust-body-1">
            <a:extLst xmlns:a="http://schemas.openxmlformats.org/drawingml/2006/main">
              <a:ext uri="{FF2B5EF4-FFF2-40B4-BE49-F238E27FC236}">
                <a16:creationId xmlns:a16="http://schemas.microsoft.com/office/drawing/2014/main" id="{DCAC4875-9F77-4D57-80F6-62344FF2790C}"/>
              </a:ext>
            </a:extLst>
          </p:cNvPr>
          <p:cNvSpPr>
            <a:spLocks xmlns:a="http://schemas.openxmlformats.org/drawingml/2006/main" noGrp="1"/>
          </p:cNvSpPr>
          <p:nvPr/>
        </p:nvSpPr>
        <p:spPr>
          <a:xfrm xmlns:a="http://schemas.openxmlformats.org/drawingml/2006/main">
            <a:off x="7429500" y="219075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No balances, beneficial ownership, or off-platform activity.</a:t>
            </a:r>
          </a:p>
        </p:txBody>
      </p:sp>
      <p:sp>
        <p:nvSpPr>
          <p:cNvPr id="9" name="trust-mark-2">
            <a:extLst xmlns:a="http://schemas.openxmlformats.org/drawingml/2006/main">
              <a:ext uri="{FF2B5EF4-FFF2-40B4-BE49-F238E27FC236}">
                <a16:creationId xmlns:a16="http://schemas.microsoft.com/office/drawing/2014/main" id="{95A5C0B3-289D-4364-95ED-541BD43A7ABE}"/>
              </a:ext>
            </a:extLst>
          </p:cNvPr>
          <p:cNvSpPr>
            <a:spLocks xmlns:a="http://schemas.openxmlformats.org/drawingml/2006/main" noGrp="1"/>
          </p:cNvSpPr>
          <p:nvPr/>
        </p:nvSpPr>
        <p:spPr>
          <a:xfrm xmlns:a="http://schemas.openxmlformats.org/drawingml/2006/main">
            <a:off x="7105650" y="3105150"/>
            <a:ext cx="95250" cy="533400"/>
          </a:xfrm>
          <a:prstGeom xmlns:a="http://schemas.openxmlformats.org/drawingml/2006/main" prst="roundRect">
            <a:avLst>
              <a:gd name="adj" fmla="val 50000"/>
            </a:avLst>
          </a:prstGeom>
          <a:solidFill xmlns:a="http://schemas.openxmlformats.org/drawingml/2006/main">
            <a:srgbClr val="63E0C5"/>
          </a:solidFill>
          <a:ln xmlns:a="http://schemas.openxmlformats.org/drawingml/2006/main" w="9525">
            <a:solidFill>
              <a:srgbClr val="63E0C5"/>
            </a:solidFill>
            <a:prstDash val="solid"/>
          </a:ln>
        </p:spPr>
      </p:sp>
      <p:sp>
        <p:nvSpPr>
          <p:cNvPr id="10" name="trust-heading-2">
            <a:extLst xmlns:a="http://schemas.openxmlformats.org/drawingml/2006/main">
              <a:ext uri="{FF2B5EF4-FFF2-40B4-BE49-F238E27FC236}">
                <a16:creationId xmlns:a16="http://schemas.microsoft.com/office/drawing/2014/main" id="{4B2F2165-CBAD-454A-A81A-716285958E16}"/>
              </a:ext>
            </a:extLst>
          </p:cNvPr>
          <p:cNvSpPr>
            <a:spLocks xmlns:a="http://schemas.openxmlformats.org/drawingml/2006/main" noGrp="1"/>
          </p:cNvSpPr>
          <p:nvPr/>
        </p:nvSpPr>
        <p:spPr>
          <a:xfrm xmlns:a="http://schemas.openxmlformats.org/drawingml/2006/main">
            <a:off x="7429500" y="30670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Volume comparison only</a:t>
            </a:r>
          </a:p>
        </p:txBody>
      </p:sp>
      <p:sp>
        <p:nvSpPr>
          <p:cNvPr id="11" name="trust-body-2">
            <a:extLst xmlns:a="http://schemas.openxmlformats.org/drawingml/2006/main">
              <a:ext uri="{FF2B5EF4-FFF2-40B4-BE49-F238E27FC236}">
                <a16:creationId xmlns:a16="http://schemas.microsoft.com/office/drawing/2014/main" id="{DF4C48ED-0455-418A-9D31-84E940D3945E}"/>
              </a:ext>
            </a:extLst>
          </p:cNvPr>
          <p:cNvSpPr>
            <a:spLocks xmlns:a="http://schemas.openxmlformats.org/drawingml/2006/main" noGrp="1"/>
          </p:cNvSpPr>
          <p:nvPr/>
        </p:nvSpPr>
        <p:spPr>
          <a:xfrm xmlns:a="http://schemas.openxmlformats.org/drawingml/2006/main">
            <a:off x="7429500" y="33909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The graph shows observed movement, not an exact stolen-money allocation.</a:t>
            </a:r>
          </a:p>
        </p:txBody>
      </p:sp>
      <p:sp>
        <p:nvSpPr>
          <p:cNvPr id="12" name="trust-mark-3">
            <a:extLst xmlns:a="http://schemas.openxmlformats.org/drawingml/2006/main">
              <a:ext uri="{FF2B5EF4-FFF2-40B4-BE49-F238E27FC236}">
                <a16:creationId xmlns:a16="http://schemas.microsoft.com/office/drawing/2014/main" id="{AF3B12A7-8F94-448A-8FA0-BA0A9E5F77EB}"/>
              </a:ext>
            </a:extLst>
          </p:cNvPr>
          <p:cNvSpPr>
            <a:spLocks xmlns:a="http://schemas.openxmlformats.org/drawingml/2006/main" noGrp="1"/>
          </p:cNvSpPr>
          <p:nvPr/>
        </p:nvSpPr>
        <p:spPr>
          <a:xfrm xmlns:a="http://schemas.openxmlformats.org/drawingml/2006/main">
            <a:off x="7105650" y="4305300"/>
            <a:ext cx="95250" cy="533400"/>
          </a:xfrm>
          <a:prstGeom xmlns:a="http://schemas.openxmlformats.org/drawingml/2006/main" prst="roundRect">
            <a:avLst>
              <a:gd name="adj" fmla="val 50000"/>
            </a:avLst>
          </a:prstGeom>
          <a:solidFill xmlns:a="http://schemas.openxmlformats.org/drawingml/2006/main">
            <a:srgbClr val="F2756C"/>
          </a:solidFill>
          <a:ln xmlns:a="http://schemas.openxmlformats.org/drawingml/2006/main" w="9525">
            <a:solidFill>
              <a:srgbClr val="F2756C"/>
            </a:solidFill>
            <a:prstDash val="solid"/>
          </a:ln>
        </p:spPr>
      </p:sp>
      <p:sp>
        <p:nvSpPr>
          <p:cNvPr id="13" name="trust-heading-3">
            <a:extLst xmlns:a="http://schemas.openxmlformats.org/drawingml/2006/main">
              <a:ext uri="{FF2B5EF4-FFF2-40B4-BE49-F238E27FC236}">
                <a16:creationId xmlns:a16="http://schemas.microsoft.com/office/drawing/2014/main" id="{3AEDDCEF-405F-45B7-A2C6-AC4EB7BDEA9C}"/>
              </a:ext>
            </a:extLst>
          </p:cNvPr>
          <p:cNvSpPr>
            <a:spLocks xmlns:a="http://schemas.openxmlformats.org/drawingml/2006/main" noGrp="1"/>
          </p:cNvSpPr>
          <p:nvPr/>
        </p:nvSpPr>
        <p:spPr>
          <a:xfrm xmlns:a="http://schemas.openxmlformats.org/drawingml/2006/main">
            <a:off x="7429500" y="42672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Synthetic demo evidence</a:t>
            </a:r>
          </a:p>
        </p:txBody>
      </p:sp>
      <p:sp>
        <p:nvSpPr>
          <p:cNvPr id="14" name="trust-body-3">
            <a:extLst xmlns:a="http://schemas.openxmlformats.org/drawingml/2006/main">
              <a:ext uri="{FF2B5EF4-FFF2-40B4-BE49-F238E27FC236}">
                <a16:creationId xmlns:a16="http://schemas.microsoft.com/office/drawing/2014/main" id="{255E1A8B-126A-4877-9560-63B37E0DBE9B}"/>
              </a:ext>
            </a:extLst>
          </p:cNvPr>
          <p:cNvSpPr>
            <a:spLocks xmlns:a="http://schemas.openxmlformats.org/drawingml/2006/main" noGrp="1"/>
          </p:cNvSpPr>
          <p:nvPr/>
        </p:nvSpPr>
        <p:spPr>
          <a:xfrm xmlns:a="http://schemas.openxmlformats.org/drawingml/2006/main">
            <a:off x="7429500" y="459105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A passing matrix proves the rules behave as designed, not production accuracy.</a:t>
            </a:r>
          </a:p>
        </p:txBody>
      </p:sp>
      <p:sp>
        <p:nvSpPr>
          <p:cNvPr id="15" name="trust-bottom">
            <a:extLst xmlns:a="http://schemas.openxmlformats.org/drawingml/2006/main">
              <a:ext uri="{FF2B5EF4-FFF2-40B4-BE49-F238E27FC236}">
                <a16:creationId xmlns:a16="http://schemas.microsoft.com/office/drawing/2014/main" id="{813EFF96-D68A-4ED6-BBA6-210B14A161A1}"/>
              </a:ext>
            </a:extLst>
          </p:cNvPr>
          <p:cNvSpPr>
            <a:spLocks xmlns:a="http://schemas.openxmlformats.org/drawingml/2006/main" noGrp="1"/>
          </p:cNvSpPr>
          <p:nvPr/>
        </p:nvSpPr>
        <p:spPr>
          <a:xfrm xmlns:a="http://schemas.openxmlformats.org/drawingml/2006/main">
            <a:off x="609600" y="5162550"/>
            <a:ext cx="10972800" cy="666750"/>
          </a:xfrm>
          <a:prstGeom xmlns:a="http://schemas.openxmlformats.org/drawingml/2006/main" prst="roundRect">
            <a:avLst>
              <a:gd name="adj" fmla="val 22857"/>
            </a:avLst>
          </a:prstGeom>
          <a:solidFill xmlns:a="http://schemas.openxmlformats.org/drawingml/2006/main">
            <a:srgbClr val="102746"/>
          </a:solidFill>
          <a:ln xmlns:a="http://schemas.openxmlformats.org/drawingml/2006/main" w="9525">
            <a:solidFill>
              <a:srgbClr val="244B77"/>
            </a:solidFill>
            <a:prstDash val="solid"/>
          </a:ln>
        </p:spPr>
      </p:sp>
      <p:sp>
        <p:nvSpPr>
          <p:cNvPr id="16" name="trust-bottom-title">
            <a:extLst xmlns:a="http://schemas.openxmlformats.org/drawingml/2006/main">
              <a:ext uri="{FF2B5EF4-FFF2-40B4-BE49-F238E27FC236}">
                <a16:creationId xmlns:a16="http://schemas.microsoft.com/office/drawing/2014/main" id="{4859BEB8-4C04-4781-9106-8F504D1BF27F}"/>
              </a:ext>
            </a:extLst>
          </p:cNvPr>
          <p:cNvSpPr>
            <a:spLocks xmlns:a="http://schemas.openxmlformats.org/drawingml/2006/main" noGrp="1"/>
          </p:cNvSpPr>
          <p:nvPr/>
        </p:nvSpPr>
        <p:spPr>
          <a:xfrm xmlns:a="http://schemas.openxmlformats.org/drawingml/2006/main">
            <a:off x="838200" y="53340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The analyst stays in control.</a:t>
            </a:r>
          </a:p>
        </p:txBody>
      </p:sp>
      <p:sp>
        <p:nvSpPr>
          <p:cNvPr id="17" name="trust-bottom-copy">
            <a:extLst xmlns:a="http://schemas.openxmlformats.org/drawingml/2006/main">
              <a:ext uri="{FF2B5EF4-FFF2-40B4-BE49-F238E27FC236}">
                <a16:creationId xmlns:a16="http://schemas.microsoft.com/office/drawing/2014/main" id="{8E607C08-1C78-45D1-8394-62211537CAFF}"/>
              </a:ext>
            </a:extLst>
          </p:cNvPr>
          <p:cNvSpPr>
            <a:spLocks xmlns:a="http://schemas.openxmlformats.org/drawingml/2006/main" noGrp="1"/>
          </p:cNvSpPr>
          <p:nvPr/>
        </p:nvSpPr>
        <p:spPr>
          <a:xfrm xmlns:a="http://schemas.openxmlformats.org/drawingml/2006/main">
            <a:off x="4057650" y="5314950"/>
            <a:ext cx="714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403"/>
          </a:bodyPr>
          <a:lstStyle xmlns:a="http://schemas.openxmlformats.org/drawingml/2006/main"/>
          <a:p xmlns:a="http://schemas.openxmlformats.org/drawingml/2006/main">
            <a:pPr algn="l">
              <a:lnSpc>
                <a:spcPct val="120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The product makes the trail easier to inspect, the limits easier to explain, and the next review step easier to defend.</a:t>
            </a:r>
          </a:p>
        </p:txBody>
      </p:sp>
      <p:sp>
        <p:nvSpPr>
          <p:cNvPr id="18" name="footer-rule-8">
            <a:extLst xmlns:a="http://schemas.openxmlformats.org/drawingml/2006/main">
              <a:ext uri="{FF2B5EF4-FFF2-40B4-BE49-F238E27FC236}">
                <a16:creationId xmlns:a16="http://schemas.microsoft.com/office/drawing/2014/main" id="{B22F624F-88C7-40EC-9990-4CDD36AF20BB}"/>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9" name="footer-brand-8">
            <a:extLst xmlns:a="http://schemas.openxmlformats.org/drawingml/2006/main">
              <a:ext uri="{FF2B5EF4-FFF2-40B4-BE49-F238E27FC236}">
                <a16:creationId xmlns:a16="http://schemas.microsoft.com/office/drawing/2014/main" id="{ECE7417C-20E1-4484-867E-C7736A133B68}"/>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20" name="footer-page-8">
            <a:extLst xmlns:a="http://schemas.openxmlformats.org/drawingml/2006/main">
              <a:ext uri="{FF2B5EF4-FFF2-40B4-BE49-F238E27FC236}">
                <a16:creationId xmlns:a16="http://schemas.microsoft.com/office/drawing/2014/main" id="{B996D489-D2E3-4F34-8116-5892E5973083}"/>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08 / 09</a:t>
            </a:r>
          </a:p>
        </p:txBody>
      </p:sp>
    </p:spTree>
    <p:extLst>
      <p:ext uri="{BB962C8B-B14F-4D97-AF65-F5344CB8AC3E}">
        <p14:creationId xmlns:p14="http://schemas.microsoft.com/office/powerpoint/2010/main" val="1952965351"/>
      </p:ext>
    </p:extLst>
  </p:cSld>
</p:sld>
</file>

<file path=ppt/slides/slide9.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0" name="close-accent">
            <a:extLst xmlns:a="http://schemas.openxmlformats.org/drawingml/2006/main">
              <a:ext uri="{FF2B5EF4-FFF2-40B4-BE49-F238E27FC236}">
                <a16:creationId xmlns:a16="http://schemas.microsoft.com/office/drawing/2014/main" id="{54F98750-C963-476D-94B4-0DACD3D467CD}"/>
              </a:ext>
            </a:extLst>
          </p:cNvPr>
          <p:cNvSpPr>
            <a:spLocks xmlns:a="http://schemas.openxmlformats.org/drawingml/2006/main" noGrp="1"/>
          </p:cNvSpPr>
          <p:nvPr/>
        </p:nvSpPr>
        <p:spPr>
          <a:xfrm xmlns:a="http://schemas.openxmlformats.org/drawingml/2006/main">
            <a:off x="609600" y="762000"/>
            <a:ext cx="95250" cy="4572000"/>
          </a:xfrm>
          <a:prstGeom xmlns:a="http://schemas.openxmlformats.org/drawingml/2006/main" prst="roundRect">
            <a:avLst>
              <a:gd name="adj" fmla="val 50000"/>
            </a:avLst>
          </a:prstGeom>
          <a:solidFill xmlns:a="http://schemas.openxmlformats.org/drawingml/2006/main">
            <a:srgbClr val="2F6FE5"/>
          </a:solidFill>
          <a:ln xmlns:a="http://schemas.openxmlformats.org/drawingml/2006/main" w="9525">
            <a:solidFill>
              <a:srgbClr val="2F6FE5"/>
            </a:solidFill>
            <a:prstDash val="solid"/>
          </a:ln>
        </p:spPr>
      </p:sp>
      <p:sp>
        <p:nvSpPr>
          <p:cNvPr id="2" name="close-kicker">
            <a:extLst xmlns:a="http://schemas.openxmlformats.org/drawingml/2006/main">
              <a:ext uri="{FF2B5EF4-FFF2-40B4-BE49-F238E27FC236}">
                <a16:creationId xmlns:a16="http://schemas.microsoft.com/office/drawing/2014/main" id="{4A60B2BA-F0B3-4C52-9C03-2E4911B0BDF6}"/>
              </a:ext>
            </a:extLst>
          </p:cNvPr>
          <p:cNvSpPr>
            <a:spLocks xmlns:a="http://schemas.openxmlformats.org/drawingml/2006/main" noGrp="1"/>
          </p:cNvSpPr>
          <p:nvPr/>
        </p:nvSpPr>
        <p:spPr>
          <a:xfrm xmlns:a="http://schemas.openxmlformats.org/drawingml/2006/main">
            <a:off x="1066800" y="7810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FINTRACE</a:t>
            </a:r>
          </a:p>
        </p:txBody>
      </p:sp>
      <p:sp>
        <p:nvSpPr>
          <p:cNvPr id="3" name="close-title">
            <a:extLst xmlns:a="http://schemas.openxmlformats.org/drawingml/2006/main">
              <a:ext uri="{FF2B5EF4-FFF2-40B4-BE49-F238E27FC236}">
                <a16:creationId xmlns:a16="http://schemas.microsoft.com/office/drawing/2014/main" id="{25523903-F1A4-4C3B-8C01-7A6BFE04E391}"/>
              </a:ext>
            </a:extLst>
          </p:cNvPr>
          <p:cNvSpPr>
            <a:spLocks xmlns:a="http://schemas.openxmlformats.org/drawingml/2006/main" noGrp="1"/>
          </p:cNvSpPr>
          <p:nvPr/>
        </p:nvSpPr>
        <p:spPr>
          <a:xfrm xmlns:a="http://schemas.openxmlformats.org/drawingml/2006/main">
            <a:off x="1066800" y="13525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900" b="1" i="0">
                <a:solidFill>
                  <a:srgbClr val="F6F9FF"/>
                </a:solidFill>
                <a:latin typeface="Helvetica Neue"/>
                <a:ea typeface="Helvetica Neue"/>
                <a:cs typeface="Helvetica Neue"/>
              </a:defRPr>
            </a:pPr>
            <a:r>
              <a:rPr sz="3900" b="1" i="0">
                <a:solidFill>
                  <a:srgbClr val="F6F9FF"/>
                </a:solidFill>
                <a:latin typeface="Helvetica Neue"/>
                <a:ea typeface="Helvetica Neue"/>
                <a:cs typeface="Helvetica Neue"/>
              </a:rPr>
              <a:t>A clearer story behind every flag</a:t>
            </a:r>
          </a:p>
        </p:txBody>
      </p:sp>
      <p:sp>
        <p:nvSpPr>
          <p:cNvPr id="4" name="close-subtitle">
            <a:extLst xmlns:a="http://schemas.openxmlformats.org/drawingml/2006/main">
              <a:ext uri="{FF2B5EF4-FFF2-40B4-BE49-F238E27FC236}">
                <a16:creationId xmlns:a16="http://schemas.microsoft.com/office/drawing/2014/main" id="{7381411C-FAB4-4C8E-B473-D207E09C4DEC}"/>
              </a:ext>
            </a:extLst>
          </p:cNvPr>
          <p:cNvSpPr>
            <a:spLocks xmlns:a="http://schemas.openxmlformats.org/drawingml/2006/main" noGrp="1"/>
          </p:cNvSpPr>
          <p:nvPr/>
        </p:nvSpPr>
        <p:spPr>
          <a:xfrm xmlns:a="http://schemas.openxmlformats.org/drawingml/2006/main">
            <a:off x="1085850" y="232410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63E0C5"/>
                </a:solidFill>
                <a:latin typeface="Helvetica Neue"/>
                <a:ea typeface="Helvetica Neue"/>
                <a:cs typeface="Helvetica Neue"/>
              </a:defRPr>
            </a:pPr>
            <a:r>
              <a:rPr sz="2100" b="1" i="0">
                <a:solidFill>
                  <a:srgbClr val="63E0C5"/>
                </a:solidFill>
                <a:latin typeface="Helvetica Neue"/>
                <a:ea typeface="Helvetica Neue"/>
                <a:cs typeface="Helvetica Neue"/>
              </a:rPr>
              <a:t>Follow the money. Explain the risk.</a:t>
            </a:r>
          </a:p>
        </p:txBody>
      </p:sp>
      <p:sp>
        <p:nvSpPr>
          <p:cNvPr id="5" name="close-demo-label">
            <a:extLst xmlns:a="http://schemas.openxmlformats.org/drawingml/2006/main">
              <a:ext uri="{FF2B5EF4-FFF2-40B4-BE49-F238E27FC236}">
                <a16:creationId xmlns:a16="http://schemas.microsoft.com/office/drawing/2014/main" id="{7487007D-FB68-40A8-9A23-AAC038A78031}"/>
              </a:ext>
            </a:extLst>
          </p:cNvPr>
          <p:cNvSpPr>
            <a:spLocks xmlns:a="http://schemas.openxmlformats.org/drawingml/2006/main" noGrp="1"/>
          </p:cNvSpPr>
          <p:nvPr/>
        </p:nvSpPr>
        <p:spPr>
          <a:xfrm xmlns:a="http://schemas.openxmlformats.org/drawingml/2006/main">
            <a:off x="1085850" y="347662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5D8EFF"/>
                </a:solidFill>
                <a:latin typeface="Helvetica Neue"/>
                <a:ea typeface="Helvetica Neue"/>
                <a:cs typeface="Helvetica Neue"/>
              </a:defRPr>
            </a:pPr>
            <a:r>
              <a:rPr sz="825" b="1" i="0">
                <a:solidFill>
                  <a:srgbClr val="5D8EFF"/>
                </a:solidFill>
                <a:latin typeface="Helvetica Neue"/>
                <a:ea typeface="Helvetica Neue"/>
                <a:cs typeface="Helvetica Neue"/>
              </a:rPr>
              <a:t>LIVE DEMO PATH</a:t>
            </a:r>
          </a:p>
        </p:txBody>
      </p:sp>
      <p:sp>
        <p:nvSpPr>
          <p:cNvPr id="6" name="close-step-num-1">
            <a:extLst xmlns:a="http://schemas.openxmlformats.org/drawingml/2006/main">
              <a:ext uri="{FF2B5EF4-FFF2-40B4-BE49-F238E27FC236}">
                <a16:creationId xmlns:a16="http://schemas.microsoft.com/office/drawing/2014/main" id="{F1CF16DA-C6FE-4C62-8A8B-E7643E044E91}"/>
              </a:ext>
            </a:extLst>
          </p:cNvPr>
          <p:cNvSpPr>
            <a:spLocks xmlns:a="http://schemas.openxmlformats.org/drawingml/2006/main" noGrp="1"/>
          </p:cNvSpPr>
          <p:nvPr/>
        </p:nvSpPr>
        <p:spPr>
          <a:xfrm xmlns:a="http://schemas.openxmlformats.org/drawingml/2006/main">
            <a:off x="108585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01</a:t>
            </a:r>
          </a:p>
        </p:txBody>
      </p:sp>
      <p:sp>
        <p:nvSpPr>
          <p:cNvPr id="7" name="close-step-text-1">
            <a:extLst xmlns:a="http://schemas.openxmlformats.org/drawingml/2006/main">
              <a:ext uri="{FF2B5EF4-FFF2-40B4-BE49-F238E27FC236}">
                <a16:creationId xmlns:a16="http://schemas.microsoft.com/office/drawing/2014/main" id="{1C32B72E-A1B3-4468-B7B5-394C17A528F7}"/>
              </a:ext>
            </a:extLst>
          </p:cNvPr>
          <p:cNvSpPr>
            <a:spLocks xmlns:a="http://schemas.openxmlformats.org/drawingml/2006/main" noGrp="1"/>
          </p:cNvSpPr>
          <p:nvPr/>
        </p:nvSpPr>
        <p:spPr>
          <a:xfrm xmlns:a="http://schemas.openxmlformats.org/drawingml/2006/main">
            <a:off x="150495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Load Split and reconverge</a:t>
            </a:r>
          </a:p>
        </p:txBody>
      </p:sp>
      <p:sp>
        <p:nvSpPr>
          <p:cNvPr id="8" name="close-step-rule-1">
            <a:extLst xmlns:a="http://schemas.openxmlformats.org/drawingml/2006/main">
              <a:ext uri="{FF2B5EF4-FFF2-40B4-BE49-F238E27FC236}">
                <a16:creationId xmlns:a16="http://schemas.microsoft.com/office/drawing/2014/main" id="{F95DD3B5-EC4A-41E5-88DB-88AD0F9672E8}"/>
              </a:ext>
            </a:extLst>
          </p:cNvPr>
          <p:cNvSpPr>
            <a:spLocks xmlns:a="http://schemas.openxmlformats.org/drawingml/2006/main" noGrp="1"/>
          </p:cNvSpPr>
          <p:nvPr/>
        </p:nvSpPr>
        <p:spPr>
          <a:xfrm xmlns:a="http://schemas.openxmlformats.org/drawingml/2006/main">
            <a:off x="3352800" y="3952875"/>
            <a:ext cx="266700" cy="0"/>
          </a:xfrm>
          <a:prstGeom xmlns:a="http://schemas.openxmlformats.org/drawingml/2006/main" prst="line">
            <a:avLst/>
          </a:prstGeom>
          <a:noFill xmlns:a="http://schemas.openxmlformats.org/drawingml/2006/main"/>
          <a:ln xmlns:a="http://schemas.openxmlformats.org/drawingml/2006/main" w="19050">
            <a:solidFill>
              <a:srgbClr val="31537D"/>
            </a:solidFill>
            <a:prstDash val="solid"/>
          </a:ln>
        </p:spPr>
      </p:sp>
      <p:sp>
        <p:nvSpPr>
          <p:cNvPr id="9" name="close-step-num-2">
            <a:extLst xmlns:a="http://schemas.openxmlformats.org/drawingml/2006/main">
              <a:ext uri="{FF2B5EF4-FFF2-40B4-BE49-F238E27FC236}">
                <a16:creationId xmlns:a16="http://schemas.microsoft.com/office/drawing/2014/main" id="{2DB1D2DA-CE81-4D46-AEBA-C1CB4B4A4B49}"/>
              </a:ext>
            </a:extLst>
          </p:cNvPr>
          <p:cNvSpPr>
            <a:spLocks xmlns:a="http://schemas.openxmlformats.org/drawingml/2006/main" noGrp="1"/>
          </p:cNvSpPr>
          <p:nvPr/>
        </p:nvSpPr>
        <p:spPr>
          <a:xfrm xmlns:a="http://schemas.openxmlformats.org/drawingml/2006/main">
            <a:off x="373380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02</a:t>
            </a:r>
          </a:p>
        </p:txBody>
      </p:sp>
      <p:sp>
        <p:nvSpPr>
          <p:cNvPr id="10" name="close-step-text-2">
            <a:extLst xmlns:a="http://schemas.openxmlformats.org/drawingml/2006/main">
              <a:ext uri="{FF2B5EF4-FFF2-40B4-BE49-F238E27FC236}">
                <a16:creationId xmlns:a16="http://schemas.microsoft.com/office/drawing/2014/main" id="{B9CAF990-A134-4CC4-AAA0-0F8B26F6FE3D}"/>
              </a:ext>
            </a:extLst>
          </p:cNvPr>
          <p:cNvSpPr>
            <a:spLocks xmlns:a="http://schemas.openxmlformats.org/drawingml/2006/main" noGrp="1"/>
          </p:cNvSpPr>
          <p:nvPr/>
        </p:nvSpPr>
        <p:spPr>
          <a:xfrm xmlns:a="http://schemas.openxmlformats.org/drawingml/2006/main">
            <a:off x="415290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Inspect focal account A101</a:t>
            </a:r>
          </a:p>
        </p:txBody>
      </p:sp>
      <p:sp>
        <p:nvSpPr>
          <p:cNvPr id="11" name="close-step-rule-2">
            <a:extLst xmlns:a="http://schemas.openxmlformats.org/drawingml/2006/main">
              <a:ext uri="{FF2B5EF4-FFF2-40B4-BE49-F238E27FC236}">
                <a16:creationId xmlns:a16="http://schemas.microsoft.com/office/drawing/2014/main" id="{964DD3AE-9263-417F-A0F7-263990DE6F83}"/>
              </a:ext>
            </a:extLst>
          </p:cNvPr>
          <p:cNvSpPr>
            <a:spLocks xmlns:a="http://schemas.openxmlformats.org/drawingml/2006/main" noGrp="1"/>
          </p:cNvSpPr>
          <p:nvPr/>
        </p:nvSpPr>
        <p:spPr>
          <a:xfrm xmlns:a="http://schemas.openxmlformats.org/drawingml/2006/main">
            <a:off x="6000750" y="3952875"/>
            <a:ext cx="266700" cy="0"/>
          </a:xfrm>
          <a:prstGeom xmlns:a="http://schemas.openxmlformats.org/drawingml/2006/main" prst="line">
            <a:avLst/>
          </a:prstGeom>
          <a:noFill xmlns:a="http://schemas.openxmlformats.org/drawingml/2006/main"/>
          <a:ln xmlns:a="http://schemas.openxmlformats.org/drawingml/2006/main" w="19050">
            <a:solidFill>
              <a:srgbClr val="31537D"/>
            </a:solidFill>
            <a:prstDash val="solid"/>
          </a:ln>
        </p:spPr>
      </p:sp>
      <p:sp>
        <p:nvSpPr>
          <p:cNvPr id="12" name="close-step-num-3">
            <a:extLst xmlns:a="http://schemas.openxmlformats.org/drawingml/2006/main">
              <a:ext uri="{FF2B5EF4-FFF2-40B4-BE49-F238E27FC236}">
                <a16:creationId xmlns:a16="http://schemas.microsoft.com/office/drawing/2014/main" id="{66CF49D7-89E5-47D6-A912-2304B6516FC9}"/>
              </a:ext>
            </a:extLst>
          </p:cNvPr>
          <p:cNvSpPr>
            <a:spLocks xmlns:a="http://schemas.openxmlformats.org/drawingml/2006/main" noGrp="1"/>
          </p:cNvSpPr>
          <p:nvPr/>
        </p:nvSpPr>
        <p:spPr>
          <a:xfrm xmlns:a="http://schemas.openxmlformats.org/drawingml/2006/main">
            <a:off x="638175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03</a:t>
            </a:r>
          </a:p>
        </p:txBody>
      </p:sp>
      <p:sp>
        <p:nvSpPr>
          <p:cNvPr id="13" name="close-step-text-3">
            <a:extLst xmlns:a="http://schemas.openxmlformats.org/drawingml/2006/main">
              <a:ext uri="{FF2B5EF4-FFF2-40B4-BE49-F238E27FC236}">
                <a16:creationId xmlns:a16="http://schemas.microsoft.com/office/drawing/2014/main" id="{488A13A0-ADA1-49F4-AAD7-D7B57508EECF}"/>
              </a:ext>
            </a:extLst>
          </p:cNvPr>
          <p:cNvSpPr>
            <a:spLocks xmlns:a="http://schemas.openxmlformats.org/drawingml/2006/main" noGrp="1"/>
          </p:cNvSpPr>
          <p:nvPr/>
        </p:nvSpPr>
        <p:spPr>
          <a:xfrm xmlns:a="http://schemas.openxmlformats.org/drawingml/2006/main">
            <a:off x="680085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Advance to 10:06:30 IST</a:t>
            </a:r>
          </a:p>
        </p:txBody>
      </p:sp>
      <p:sp>
        <p:nvSpPr>
          <p:cNvPr id="14" name="close-rule">
            <a:extLst xmlns:a="http://schemas.openxmlformats.org/drawingml/2006/main">
              <a:ext uri="{FF2B5EF4-FFF2-40B4-BE49-F238E27FC236}">
                <a16:creationId xmlns:a16="http://schemas.microsoft.com/office/drawing/2014/main" id="{B3B2646B-3A94-42E9-B70F-2E48C1C65207}"/>
              </a:ext>
            </a:extLst>
          </p:cNvPr>
          <p:cNvSpPr>
            <a:spLocks xmlns:a="http://schemas.openxmlformats.org/drawingml/2006/main" noGrp="1"/>
          </p:cNvSpPr>
          <p:nvPr/>
        </p:nvSpPr>
        <p:spPr>
          <a:xfrm xmlns:a="http://schemas.openxmlformats.org/drawingml/2006/main">
            <a:off x="1085850" y="4905375"/>
            <a:ext cx="7239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5" name="close-footer">
            <a:extLst xmlns:a="http://schemas.openxmlformats.org/drawingml/2006/main">
              <a:ext uri="{FF2B5EF4-FFF2-40B4-BE49-F238E27FC236}">
                <a16:creationId xmlns:a16="http://schemas.microsoft.com/office/drawing/2014/main" id="{EFEC75B8-6C3E-4586-AF3C-2D81393A89F7}"/>
              </a:ext>
            </a:extLst>
          </p:cNvPr>
          <p:cNvSpPr>
            <a:spLocks xmlns:a="http://schemas.openxmlformats.org/drawingml/2006/main" noGrp="1"/>
          </p:cNvSpPr>
          <p:nvPr/>
        </p:nvSpPr>
        <p:spPr>
          <a:xfrm xmlns:a="http://schemas.openxmlformats.org/drawingml/2006/main">
            <a:off x="1085850" y="5172075"/>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8EA2BE"/>
                </a:solidFill>
                <a:latin typeface="Helvetica Neue"/>
                <a:ea typeface="Helvetica Neue"/>
                <a:cs typeface="Helvetica Neue"/>
              </a:defRPr>
            </a:pPr>
            <a:r>
              <a:rPr sz="975" b="1" i="0">
                <a:solidFill>
                  <a:srgbClr val="8EA2BE"/>
                </a:solidFill>
                <a:latin typeface="Helvetica Neue"/>
                <a:ea typeface="Helvetica Neue"/>
                <a:cs typeface="Helvetica Neue"/>
              </a:rPr>
              <a:t>VENTURE 2026 / 2-member team / React + Vite / Vercel-ready</a:t>
            </a:r>
          </a:p>
        </p:txBody>
      </p:sp>
      <p:sp>
        <p:nvSpPr>
          <p:cNvPr id="16" name="close-thanks">
            <a:extLst xmlns:a="http://schemas.openxmlformats.org/drawingml/2006/main">
              <a:ext uri="{FF2B5EF4-FFF2-40B4-BE49-F238E27FC236}">
                <a16:creationId xmlns:a16="http://schemas.microsoft.com/office/drawing/2014/main" id="{A0B3B442-C89B-4F45-A9D5-C2B0C74B1E4C}"/>
              </a:ext>
            </a:extLst>
          </p:cNvPr>
          <p:cNvSpPr>
            <a:spLocks xmlns:a="http://schemas.openxmlformats.org/drawingml/2006/main" noGrp="1"/>
          </p:cNvSpPr>
          <p:nvPr/>
        </p:nvSpPr>
        <p:spPr>
          <a:xfrm xmlns:a="http://schemas.openxmlformats.org/drawingml/2006/main">
            <a:off x="9563100" y="528637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Thank you</a:t>
            </a:r>
          </a:p>
        </p:txBody>
      </p:sp>
      <p:sp>
        <p:nvSpPr>
          <p:cNvPr id="17" name="footer-rule-9">
            <a:extLst xmlns:a="http://schemas.openxmlformats.org/drawingml/2006/main">
              <a:ext uri="{FF2B5EF4-FFF2-40B4-BE49-F238E27FC236}">
                <a16:creationId xmlns:a16="http://schemas.microsoft.com/office/drawing/2014/main" id="{1A654C95-1041-467C-B198-087DBD8E41B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8" name="footer-brand-9">
            <a:extLst xmlns:a="http://schemas.openxmlformats.org/drawingml/2006/main">
              <a:ext uri="{FF2B5EF4-FFF2-40B4-BE49-F238E27FC236}">
                <a16:creationId xmlns:a16="http://schemas.microsoft.com/office/drawing/2014/main" id="{A3FCC36F-5D3F-4758-A952-B8C54D7BC5F6}"/>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19" name="footer-page-9">
            <a:extLst xmlns:a="http://schemas.openxmlformats.org/drawingml/2006/main">
              <a:ext uri="{FF2B5EF4-FFF2-40B4-BE49-F238E27FC236}">
                <a16:creationId xmlns:a16="http://schemas.microsoft.com/office/drawing/2014/main" id="{683A4D2B-3E07-4889-AA9A-E4BC5BF2D835}"/>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09 / 09</a:t>
            </a:r>
          </a:p>
        </p:txBody>
      </p:sp>
    </p:spTree>
    <p:extLst>
      <p:ext uri="{BB962C8B-B14F-4D97-AF65-F5344CB8AC3E}">
        <p14:creationId xmlns:p14="http://schemas.microsoft.com/office/powerpoint/2010/main" val="1634034034"/>
      </p:ext>
    </p:extLst>
  </p:cSld>
</p:sld>
</file>

<file path=ppt/theme/theme1.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2026-09-16T03:40:58.0110000Z</dcterms:created>
  <dcterms:modified xsi:type="dcterms:W3CDTF">2026-09-16T03:40:58.0110000Z</dcterms:modified>
</coreProperties>
</file>