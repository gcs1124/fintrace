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2963bb17ea34612" /><Relationship Type="http://schemas.openxmlformats.org/officeDocument/2006/relationships/extended-properties" Target="/docProps/app.xml" Id="Rc35658aba6df4350" /><Relationship Type="http://schemas.openxmlformats.org/officeDocument/2006/relationships/officeDocument" Target="/ppt/presentation.xml" Id="R94600a04096e43a6" /></Relationships>
</file>

<file path=ppt/presentation.xml><?xml version="1.0" encoding="utf-8"?>
<p:presentation xmlns:p="http://schemas.openxmlformats.org/presentationml/2006/main">
  <p:sldMasterIdLst>
    <p:sldMasterId xmlns:r="http://schemas.openxmlformats.org/officeDocument/2006/relationships" id="2147483648" r:id="Rf2064df9e05a48e9"/>
  </p:sldMasterIdLst>
  <p:notesMasterIdLst>
    <p:notesMasterId xmlns:r="http://schemas.openxmlformats.org/officeDocument/2006/relationships" r:id="Rba505ac6a4bf4a7a"/>
  </p:notesMasterIdLst>
  <p:sldIdLst>
    <p:sldId xmlns:r="http://schemas.openxmlformats.org/officeDocument/2006/relationships" id="256" r:id="R3c2d5cb0b0374b35"/>
    <p:sldId xmlns:r="http://schemas.openxmlformats.org/officeDocument/2006/relationships" id="257" r:id="R861ea5d1206d4914"/>
    <p:sldId xmlns:r="http://schemas.openxmlformats.org/officeDocument/2006/relationships" id="258" r:id="Rc6cabd7a44c44d9f"/>
    <p:sldId xmlns:r="http://schemas.openxmlformats.org/officeDocument/2006/relationships" id="259" r:id="R51db81fc8c0b4e1d"/>
    <p:sldId xmlns:r="http://schemas.openxmlformats.org/officeDocument/2006/relationships" id="260" r:id="R0b12a27c65b64071"/>
    <p:sldId xmlns:r="http://schemas.openxmlformats.org/officeDocument/2006/relationships" id="261" r:id="Rffd870ec5b254133"/>
    <p:sldId xmlns:r="http://schemas.openxmlformats.org/officeDocument/2006/relationships" id="262" r:id="R68729d704b2f488b"/>
    <p:sldId xmlns:r="http://schemas.openxmlformats.org/officeDocument/2006/relationships" id="263" r:id="R80d0e60965ad4f25"/>
    <p:sldId xmlns:r="http://schemas.openxmlformats.org/officeDocument/2006/relationships" id="264" r:id="R452c66d21f99423c"/>
    <p:sldId xmlns:r="http://schemas.openxmlformats.org/officeDocument/2006/relationships" id="265" r:id="R6fba69e3924e4db7"/>
    <p:sldId xmlns:r="http://schemas.openxmlformats.org/officeDocument/2006/relationships" id="266" r:id="Rd0ebb6e404b34997"/>
    <p:sldId xmlns:r="http://schemas.openxmlformats.org/officeDocument/2006/relationships" id="267" r:id="R2b45cda40be64953"/>
    <p:sldId xmlns:r="http://schemas.openxmlformats.org/officeDocument/2006/relationships" id="268" r:id="Rf764361c49244b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53e09c2fc34338" /><Relationship Type="http://schemas.openxmlformats.org/officeDocument/2006/relationships/slideMaster" Target="/ppt/slideMasters/slideMaster1.xml" Id="Rf2064df9e05a48e9" /><Relationship Type="http://schemas.openxmlformats.org/officeDocument/2006/relationships/notesMaster" Target="/ppt/notesMasters/notesMaster1.xml" Id="Rba505ac6a4bf4a7a" /><Relationship Type="http://schemas.openxmlformats.org/officeDocument/2006/relationships/presProps" Target="/ppt/presProps.xml" Id="R00f6a4bcdbc94c10" /><Relationship Type="http://schemas.openxmlformats.org/officeDocument/2006/relationships/tableStyles" Target="/ppt/tableStyles.xml" Id="Rb464bd78e72c4992" /><Relationship Type="http://schemas.openxmlformats.org/officeDocument/2006/relationships/slide" Target="/ppt/slides/slide1.xml" Id="R3c2d5cb0b0374b35" /><Relationship Type="http://schemas.openxmlformats.org/officeDocument/2006/relationships/slide" Target="/ppt/slides/slide2.xml" Id="R861ea5d1206d4914" /><Relationship Type="http://schemas.openxmlformats.org/officeDocument/2006/relationships/slide" Target="/ppt/slides/slide3.xml" Id="Rc6cabd7a44c44d9f" /><Relationship Type="http://schemas.openxmlformats.org/officeDocument/2006/relationships/slide" Target="/ppt/slides/slide4.xml" Id="R51db81fc8c0b4e1d" /><Relationship Type="http://schemas.openxmlformats.org/officeDocument/2006/relationships/slide" Target="/ppt/slides/slide5.xml" Id="R0b12a27c65b64071" /><Relationship Type="http://schemas.openxmlformats.org/officeDocument/2006/relationships/slide" Target="/ppt/slides/slide6.xml" Id="Rffd870ec5b254133" /><Relationship Type="http://schemas.openxmlformats.org/officeDocument/2006/relationships/slide" Target="/ppt/slides/slide7.xml" Id="R68729d704b2f488b" /><Relationship Type="http://schemas.openxmlformats.org/officeDocument/2006/relationships/slide" Target="/ppt/slides/slide8.xml" Id="R80d0e60965ad4f25" /><Relationship Type="http://schemas.openxmlformats.org/officeDocument/2006/relationships/slide" Target="/ppt/slides/slide9.xml" Id="R452c66d21f99423c" /><Relationship Type="http://schemas.openxmlformats.org/officeDocument/2006/relationships/slide" Target="/ppt/slides/slide10.xml" Id="R6fba69e3924e4db7" /><Relationship Type="http://schemas.openxmlformats.org/officeDocument/2006/relationships/slide" Target="/ppt/slides/slide11.xml" Id="Rd0ebb6e404b34997" /><Relationship Type="http://schemas.openxmlformats.org/officeDocument/2006/relationships/slide" Target="/ppt/slides/slide12.xml" Id="R2b45cda40be64953" /><Relationship Type="http://schemas.openxmlformats.org/officeDocument/2006/relationships/slide" Target="/ppt/slides/slide13.xml" Id="Rf764361c49244b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de5f9c89a040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a3c8b8b7e04b86" /><Relationship Type="http://schemas.openxmlformats.org/officeDocument/2006/relationships/notesMaster" Target="/ppt/notesMasters/notesMaster1.xml" Id="R75eba37a910144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72f017780b430c" /><Relationship Type="http://schemas.openxmlformats.org/officeDocument/2006/relationships/notesMaster" Target="/ppt/notesMasters/notesMaster1.xml" Id="Rb51f59f9d82747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b89b6ee4e34373" /><Relationship Type="http://schemas.openxmlformats.org/officeDocument/2006/relationships/notesMaster" Target="/ppt/notesMasters/notesMaster1.xml" Id="R8c8e881225f446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3a85e96a1d4b75" /><Relationship Type="http://schemas.openxmlformats.org/officeDocument/2006/relationships/notesMaster" Target="/ppt/notesMasters/notesMaster1.xml" Id="R3b97057b28c442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fef9373a3549af" /><Relationship Type="http://schemas.openxmlformats.org/officeDocument/2006/relationships/notesMaster" Target="/ppt/notesMasters/notesMaster1.xml" Id="R9b0ef37f58fa45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99af4491954723" /><Relationship Type="http://schemas.openxmlformats.org/officeDocument/2006/relationships/notesMaster" Target="/ppt/notesMasters/notesMaster1.xml" Id="R52cdc919634745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c49a5deb904e87" /><Relationship Type="http://schemas.openxmlformats.org/officeDocument/2006/relationships/notesMaster" Target="/ppt/notesMasters/notesMaster1.xml" Id="Rf941c03ea0be44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240e225d0740cd" /><Relationship Type="http://schemas.openxmlformats.org/officeDocument/2006/relationships/notesMaster" Target="/ppt/notesMasters/notesMaster1.xml" Id="R7829316705624a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e3eb71f16a4416" /><Relationship Type="http://schemas.openxmlformats.org/officeDocument/2006/relationships/notesMaster" Target="/ppt/notesMasters/notesMaster1.xml" Id="Rde5be8c6467540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0d87fc41a0446c" /><Relationship Type="http://schemas.openxmlformats.org/officeDocument/2006/relationships/notesMaster" Target="/ppt/notesMasters/notesMaster1.xml" Id="R964f2359ccc646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6d6182ce5c4464" /><Relationship Type="http://schemas.openxmlformats.org/officeDocument/2006/relationships/notesMaster" Target="/ppt/notesMasters/notesMaster1.xml" Id="Rf4859145e7084b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4412787c7f4b98" /><Relationship Type="http://schemas.openxmlformats.org/officeDocument/2006/relationships/notesMaster" Target="/ppt/notesMasters/notesMaster1.xml" Id="Rcded2ed4e0f345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dbb7d90f734fa1" /><Relationship Type="http://schemas.openxmlformats.org/officeDocument/2006/relationships/notesMaster" Target="/ppt/notesMasters/notesMaster1.xml" Id="R44ee257690e843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FINTRACE is an explainable transaction investigation workspace. It helps an analyst move from a suspicious pattern to an inspectable money trail.</a:t>
            </a:r>
          </a:p>
          <a:p xmlns:a="http://schemas.openxmlformats.org/drawingml/2006/main">
            <a:r>
              <a:t/>
            </a:r>
          </a:p>
          <a:p xmlns:a="http://schemas.openxmlformats.org/drawingml/2006/main">
            <a:r>
              <a:t>Source: implemented FINTRACE UI and product brief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a fraud queue can identify an unusual account, but an analyst still needs to see the sequence of observed transfers. The canonical scenario contains eight inbound payments into A101, outward payments to A201 and A202, and onward payments to A301.</a:t>
            </a:r>
          </a:p>
          <a:p xmlns:a="http://schemas.openxmlformats.org/drawingml/2006/main">
            <a:r>
              <a:t/>
            </a:r>
          </a:p>
          <a:p xmlns:a="http://schemas.openxmlformats.org/drawingml/2006/main">
            <a:r>
              <a:t>Source: src/data/examples.ts, README.md detection contract, src/engine/intelligentAnalyze.ts.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FINTRACE separates input validation, cutoff-aware analysis, and analyst-facing surfaces. The browser uses the same analysis contract as the stateless Vercel Function when the endpoint is available, with local analysis as a fallback. Source: README.md, api/analyze.ts, src/services/analysisService.ts, src/hooks/useInvestigation.ts.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flow: the same normalized, cutoff-aware snapshot drives every surface. This prevents the graph, queue, evidence, replay, and export from silently disagreeing.</a:t>
            </a:r>
          </a:p>
          <a:p xmlns:a="http://schemas.openxmlformats.org/drawingml/2006/main">
            <a:r>
              <a:t/>
            </a:r>
          </a:p>
          <a:p xmlns:a="http://schemas.openxmlformats.org/drawingml/2006/main">
            <a:r>
              <a:t>Source: src/hooks/useInvestigation.ts, src/services/analysisService.ts, api/analyze.ts, README.md architecture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framing: this screenshot is the working local FINTRACE UI. The canonical dataset has 12 loaded rows, A101 selected, a 100/100 configured review score, two traced paths, and 12 evidence rows.</a:t>
            </a:r>
          </a:p>
          <a:p xmlns:a="http://schemas.openxmlformats.org/drawingml/2006/main">
            <a:r>
              <a:t/>
            </a:r>
          </a:p>
          <a:p xmlns:a="http://schemas.openxmlformats.org/drawingml/2006/main">
            <a:r>
              <a:t>Source: output/playwright/fintrace-25-preview.png, src/data/examples.ts,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judges through the replay: at 10:02 the collection signal contributes 30 points. At 10:04:30 the outward volume reaches 95% of incoming, adding 40 points. At 10:06:30 both branches reach A301, adding 30 points.</a:t>
            </a:r>
          </a:p>
          <a:p xmlns:a="http://schemas.openxmlformats.org/drawingml/2006/main">
            <a:r>
              <a:t/>
            </a:r>
          </a:p>
          <a:p xmlns:a="http://schemas.openxmlformats.org/drawingml/2006/main">
            <a:r>
              <a:t>Source: README.md canonical replay table, src/data/examples.ts, src/tests/accuracyScenarios.ts,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graph engine as bounded reasoning. It traces chronological transaction paths up to five hops and a 30-minute total window. In the canonical case it finds two paths from A101 to A301 and reports the smallest observed edge on each path as ₹18,500.</a:t>
            </a:r>
          </a:p>
          <a:p xmlns:a="http://schemas.openxmlformats.org/drawingml/2006/main">
            <a:r>
              <a:t/>
            </a:r>
          </a:p>
          <a:p xmlns:a="http://schemas.openxmlformats.org/drawingml/2006/main">
            <a:r>
              <a:t>Source: src/engine/intelligentAnalyze.ts, src/types.ts, README.md detection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Detection contract: the core score is collection plus rapid forwarding plus split-and-reconverge. The score can only be 30, 70, or 100 for a candidate. The graph pass adds bounded context such as fan-out, layering, cycles, velocity, path depth, and bottleneck values. These are review signals, not probabilities. Source: src/config/detector.ts, src/engine/analyze.ts, src/engine/intelligentAnalyze.ts, README.md detection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Boundary testing: the 25-scenario matrix covers threshold edges, cutoff behavior, future-record exclusion, chronology, cycles, layering, fan-out, velocity, warnings, and bounded tracing. The matrix calls the validating POST /api/analyze handler used by the local UI and the Vercel path. Source: README.md, src/tests/accuracyScenarios.ts, src/tests/accuracy.test.ts, api/analyze.ts.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Readiness: the current repository has a 25-scenario accuracy matrix, 58 passing tests, and clean TypeScript, ESLint, and Vite build checks. Supabase schema and client wiring are prepared but require project values and an authorised SQL Editor run before real accounts and private saves work.</a:t>
            </a:r>
          </a:p>
          <a:p xmlns:a="http://schemas.openxmlformats.org/drawingml/2006/main">
            <a:r>
              <a:t/>
            </a:r>
          </a:p>
          <a:p xmlns:a="http://schemas.openxmlformats.org/drawingml/2006/main">
            <a:r>
              <a:t>Source: local validation run, README.md, supabase/schema.sql, .env.example.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and access: the importer enforces a 2 MiB and 2,000-row limit, INR-only records, explicit ISO timestamps, exact paise arithmetic, and all-or-nothing validation. The Vercel endpoint is stateless. Supabase Auth and the investigations table are prepared for private saves, with owner-scoped row-level security. Source: README.md CSV, authentication, and Vercel sections, api/analyze.ts, supabase/schema.sql, src/engine/validate.ts.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Responsible-use close: FINTRACE is a review aid. It does not establish guilt, ownership, loss, or account action. The product makes these limitations visible in the evidence panel and export.</a:t>
            </a:r>
          </a:p>
          <a:p xmlns:a="http://schemas.openxmlformats.org/drawingml/2006/main">
            <a:r>
              <a:t/>
            </a:r>
          </a:p>
          <a:p xmlns:a="http://schemas.openxmlformats.org/drawingml/2006/main">
            <a:r>
              <a:t>Source: README.md responsible-use boundary, src/components/EvidencePanel.tsx, src/export/buildCaseExport.ts.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invite the judges into the live flow. Load the canonical scenario, inspect A101, and move the timeline to 10:06:30 IST to show the complete 100-point observed pattern with two evidence-backed paths.</a:t>
            </a:r>
          </a:p>
          <a:p xmlns:a="http://schemas.openxmlformats.org/drawingml/2006/main">
            <a:r>
              <a:t/>
            </a:r>
          </a:p>
          <a:p xmlns:a="http://schemas.openxmlformats.org/drawingml/2006/main">
            <a:r>
              <a:t>Source: local FINTRACE preview and canonical fixture in src/data/examples.ts.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9d97c52fbb44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423f36e94441c7" /><Relationship Type="http://schemas.openxmlformats.org/officeDocument/2006/relationships/slideLayout" Target="/ppt/slideLayouts/slideLayout1.xml" Id="R93ebec0e4abc48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ebec0e4abc48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96674499ff244bd" /><Relationship Type="http://schemas.openxmlformats.org/officeDocument/2006/relationships/image" Target="/ppt/media/image.png" Id="R5099076a4e1d4fc3" /><Relationship Type="http://schemas.openxmlformats.org/officeDocument/2006/relationships/notesSlide" Target="/ppt/notesSlides/notesSlide1.xml" Id="Re2324de348c54f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c381946f6894b96" /><Relationship Type="http://schemas.openxmlformats.org/officeDocument/2006/relationships/notesSlide" Target="/ppt/notesSlides/notesSlide2.xml" Id="R4dec41633da94c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6bfc227b4d24f2f" /><Relationship Type="http://schemas.openxmlformats.org/officeDocument/2006/relationships/notesSlide" Target="/ppt/notesSlides/notesSlide3.xml" Id="R2f9b54b33e0549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b48f4b9e1f438e" /><Relationship Type="http://schemas.openxmlformats.org/officeDocument/2006/relationships/notesSlide" Target="/ppt/notesSlides/notesSlide4.xml" Id="R7b6099b6d3394b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9bfb5229804940" /><Relationship Type="http://schemas.openxmlformats.org/officeDocument/2006/relationships/image" Target="/ppt/media/image2.png" Id="R35a8df0154044b0d" /><Relationship Type="http://schemas.openxmlformats.org/officeDocument/2006/relationships/notesSlide" Target="/ppt/notesSlides/notesSlide5.xml" Id="R307c955d685146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78dd49f3f94e13" /><Relationship Type="http://schemas.openxmlformats.org/officeDocument/2006/relationships/chart" Target="/ppt/slides/charts/chart1.xml" Id="Rd743786a01354893" /><Relationship Type="http://schemas.openxmlformats.org/officeDocument/2006/relationships/notesSlide" Target="/ppt/notesSlides/notesSlide6.xml" Id="R7ce468bbdfa049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c920b4a4d3c456c" /><Relationship Type="http://schemas.openxmlformats.org/officeDocument/2006/relationships/notesSlide" Target="/ppt/notesSlides/notesSlide7.xml" Id="R93bf9a96d33b4d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ce89b1cf874d5a" /><Relationship Type="http://schemas.openxmlformats.org/officeDocument/2006/relationships/notesSlide" Target="/ppt/notesSlides/notesSlide8.xml" Id="R3752a045094842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2bf818388f94295" /><Relationship Type="http://schemas.openxmlformats.org/officeDocument/2006/relationships/notesSlide" Target="/ppt/notesSlides/notesSlide9.xml" Id="R95086982ba554d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6df469001a4061" /><Relationship Type="http://schemas.openxmlformats.org/officeDocument/2006/relationships/notesSlide" Target="/ppt/notesSlides/notesSlide10.xml" Id="R84f1c2f6d05c42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23e4b99ca06411d" /><Relationship Type="http://schemas.openxmlformats.org/officeDocument/2006/relationships/notesSlide" Target="/ppt/notesSlides/notesSlide11.xml" Id="R6a66d100b0734c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6ab23f0f6fd4312" /><Relationship Type="http://schemas.openxmlformats.org/officeDocument/2006/relationships/notesSlide" Target="/ppt/notesSlides/notesSlide12.xml" Id="Rfdfc0641a0294c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bfa47448da74456" /><Relationship Type="http://schemas.openxmlformats.org/officeDocument/2006/relationships/notesSlide" Target="/ppt/notesSlides/notesSlide13.xml" Id="R068a4bdd3fa3478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Configured review points</c:v>
          </c:tx>
          <c:spPr>
            <a:ln xmlns:a="http://schemas.openxmlformats.org/drawingml/2006/main" w="38100">
              <a:solidFill>
                <a:srgbClr val="2F6FE5"/>
              </a:solidFill>
              <a:prstDash val="solid"/>
            </a:ln>
          </c:spPr>
          <c:marker>
            <c:symbol val="circle"/>
            <c:size val="9"/>
            <c:spPr>
              <a:solidFill xmlns:a="http://schemas.openxmlformats.org/drawingml/2006/main">
                <a:srgbClr val="2F6FE5"/>
              </a:solidFill>
            </c:spPr>
          </c:marker>
          <c:cat>
            <c:strRef>
              <c:f>'Chart Data'!$A$2:$A$4</c:f>
              <c:strCache>
                <c:ptCount val="3"/>
                <c:pt idx="0">
                  <c:v>10:02</c:v>
                </c:pt>
                <c:pt idx="1">
                  <c:v>10:04:30</c:v>
                </c:pt>
                <c:pt idx="2">
                  <c:v>10:06:30</c:v>
                </c:pt>
              </c:strCache>
            </c:strRef>
          </c:cat>
          <c:val>
            <c:numRef>
              <c:f>'Chart Data'!$B$2:$B$4</c:f>
              <c:numCache>
                <c:formatCode>0</c:formatCode>
                <c:ptCount val="3"/>
                <c:pt idx="0">
                  <c:v>30</c:v>
                </c:pt>
                <c:pt idx="1">
                  <c:v>70</c:v>
                </c:pt>
                <c:pt idx="2">
                  <c:v>100</c:v>
                </c:pt>
              </c:numCache>
            </c:numRef>
          </c:val>
          <c:smooth val="0"/>
        </c:ser>
        <c:dLbls>
          <c:txPr>
            <a:bodyPr xmlns:a="http://schemas.openxmlformats.org/drawingml/2006/main" anchorCtr="1"/>
            <a:lstStyle xmlns:a="http://schemas.openxmlformats.org/drawingml/2006/main"/>
            <a:p xmlns:a="http://schemas.openxmlformats.org/drawingml/2006/main">
              <a:pPr>
                <a:defRPr sz="1050" b="1">
                  <a:solidFill>
                    <a:srgbClr val="14243C"/>
                  </a:solidFill>
                  <a:latin typeface="Helvetica Neue"/>
                  <a:ea typeface="Helvetica Neue"/>
                  <a:cs typeface="Helvetica Neue"/>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Observation cutoff (IST)</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9525">
              <a:solidFill>
                <a:srgbClr val="E3EAF3"/>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Points</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9525">
          <a:solidFill>
            <a:srgbClr val="E6EDF6"/>
          </a:solidFill>
          <a:prstDash val="solid"/>
        </a:ln>
      </c:spPr>
    </c:plotArea>
    <c:plotVisOnly val="1"/>
  </c:chart>
  <c:spPr>
    <a:solidFill xmlns:a="http://schemas.openxmlformats.org/drawingml/2006/main">
      <a:srgbClr val="FFFFFF"/>
    </a:solidFill>
    <a:ln xmlns:a="http://schemas.openxmlformats.org/drawingml/2006/main" w="9525">
      <a:solidFill>
        <a:srgbClr val="D8E3F1"/>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1" name="cover-accent-field">
            <a:extLst xmlns:a="http://schemas.openxmlformats.org/drawingml/2006/main">
              <a:ext uri="{FF2B5EF4-FFF2-40B4-BE49-F238E27FC236}">
                <a16:creationId xmlns:a16="http://schemas.microsoft.com/office/drawing/2014/main" id="{F3F62E97-FA7D-4F34-9B6D-13708313770C}"/>
              </a:ext>
            </a:extLst>
          </p:cNvPr>
          <p:cNvSpPr>
            <a:spLocks xmlns:a="http://schemas.openxmlformats.org/drawingml/2006/main" noGrp="1"/>
          </p:cNvSpPr>
          <p:nvPr/>
        </p:nvSpPr>
        <p:spPr>
          <a:xfrm xmlns:a="http://schemas.openxmlformats.org/drawingml/2006/main">
            <a:off x="7239000" y="704850"/>
            <a:ext cx="4343400" cy="5257800"/>
          </a:xfrm>
          <a:prstGeom xmlns:a="http://schemas.openxmlformats.org/drawingml/2006/main" prst="roundRect">
            <a:avLst>
              <a:gd name="adj" fmla="val 5702"/>
            </a:avLst>
          </a:prstGeom>
          <a:solidFill xmlns:a="http://schemas.openxmlformats.org/drawingml/2006/main">
            <a:srgbClr val="0B1D38"/>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099076a4e1d4fc3"/>
          <a:srcRect xmlns:a="http://schemas.openxmlformats.org/drawingml/2006/main" l="0" t="33" r="0" b="33"/>
          <a:stretch xmlns:a="http://schemas.openxmlformats.org/drawingml/2006/main">
            <a:fillRect l="0" t="0" r="0" b="0"/>
          </a:stretch>
        </p:blipFill>
        <p:spPr>
          <a:xfrm xmlns:a="http://schemas.openxmlformats.org/drawingml/2006/main">
            <a:off x="7391400" y="857250"/>
            <a:ext cx="4038600" cy="3352800"/>
          </a:xfrm>
          <a:prstGeom xmlns:a="http://schemas.openxmlformats.org/drawingml/2006/main" prst="roundRect">
            <a:avLst>
              <a:gd name="adj" fmla="val 4545"/>
            </a:avLst>
          </a:prstGeom>
        </p:spPr>
      </p:pic>
      <p:sp>
        <p:nvSpPr>
          <p:cNvPr id="3" name="cover-image-caption">
            <a:extLst xmlns:a="http://schemas.openxmlformats.org/drawingml/2006/main">
              <a:ext uri="{FF2B5EF4-FFF2-40B4-BE49-F238E27FC236}">
                <a16:creationId xmlns:a16="http://schemas.microsoft.com/office/drawing/2014/main" id="{754A70E5-22DB-4A6D-BCC8-45FED0147F56}"/>
              </a:ext>
            </a:extLst>
          </p:cNvPr>
          <p:cNvSpPr>
            <a:spLocks xmlns:a="http://schemas.openxmlformats.org/drawingml/2006/main" noGrp="1"/>
          </p:cNvSpPr>
          <p:nvPr/>
        </p:nvSpPr>
        <p:spPr>
          <a:xfrm xmlns:a="http://schemas.openxmlformats.org/drawingml/2006/main">
            <a:off x="7562850" y="4438650"/>
            <a:ext cx="3695700" cy="1066800"/>
          </a:xfrm>
          <a:prstGeom xmlns:a="http://schemas.openxmlformats.org/drawingml/2006/main" prst="roundRect">
            <a:avLst>
              <a:gd name="adj" fmla="val 14286"/>
            </a:avLst>
          </a:prstGeom>
          <a:solidFill xmlns:a="http://schemas.openxmlformats.org/drawingml/2006/main">
            <a:srgbClr val="102746"/>
          </a:solidFill>
          <a:ln xmlns:a="http://schemas.openxmlformats.org/drawingml/2006/main" w="9525">
            <a:solidFill>
              <a:srgbClr val="1B3B64"/>
            </a:solidFill>
            <a:prstDash val="solid"/>
          </a:ln>
        </p:spPr>
      </p:sp>
      <p:sp>
        <p:nvSpPr>
          <p:cNvPr id="4" name="cover-caption-label">
            <a:extLst xmlns:a="http://schemas.openxmlformats.org/drawingml/2006/main">
              <a:ext uri="{FF2B5EF4-FFF2-40B4-BE49-F238E27FC236}">
                <a16:creationId xmlns:a16="http://schemas.microsoft.com/office/drawing/2014/main" id="{AE5D56F9-32F3-4686-B683-E1E344E1DDBE}"/>
              </a:ext>
            </a:extLst>
          </p:cNvPr>
          <p:cNvSpPr>
            <a:spLocks xmlns:a="http://schemas.openxmlformats.org/drawingml/2006/main" noGrp="1"/>
          </p:cNvSpPr>
          <p:nvPr/>
        </p:nvSpPr>
        <p:spPr>
          <a:xfrm xmlns:a="http://schemas.openxmlformats.org/drawingml/2006/main">
            <a:off x="7791450" y="46291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63E0C5"/>
                </a:solidFill>
                <a:latin typeface="Helvetica Neue"/>
                <a:ea typeface="Helvetica Neue"/>
                <a:cs typeface="Helvetica Neue"/>
              </a:defRPr>
            </a:pPr>
            <a:r>
              <a:rPr sz="750" b="1" i="0">
                <a:solidFill>
                  <a:srgbClr val="63E0C5"/>
                </a:solidFill>
                <a:latin typeface="Helvetica Neue"/>
                <a:ea typeface="Helvetica Neue"/>
                <a:cs typeface="Helvetica Neue"/>
              </a:rPr>
              <a:t>THE PRODUCT</a:t>
            </a:r>
          </a:p>
        </p:txBody>
      </p:sp>
      <p:sp>
        <p:nvSpPr>
          <p:cNvPr id="5" name="cover-caption">
            <a:extLst xmlns:a="http://schemas.openxmlformats.org/drawingml/2006/main">
              <a:ext uri="{FF2B5EF4-FFF2-40B4-BE49-F238E27FC236}">
                <a16:creationId xmlns:a16="http://schemas.microsoft.com/office/drawing/2014/main" id="{9AB24F11-F238-4CFA-8418-FDF11CB9EA6A}"/>
              </a:ext>
            </a:extLst>
          </p:cNvPr>
          <p:cNvSpPr>
            <a:spLocks xmlns:a="http://schemas.openxmlformats.org/drawingml/2006/main" noGrp="1"/>
          </p:cNvSpPr>
          <p:nvPr/>
        </p:nvSpPr>
        <p:spPr>
          <a:xfrm xmlns:a="http://schemas.openxmlformats.org/drawingml/2006/main">
            <a:off x="7791450" y="4876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 focused workspace for analysts who need the story behind a transaction flag.</a:t>
            </a:r>
          </a:p>
        </p:txBody>
      </p:sp>
      <p:sp>
        <p:nvSpPr>
          <p:cNvPr id="6" name="cover-mark">
            <a:extLst xmlns:a="http://schemas.openxmlformats.org/drawingml/2006/main">
              <a:ext uri="{FF2B5EF4-FFF2-40B4-BE49-F238E27FC236}">
                <a16:creationId xmlns:a16="http://schemas.microsoft.com/office/drawing/2014/main" id="{C6FCA771-6ABB-45E5-ACB8-3BBFDD545B8F}"/>
              </a:ext>
            </a:extLst>
          </p:cNvPr>
          <p:cNvSpPr>
            <a:spLocks xmlns:a="http://schemas.openxmlformats.org/drawingml/2006/main" noGrp="1"/>
          </p:cNvSpPr>
          <p:nvPr/>
        </p:nvSpPr>
        <p:spPr>
          <a:xfrm xmlns:a="http://schemas.openxmlformats.org/drawingml/2006/main">
            <a:off x="609600" y="609600"/>
            <a:ext cx="381000" cy="381000"/>
          </a:xfrm>
          <a:prstGeom xmlns:a="http://schemas.openxmlformats.org/drawingml/2006/main" prst="roundRect">
            <a:avLst>
              <a:gd name="adj" fmla="val 30000"/>
            </a:avLst>
          </a:prstGeom>
          <a:solidFill xmlns:a="http://schemas.openxmlformats.org/drawingml/2006/main">
            <a:srgbClr val="2F6FE5"/>
          </a:solidFill>
          <a:ln xmlns:a="http://schemas.openxmlformats.org/drawingml/2006/main" w="9525">
            <a:solidFill>
              <a:srgbClr val="6D9DFF"/>
            </a:solidFill>
            <a:prstDash val="solid"/>
          </a:ln>
        </p:spPr>
      </p:sp>
      <p:sp>
        <p:nvSpPr>
          <p:cNvPr id="7" name="cover-mark-text">
            <a:extLst xmlns:a="http://schemas.openxmlformats.org/drawingml/2006/main">
              <a:ext uri="{FF2B5EF4-FFF2-40B4-BE49-F238E27FC236}">
                <a16:creationId xmlns:a16="http://schemas.microsoft.com/office/drawing/2014/main" id="{E5392B2C-20C6-4A3F-9F2D-DA753ADB2BDC}"/>
              </a:ext>
            </a:extLst>
          </p:cNvPr>
          <p:cNvSpPr>
            <a:spLocks xmlns:a="http://schemas.openxmlformats.org/drawingml/2006/main" noGrp="1"/>
          </p:cNvSpPr>
          <p:nvPr/>
        </p:nvSpPr>
        <p:spPr>
          <a:xfrm xmlns:a="http://schemas.openxmlformats.org/drawingml/2006/main">
            <a:off x="609600" y="647700"/>
            <a:ext cx="381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1" i="0">
                <a:solidFill>
                  <a:srgbClr val="F6F9FF"/>
                </a:solidFill>
                <a:latin typeface="Helvetica Neue"/>
                <a:ea typeface="Helvetica Neue"/>
                <a:cs typeface="Helvetica Neue"/>
              </a:defRPr>
            </a:pPr>
            <a:r>
              <a:rPr sz="1650" b="1" i="0">
                <a:solidFill>
                  <a:srgbClr val="F6F9FF"/>
                </a:solidFill>
                <a:latin typeface="Helvetica Neue"/>
                <a:ea typeface="Helvetica Neue"/>
                <a:cs typeface="Helvetica Neue"/>
              </a:rPr>
              <a:t>F</a:t>
            </a:r>
          </a:p>
        </p:txBody>
      </p:sp>
      <p:sp>
        <p:nvSpPr>
          <p:cNvPr id="8" name="cover-wordmark">
            <a:extLst xmlns:a="http://schemas.openxmlformats.org/drawingml/2006/main">
              <a:ext uri="{FF2B5EF4-FFF2-40B4-BE49-F238E27FC236}">
                <a16:creationId xmlns:a16="http://schemas.microsoft.com/office/drawing/2014/main" id="{67096FA9-DD41-45CA-A070-C02B116FA94F}"/>
              </a:ext>
            </a:extLst>
          </p:cNvPr>
          <p:cNvSpPr>
            <a:spLocks xmlns:a="http://schemas.openxmlformats.org/drawingml/2006/main" noGrp="1"/>
          </p:cNvSpPr>
          <p:nvPr/>
        </p:nvSpPr>
        <p:spPr>
          <a:xfrm xmlns:a="http://schemas.openxmlformats.org/drawingml/2006/main">
            <a:off x="1123950" y="628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6F9FF"/>
                </a:solidFill>
                <a:latin typeface="Helvetica Neue"/>
                <a:ea typeface="Helvetica Neue"/>
                <a:cs typeface="Helvetica Neue"/>
              </a:defRPr>
            </a:pPr>
            <a:r>
              <a:rPr sz="1275" b="1" i="0">
                <a:solidFill>
                  <a:srgbClr val="F6F9FF"/>
                </a:solidFill>
                <a:latin typeface="Helvetica Neue"/>
                <a:ea typeface="Helvetica Neue"/>
                <a:cs typeface="Helvetica Neue"/>
              </a:rPr>
              <a:t>FINTRACE</a:t>
            </a:r>
          </a:p>
        </p:txBody>
      </p:sp>
      <p:sp>
        <p:nvSpPr>
          <p:cNvPr id="9" name="cover-subtitle">
            <a:extLst xmlns:a="http://schemas.openxmlformats.org/drawingml/2006/main">
              <a:ext uri="{FF2B5EF4-FFF2-40B4-BE49-F238E27FC236}">
                <a16:creationId xmlns:a16="http://schemas.microsoft.com/office/drawing/2014/main" id="{C37A4DCF-1F9E-4547-BEB3-144C10DB0896}"/>
              </a:ext>
            </a:extLst>
          </p:cNvPr>
          <p:cNvSpPr>
            <a:spLocks xmlns:a="http://schemas.openxmlformats.org/drawingml/2006/main" noGrp="1"/>
          </p:cNvSpPr>
          <p:nvPr/>
        </p:nvSpPr>
        <p:spPr>
          <a:xfrm xmlns:a="http://schemas.openxmlformats.org/drawingml/2006/main">
            <a:off x="1123950" y="866775"/>
            <a:ext cx="3238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EXPLAINABLE TRANSACTION INVESTIGATION</a:t>
            </a:r>
          </a:p>
        </p:txBody>
      </p:sp>
      <p:sp>
        <p:nvSpPr>
          <p:cNvPr id="10" name="cover-event">
            <a:extLst xmlns:a="http://schemas.openxmlformats.org/drawingml/2006/main">
              <a:ext uri="{FF2B5EF4-FFF2-40B4-BE49-F238E27FC236}">
                <a16:creationId xmlns:a16="http://schemas.microsoft.com/office/drawing/2014/main" id="{47814970-0737-4FB7-855F-FF1171986BC3}"/>
              </a:ext>
            </a:extLst>
          </p:cNvPr>
          <p:cNvSpPr>
            <a:spLocks xmlns:a="http://schemas.openxmlformats.org/drawingml/2006/main" noGrp="1"/>
          </p:cNvSpPr>
          <p:nvPr/>
        </p:nvSpPr>
        <p:spPr>
          <a:xfrm xmlns:a="http://schemas.openxmlformats.org/drawingml/2006/main">
            <a:off x="609600" y="16954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5D8EFF"/>
                </a:solidFill>
                <a:latin typeface="Helvetica Neue"/>
                <a:ea typeface="Helvetica Neue"/>
                <a:cs typeface="Helvetica Neue"/>
              </a:defRPr>
            </a:pPr>
            <a:r>
              <a:rPr sz="900" b="1" i="0">
                <a:solidFill>
                  <a:srgbClr val="5D8EFF"/>
                </a:solidFill>
                <a:latin typeface="Helvetica Neue"/>
                <a:ea typeface="Helvetica Neue"/>
                <a:cs typeface="Helvetica Neue"/>
              </a:rPr>
              <a:t>VENTURE 2026 / THE FINTECH FRONTIER CHALLENGE</a:t>
            </a:r>
          </a:p>
        </p:txBody>
      </p:sp>
      <p:sp>
        <p:nvSpPr>
          <p:cNvPr id="11" name="cover-title-a">
            <a:extLst xmlns:a="http://schemas.openxmlformats.org/drawingml/2006/main">
              <a:ext uri="{FF2B5EF4-FFF2-40B4-BE49-F238E27FC236}">
                <a16:creationId xmlns:a16="http://schemas.microsoft.com/office/drawing/2014/main" id="{E476959C-902A-444D-89A2-73827F5D6C13}"/>
              </a:ext>
            </a:extLst>
          </p:cNvPr>
          <p:cNvSpPr>
            <a:spLocks xmlns:a="http://schemas.openxmlformats.org/drawingml/2006/main" noGrp="1"/>
          </p:cNvSpPr>
          <p:nvPr/>
        </p:nvSpPr>
        <p:spPr>
          <a:xfrm xmlns:a="http://schemas.openxmlformats.org/drawingml/2006/main">
            <a:off x="609600" y="2133600"/>
            <a:ext cx="609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F6F9FF"/>
                </a:solidFill>
                <a:latin typeface="Helvetica Neue"/>
                <a:ea typeface="Helvetica Neue"/>
                <a:cs typeface="Helvetica Neue"/>
              </a:defRPr>
            </a:pPr>
            <a:r>
              <a:rPr sz="4350" b="1" i="0">
                <a:solidFill>
                  <a:srgbClr val="F6F9FF"/>
                </a:solidFill>
                <a:latin typeface="Helvetica Neue"/>
                <a:ea typeface="Helvetica Neue"/>
                <a:cs typeface="Helvetica Neue"/>
              </a:rPr>
              <a:t>Follow the money</a:t>
            </a:r>
          </a:p>
        </p:txBody>
      </p:sp>
      <p:sp>
        <p:nvSpPr>
          <p:cNvPr id="12" name="cover-title-b">
            <a:extLst xmlns:a="http://schemas.openxmlformats.org/drawingml/2006/main">
              <a:ext uri="{FF2B5EF4-FFF2-40B4-BE49-F238E27FC236}">
                <a16:creationId xmlns:a16="http://schemas.microsoft.com/office/drawing/2014/main" id="{9B5F64A3-3DA1-4658-9131-3B4FE81AA629}"/>
              </a:ext>
            </a:extLst>
          </p:cNvPr>
          <p:cNvSpPr>
            <a:spLocks xmlns:a="http://schemas.openxmlformats.org/drawingml/2006/main" noGrp="1"/>
          </p:cNvSpPr>
          <p:nvPr/>
        </p:nvSpPr>
        <p:spPr>
          <a:xfrm xmlns:a="http://schemas.openxmlformats.org/drawingml/2006/main">
            <a:off x="609600" y="27813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63E0C5"/>
                </a:solidFill>
                <a:latin typeface="Helvetica Neue"/>
                <a:ea typeface="Helvetica Neue"/>
                <a:cs typeface="Helvetica Neue"/>
              </a:defRPr>
            </a:pPr>
            <a:r>
              <a:rPr sz="4350" b="1" i="0">
                <a:solidFill>
                  <a:srgbClr val="63E0C5"/>
                </a:solidFill>
                <a:latin typeface="Helvetica Neue"/>
                <a:ea typeface="Helvetica Neue"/>
                <a:cs typeface="Helvetica Neue"/>
              </a:rPr>
              <a:t>Explain the risk</a:t>
            </a:r>
          </a:p>
        </p:txBody>
      </p:sp>
      <p:sp>
        <p:nvSpPr>
          <p:cNvPr id="13" name="cover-lede">
            <a:extLst xmlns:a="http://schemas.openxmlformats.org/drawingml/2006/main">
              <a:ext uri="{FF2B5EF4-FFF2-40B4-BE49-F238E27FC236}">
                <a16:creationId xmlns:a16="http://schemas.microsoft.com/office/drawing/2014/main" id="{16950399-8F1B-48DD-A391-DD10A9EE6D82}"/>
              </a:ext>
            </a:extLst>
          </p:cNvPr>
          <p:cNvSpPr>
            <a:spLocks xmlns:a="http://schemas.openxmlformats.org/drawingml/2006/main" noGrp="1"/>
          </p:cNvSpPr>
          <p:nvPr/>
        </p:nvSpPr>
        <p:spPr>
          <a:xfrm xmlns:a="http://schemas.openxmlformats.org/drawingml/2006/main">
            <a:off x="647700" y="37338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9"/>
          </a:bodyPr>
          <a:lstStyle xmlns:a="http://schemas.openxmlformats.org/drawingml/2006/main"/>
          <a:p xmlns:a="http://schemas.openxmlformats.org/drawingml/2006/main">
            <a:pPr algn="l">
              <a:lnSpc>
                <a:spcPct val="135000"/>
              </a:lnSpc>
              <a:buNone/>
              <a:defRPr sz="1575" b="0" i="0">
                <a:solidFill>
                  <a:srgbClr val="B3C2D8"/>
                </a:solidFill>
                <a:latin typeface="Helvetica Neue"/>
                <a:ea typeface="Helvetica Neue"/>
                <a:cs typeface="Helvetica Neue"/>
              </a:defRPr>
            </a:pPr>
            <a:r>
              <a:rPr sz="1575" b="0" i="0">
                <a:solidFill>
                  <a:srgbClr val="B3C2D8"/>
                </a:solidFill>
                <a:latin typeface="Helvetica Neue"/>
                <a:ea typeface="Helvetica Neue"/>
                <a:cs typeface="Helvetica Neue"/>
              </a:rPr>
              <a:t>A browser-based investigation workspace that turns authorised transaction records into a chronological, evidence-backed review.</a:t>
            </a:r>
          </a:p>
        </p:txBody>
      </p:sp>
      <p:sp>
        <p:nvSpPr>
          <p:cNvPr id="14" name="cover-rule">
            <a:extLst xmlns:a="http://schemas.openxmlformats.org/drawingml/2006/main">
              <a:ext uri="{FF2B5EF4-FFF2-40B4-BE49-F238E27FC236}">
                <a16:creationId xmlns:a16="http://schemas.microsoft.com/office/drawing/2014/main" id="{47A5C427-6F3E-4FFC-94FC-423AC8C5725C}"/>
              </a:ext>
            </a:extLst>
          </p:cNvPr>
          <p:cNvSpPr>
            <a:spLocks xmlns:a="http://schemas.openxmlformats.org/drawingml/2006/main" noGrp="1"/>
          </p:cNvSpPr>
          <p:nvPr/>
        </p:nvSpPr>
        <p:spPr>
          <a:xfrm xmlns:a="http://schemas.openxmlformats.org/drawingml/2006/main">
            <a:off x="647700" y="4905375"/>
            <a:ext cx="4953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5" name="cover-stack">
            <a:extLst xmlns:a="http://schemas.openxmlformats.org/drawingml/2006/main">
              <a:ext uri="{FF2B5EF4-FFF2-40B4-BE49-F238E27FC236}">
                <a16:creationId xmlns:a16="http://schemas.microsoft.com/office/drawing/2014/main" id="{AD0FC398-0F84-4408-A968-A33FD510433F}"/>
              </a:ext>
            </a:extLst>
          </p:cNvPr>
          <p:cNvSpPr>
            <a:spLocks xmlns:a="http://schemas.openxmlformats.org/drawingml/2006/main" noGrp="1"/>
          </p:cNvSpPr>
          <p:nvPr/>
        </p:nvSpPr>
        <p:spPr>
          <a:xfrm xmlns:a="http://schemas.openxmlformats.org/drawingml/2006/main">
            <a:off x="647700" y="51244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REACT + VITE + TYPESCRIPT    /    VERCEL-READY</a:t>
            </a:r>
          </a:p>
        </p:txBody>
      </p:sp>
      <p:sp>
        <p:nvSpPr>
          <p:cNvPr id="16" name="cover-team">
            <a:extLst xmlns:a="http://schemas.openxmlformats.org/drawingml/2006/main">
              <a:ext uri="{FF2B5EF4-FFF2-40B4-BE49-F238E27FC236}">
                <a16:creationId xmlns:a16="http://schemas.microsoft.com/office/drawing/2014/main" id="{A81457BF-E120-4FE8-BD9B-A25297569EAB}"/>
              </a:ext>
            </a:extLst>
          </p:cNvPr>
          <p:cNvSpPr>
            <a:spLocks xmlns:a="http://schemas.openxmlformats.org/drawingml/2006/main" noGrp="1"/>
          </p:cNvSpPr>
          <p:nvPr/>
        </p:nvSpPr>
        <p:spPr>
          <a:xfrm xmlns:a="http://schemas.openxmlformats.org/drawingml/2006/main">
            <a:off x="647700" y="55149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2-member hackathon team</a:t>
            </a:r>
          </a:p>
        </p:txBody>
      </p:sp>
      <p:sp>
        <p:nvSpPr>
          <p:cNvPr id="17" name="cover-date">
            <a:extLst xmlns:a="http://schemas.openxmlformats.org/drawingml/2006/main">
              <a:ext uri="{FF2B5EF4-FFF2-40B4-BE49-F238E27FC236}">
                <a16:creationId xmlns:a16="http://schemas.microsoft.com/office/drawing/2014/main" id="{8B04EE5A-7268-4F7C-AB2D-4BC752C8F2A5}"/>
              </a:ext>
            </a:extLst>
          </p:cNvPr>
          <p:cNvSpPr>
            <a:spLocks xmlns:a="http://schemas.openxmlformats.org/drawingml/2006/main" noGrp="1"/>
          </p:cNvSpPr>
          <p:nvPr/>
        </p:nvSpPr>
        <p:spPr>
          <a:xfrm xmlns:a="http://schemas.openxmlformats.org/drawingml/2006/main">
            <a:off x="647700" y="57435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18 SEPTEMBER 2026</a:t>
            </a:r>
          </a:p>
        </p:txBody>
      </p:sp>
      <p:sp>
        <p:nvSpPr>
          <p:cNvPr id="18" name="footer-rule-1">
            <a:extLst xmlns:a="http://schemas.openxmlformats.org/drawingml/2006/main">
              <a:ext uri="{FF2B5EF4-FFF2-40B4-BE49-F238E27FC236}">
                <a16:creationId xmlns:a16="http://schemas.microsoft.com/office/drawing/2014/main" id="{C2636D74-8BDA-4AF6-AE41-C3417F9A5BF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9" name="footer-brand-1">
            <a:extLst xmlns:a="http://schemas.openxmlformats.org/drawingml/2006/main">
              <a:ext uri="{FF2B5EF4-FFF2-40B4-BE49-F238E27FC236}">
                <a16:creationId xmlns:a16="http://schemas.microsoft.com/office/drawing/2014/main" id="{806EECDE-A2B1-4C9E-8DF2-063C7C15C159}"/>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0" name="footer-page-1">
            <a:extLst xmlns:a="http://schemas.openxmlformats.org/drawingml/2006/main">
              <a:ext uri="{FF2B5EF4-FFF2-40B4-BE49-F238E27FC236}">
                <a16:creationId xmlns:a16="http://schemas.microsoft.com/office/drawing/2014/main" id="{DE5B4A47-E1E2-4EE5-8F16-E18283EEAD8D}"/>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01 / 13</a:t>
            </a:r>
          </a:p>
        </p:txBody>
      </p:sp>
    </p:spTree>
    <p:extLst>
      <p:ext uri="{BB962C8B-B14F-4D97-AF65-F5344CB8AC3E}">
        <p14:creationId xmlns:p14="http://schemas.microsoft.com/office/powerpoint/2010/main" val="1015378415"/>
      </p:ext>
    </p:extLst>
  </p:cSld>
</p:sld>
</file>

<file path=ppt/slides/slide2.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7" name="problem-kicker">
            <a:extLst xmlns:a="http://schemas.openxmlformats.org/drawingml/2006/main">
              <a:ext uri="{FF2B5EF4-FFF2-40B4-BE49-F238E27FC236}">
                <a16:creationId xmlns:a16="http://schemas.microsoft.com/office/drawing/2014/main" id="{58623C3D-E74F-4BAB-81C5-85545DCE680A}"/>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2756C"/>
                </a:solidFill>
                <a:latin typeface="Helvetica Neue"/>
                <a:ea typeface="Helvetica Neue"/>
                <a:cs typeface="Helvetica Neue"/>
              </a:defRPr>
            </a:pPr>
            <a:r>
              <a:rPr sz="900" b="1" i="0">
                <a:solidFill>
                  <a:srgbClr val="F2756C"/>
                </a:solidFill>
                <a:latin typeface="Helvetica Neue"/>
                <a:ea typeface="Helvetica Neue"/>
                <a:cs typeface="Helvetica Neue"/>
              </a:rPr>
              <a:t>THE INVESTIGATION GAP</a:t>
            </a:r>
          </a:p>
        </p:txBody>
      </p:sp>
      <p:sp>
        <p:nvSpPr>
          <p:cNvPr id="2" name="problem-title">
            <a:extLst xmlns:a="http://schemas.openxmlformats.org/drawingml/2006/main">
              <a:ext uri="{FF2B5EF4-FFF2-40B4-BE49-F238E27FC236}">
                <a16:creationId xmlns:a16="http://schemas.microsoft.com/office/drawing/2014/main" id="{DF7B5C7A-BFF6-4F7C-951C-892561F5CF04}"/>
              </a:ext>
            </a:extLst>
          </p:cNvPr>
          <p:cNvSpPr>
            <a:spLocks xmlns:a="http://schemas.openxmlformats.org/drawingml/2006/main" noGrp="1"/>
          </p:cNvSpPr>
          <p:nvPr/>
        </p:nvSpPr>
        <p:spPr>
          <a:xfrm xmlns:a="http://schemas.openxmlformats.org/drawingml/2006/main">
            <a:off x="609600" y="828675"/>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Transaction alerts stop at the flag</a:t>
            </a:r>
          </a:p>
        </p:txBody>
      </p:sp>
      <p:sp>
        <p:nvSpPr>
          <p:cNvPr id="3" name="problem-subtitle">
            <a:extLst xmlns:a="http://schemas.openxmlformats.org/drawingml/2006/main">
              <a:ext uri="{FF2B5EF4-FFF2-40B4-BE49-F238E27FC236}">
                <a16:creationId xmlns:a16="http://schemas.microsoft.com/office/drawing/2014/main" id="{9803CB88-051F-459E-B618-28114F588BC4}"/>
              </a:ext>
            </a:extLst>
          </p:cNvPr>
          <p:cNvSpPr>
            <a:spLocks xmlns:a="http://schemas.openxmlformats.org/drawingml/2006/main" noGrp="1"/>
          </p:cNvSpPr>
          <p:nvPr/>
        </p:nvSpPr>
        <p:spPr>
          <a:xfrm xmlns:a="http://schemas.openxmlformats.org/drawingml/2006/main">
            <a:off x="628650" y="148590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still needs to answer one question: where did the money move next?</a:t>
            </a:r>
          </a:p>
        </p:txBody>
      </p:sp>
      <p:sp>
        <p:nvSpPr>
          <p:cNvPr id="4" name="problem-rule">
            <a:extLst xmlns:a="http://schemas.openxmlformats.org/drawingml/2006/main">
              <a:ext uri="{FF2B5EF4-FFF2-40B4-BE49-F238E27FC236}">
                <a16:creationId xmlns:a16="http://schemas.microsoft.com/office/drawing/2014/main" id="{57ECF28F-8BD9-44B1-831B-F56FB6DE6C0E}"/>
              </a:ext>
            </a:extLst>
          </p:cNvPr>
          <p:cNvSpPr>
            <a:spLocks xmlns:a="http://schemas.openxmlformats.org/drawingml/2006/main" noGrp="1"/>
          </p:cNvSpPr>
          <p:nvPr/>
        </p:nvSpPr>
        <p:spPr>
          <a:xfrm xmlns:a="http://schemas.openxmlformats.org/drawingml/2006/main">
            <a:off x="609600" y="20955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problem-inbound">
            <a:extLst xmlns:a="http://schemas.openxmlformats.org/drawingml/2006/main">
              <a:ext uri="{FF2B5EF4-FFF2-40B4-BE49-F238E27FC236}">
                <a16:creationId xmlns:a16="http://schemas.microsoft.com/office/drawing/2014/main" id="{74817334-C761-49F9-BA59-E74066EB8803}"/>
              </a:ext>
            </a:extLst>
          </p:cNvPr>
          <p:cNvSpPr>
            <a:spLocks xmlns:a="http://schemas.openxmlformats.org/drawingml/2006/main" noGrp="1"/>
          </p:cNvSpPr>
          <p:nvPr/>
        </p:nvSpPr>
        <p:spPr>
          <a:xfrm xmlns:a="http://schemas.openxmlformats.org/drawingml/2006/main">
            <a:off x="800100" y="2981325"/>
            <a:ext cx="20383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6" name="problem-inbound-title">
            <a:extLst xmlns:a="http://schemas.openxmlformats.org/drawingml/2006/main">
              <a:ext uri="{FF2B5EF4-FFF2-40B4-BE49-F238E27FC236}">
                <a16:creationId xmlns:a16="http://schemas.microsoft.com/office/drawing/2014/main" id="{2C060DB8-1213-4011-BD2D-97B088BD3855}"/>
              </a:ext>
            </a:extLst>
          </p:cNvPr>
          <p:cNvSpPr>
            <a:spLocks xmlns:a="http://schemas.openxmlformats.org/drawingml/2006/main" noGrp="1"/>
          </p:cNvSpPr>
          <p:nvPr/>
        </p:nvSpPr>
        <p:spPr>
          <a:xfrm xmlns:a="http://schemas.openxmlformats.org/drawingml/2006/main">
            <a:off x="933450" y="3095625"/>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258"/>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Many inbound payments</a:t>
            </a:r>
          </a:p>
        </p:txBody>
      </p:sp>
      <p:sp>
        <p:nvSpPr>
          <p:cNvPr id="7" name="problem-inbound-body">
            <a:extLst xmlns:a="http://schemas.openxmlformats.org/drawingml/2006/main">
              <a:ext uri="{FF2B5EF4-FFF2-40B4-BE49-F238E27FC236}">
                <a16:creationId xmlns:a16="http://schemas.microsoft.com/office/drawing/2014/main" id="{D648F975-5D76-4387-BCC6-5A60C96D913C}"/>
              </a:ext>
            </a:extLst>
          </p:cNvPr>
          <p:cNvSpPr>
            <a:spLocks xmlns:a="http://schemas.openxmlformats.org/drawingml/2006/main" noGrp="1"/>
          </p:cNvSpPr>
          <p:nvPr/>
        </p:nvSpPr>
        <p:spPr>
          <a:xfrm xmlns:a="http://schemas.openxmlformats.org/drawingml/2006/main">
            <a:off x="933450" y="3362325"/>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8 senders / ₹40,000 observed</a:t>
            </a:r>
          </a:p>
        </p:txBody>
      </p:sp>
      <p:sp>
        <p:nvSpPr>
          <p:cNvPr id="8" name="problem-focal">
            <a:extLst xmlns:a="http://schemas.openxmlformats.org/drawingml/2006/main">
              <a:ext uri="{FF2B5EF4-FFF2-40B4-BE49-F238E27FC236}">
                <a16:creationId xmlns:a16="http://schemas.microsoft.com/office/drawing/2014/main" id="{7C022D15-2356-4BA2-95F7-C5867DEDA7A1}"/>
              </a:ext>
            </a:extLst>
          </p:cNvPr>
          <p:cNvSpPr>
            <a:spLocks xmlns:a="http://schemas.openxmlformats.org/drawingml/2006/main" noGrp="1"/>
          </p:cNvSpPr>
          <p:nvPr/>
        </p:nvSpPr>
        <p:spPr>
          <a:xfrm xmlns:a="http://schemas.openxmlformats.org/drawingml/2006/main">
            <a:off x="3505200" y="2981325"/>
            <a:ext cx="1847850" cy="819150"/>
          </a:xfrm>
          <a:prstGeom xmlns:a="http://schemas.openxmlformats.org/drawingml/2006/main" prst="roundRect">
            <a:avLst>
              <a:gd name="adj" fmla="val 16279"/>
            </a:avLst>
          </a:prstGeom>
          <a:solidFill xmlns:a="http://schemas.openxmlformats.org/drawingml/2006/main">
            <a:srgbClr val="2F6FE5"/>
          </a:solidFill>
          <a:ln xmlns:a="http://schemas.openxmlformats.org/drawingml/2006/main" w="9525">
            <a:solidFill>
              <a:srgbClr val="77A4FF"/>
            </a:solidFill>
            <a:prstDash val="solid"/>
          </a:ln>
        </p:spPr>
      </p:sp>
      <p:sp>
        <p:nvSpPr>
          <p:cNvPr id="9" name="problem-focal-title">
            <a:extLst xmlns:a="http://schemas.openxmlformats.org/drawingml/2006/main">
              <a:ext uri="{FF2B5EF4-FFF2-40B4-BE49-F238E27FC236}">
                <a16:creationId xmlns:a16="http://schemas.microsoft.com/office/drawing/2014/main" id="{EDF4679E-1B89-4835-8312-91C7101924DF}"/>
              </a:ext>
            </a:extLst>
          </p:cNvPr>
          <p:cNvSpPr>
            <a:spLocks xmlns:a="http://schemas.openxmlformats.org/drawingml/2006/main" noGrp="1"/>
          </p:cNvSpPr>
          <p:nvPr/>
        </p:nvSpPr>
        <p:spPr>
          <a:xfrm xmlns:a="http://schemas.openxmlformats.org/drawingml/2006/main">
            <a:off x="3638550" y="3095625"/>
            <a:ext cx="1581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Focal account</a:t>
            </a:r>
          </a:p>
        </p:txBody>
      </p:sp>
      <p:sp>
        <p:nvSpPr>
          <p:cNvPr id="10" name="problem-focal-body">
            <a:extLst xmlns:a="http://schemas.openxmlformats.org/drawingml/2006/main">
              <a:ext uri="{FF2B5EF4-FFF2-40B4-BE49-F238E27FC236}">
                <a16:creationId xmlns:a16="http://schemas.microsoft.com/office/drawing/2014/main" id="{443A5BBF-C3F8-419A-9B3C-06450D48646E}"/>
              </a:ext>
            </a:extLst>
          </p:cNvPr>
          <p:cNvSpPr>
            <a:spLocks xmlns:a="http://schemas.openxmlformats.org/drawingml/2006/main" noGrp="1"/>
          </p:cNvSpPr>
          <p:nvPr/>
        </p:nvSpPr>
        <p:spPr>
          <a:xfrm xmlns:a="http://schemas.openxmlformats.org/drawingml/2006/main">
            <a:off x="3638550" y="336232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A101 becomes the review target</a:t>
            </a:r>
          </a:p>
        </p:txBody>
      </p:sp>
      <p:sp>
        <p:nvSpPr>
          <p:cNvPr id="11" name="problem-outward">
            <a:extLst xmlns:a="http://schemas.openxmlformats.org/drawingml/2006/main">
              <a:ext uri="{FF2B5EF4-FFF2-40B4-BE49-F238E27FC236}">
                <a16:creationId xmlns:a16="http://schemas.microsoft.com/office/drawing/2014/main" id="{1CD36CA1-3EBF-4B4D-955B-7FD66B2838F7}"/>
              </a:ext>
            </a:extLst>
          </p:cNvPr>
          <p:cNvSpPr>
            <a:spLocks xmlns:a="http://schemas.openxmlformats.org/drawingml/2006/main" noGrp="1"/>
          </p:cNvSpPr>
          <p:nvPr/>
        </p:nvSpPr>
        <p:spPr>
          <a:xfrm xmlns:a="http://schemas.openxmlformats.org/drawingml/2006/main">
            <a:off x="6019800" y="2352675"/>
            <a:ext cx="21526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12" name="problem-outward-title">
            <a:extLst xmlns:a="http://schemas.openxmlformats.org/drawingml/2006/main">
              <a:ext uri="{FF2B5EF4-FFF2-40B4-BE49-F238E27FC236}">
                <a16:creationId xmlns:a16="http://schemas.microsoft.com/office/drawing/2014/main" id="{0A327F36-7133-4C46-BE3F-6E455F7EBE62}"/>
              </a:ext>
            </a:extLst>
          </p:cNvPr>
          <p:cNvSpPr>
            <a:spLocks xmlns:a="http://schemas.openxmlformats.org/drawingml/2006/main" noGrp="1"/>
          </p:cNvSpPr>
          <p:nvPr/>
        </p:nvSpPr>
        <p:spPr>
          <a:xfrm xmlns:a="http://schemas.openxmlformats.org/drawingml/2006/main">
            <a:off x="6153150" y="2466975"/>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825"/>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Fast outward movement</a:t>
            </a:r>
          </a:p>
        </p:txBody>
      </p:sp>
      <p:sp>
        <p:nvSpPr>
          <p:cNvPr id="13" name="problem-outward-body">
            <a:extLst xmlns:a="http://schemas.openxmlformats.org/drawingml/2006/main">
              <a:ext uri="{FF2B5EF4-FFF2-40B4-BE49-F238E27FC236}">
                <a16:creationId xmlns:a16="http://schemas.microsoft.com/office/drawing/2014/main" id="{ADF9DA83-C9EB-4AF2-8BED-84CC5DAEEA7A}"/>
              </a:ext>
            </a:extLst>
          </p:cNvPr>
          <p:cNvSpPr>
            <a:spLocks xmlns:a="http://schemas.openxmlformats.org/drawingml/2006/main" noGrp="1"/>
          </p:cNvSpPr>
          <p:nvPr/>
        </p:nvSpPr>
        <p:spPr>
          <a:xfrm xmlns:a="http://schemas.openxmlformats.org/drawingml/2006/main">
            <a:off x="6153150" y="2733675"/>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A201 and A202 receive funds</a:t>
            </a:r>
          </a:p>
        </p:txBody>
      </p:sp>
      <p:sp>
        <p:nvSpPr>
          <p:cNvPr id="14" name="problem-destination">
            <a:extLst xmlns:a="http://schemas.openxmlformats.org/drawingml/2006/main">
              <a:ext uri="{FF2B5EF4-FFF2-40B4-BE49-F238E27FC236}">
                <a16:creationId xmlns:a16="http://schemas.microsoft.com/office/drawing/2014/main" id="{F5831F17-87AD-428B-BFC4-EFEDFB524EBD}"/>
              </a:ext>
            </a:extLst>
          </p:cNvPr>
          <p:cNvSpPr>
            <a:spLocks xmlns:a="http://schemas.openxmlformats.org/drawingml/2006/main" noGrp="1"/>
          </p:cNvSpPr>
          <p:nvPr/>
        </p:nvSpPr>
        <p:spPr>
          <a:xfrm xmlns:a="http://schemas.openxmlformats.org/drawingml/2006/main">
            <a:off x="8820150" y="3333750"/>
            <a:ext cx="2038350" cy="819150"/>
          </a:xfrm>
          <a:prstGeom xmlns:a="http://schemas.openxmlformats.org/drawingml/2006/main" prst="roundRect">
            <a:avLst>
              <a:gd name="adj" fmla="val 16279"/>
            </a:avLst>
          </a:prstGeom>
          <a:solidFill xmlns:a="http://schemas.openxmlformats.org/drawingml/2006/main">
            <a:srgbClr val="143A3A"/>
          </a:solidFill>
          <a:ln xmlns:a="http://schemas.openxmlformats.org/drawingml/2006/main" w="9525">
            <a:solidFill>
              <a:srgbClr val="3B8F84"/>
            </a:solidFill>
            <a:prstDash val="solid"/>
          </a:ln>
        </p:spPr>
      </p:sp>
      <p:sp>
        <p:nvSpPr>
          <p:cNvPr id="15" name="problem-destination-title">
            <a:extLst xmlns:a="http://schemas.openxmlformats.org/drawingml/2006/main">
              <a:ext uri="{FF2B5EF4-FFF2-40B4-BE49-F238E27FC236}">
                <a16:creationId xmlns:a16="http://schemas.microsoft.com/office/drawing/2014/main" id="{5A5A8229-3C06-4DD0-9310-6EEE93D2CE45}"/>
              </a:ext>
            </a:extLst>
          </p:cNvPr>
          <p:cNvSpPr>
            <a:spLocks xmlns:a="http://schemas.openxmlformats.org/drawingml/2006/main" noGrp="1"/>
          </p:cNvSpPr>
          <p:nvPr/>
        </p:nvSpPr>
        <p:spPr>
          <a:xfrm xmlns:a="http://schemas.openxmlformats.org/drawingml/2006/main">
            <a:off x="8953500" y="3448050"/>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Shared destination</a:t>
            </a:r>
          </a:p>
        </p:txBody>
      </p:sp>
      <p:sp>
        <p:nvSpPr>
          <p:cNvPr id="16" name="problem-destination-body">
            <a:extLst xmlns:a="http://schemas.openxmlformats.org/drawingml/2006/main">
              <a:ext uri="{FF2B5EF4-FFF2-40B4-BE49-F238E27FC236}">
                <a16:creationId xmlns:a16="http://schemas.microsoft.com/office/drawing/2014/main" id="{72E6EBF8-1A3C-4E75-973D-4269A2AA9E33}"/>
              </a:ext>
            </a:extLst>
          </p:cNvPr>
          <p:cNvSpPr>
            <a:spLocks xmlns:a="http://schemas.openxmlformats.org/drawingml/2006/main" noGrp="1"/>
          </p:cNvSpPr>
          <p:nvPr/>
        </p:nvSpPr>
        <p:spPr>
          <a:xfrm xmlns:a="http://schemas.openxmlformats.org/drawingml/2006/main">
            <a:off x="8953500" y="371475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9E8DF"/>
                </a:solidFill>
                <a:latin typeface="Helvetica Neue"/>
                <a:ea typeface="Helvetica Neue"/>
                <a:cs typeface="Helvetica Neue"/>
              </a:defRPr>
            </a:pPr>
            <a:r>
              <a:rPr sz="900" b="0" i="0">
                <a:solidFill>
                  <a:srgbClr val="B9E8DF"/>
                </a:solidFill>
                <a:latin typeface="Helvetica Neue"/>
                <a:ea typeface="Helvetica Neue"/>
                <a:cs typeface="Helvetica Neue"/>
              </a:rPr>
              <a:t>A301 closes the visible story</a:t>
            </a:r>
          </a:p>
        </p:txBody>
      </p:sp>
      <p:cxnSp>
        <p:nvCxnSpPr>
          <p:cNvPr id="43" name=""/>
          <p:cNvCxnSpPr>
            <a:stCxn xmlns:a="http://schemas.openxmlformats.org/drawingml/2006/main" id="5" idx="3"/>
            <a:endCxn xmlns:a="http://schemas.openxmlformats.org/drawingml/2006/main" id="8" idx="1"/>
          </p:cNvCxnSpPr>
          <p:nvPr/>
        </p:nvCxnSpPr>
        <p:spPr>
          <a:xfrm xmlns:a="http://schemas.openxmlformats.org/drawingml/2006/main">
            <a:off x="2838450" y="3390900"/>
            <a:ext cx="666750" cy="0"/>
          </a:xfrm>
          <a:prstGeom xmlns:a="http://schemas.openxmlformats.org/drawingml/2006/main" prst="straightConnector1">
            <a:avLst/>
          </a:prstGeom>
          <a:ln xmlns:a="http://schemas.openxmlformats.org/drawingml/2006/main" w="19050">
            <a:solidFill>
              <a:srgbClr val="5478A5"/>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353050" y="2762250"/>
            <a:ext cx="666750" cy="628650"/>
          </a:xfrm>
          <a:prstGeom xmlns:a="http://schemas.openxmlformats.org/drawingml/2006/main" prst="bentConnector3">
            <a:avLst>
              <a:gd name="adj1" fmla="val 50000"/>
            </a:avLst>
          </a:prstGeom>
          <a:ln xmlns:a="http://schemas.openxmlformats.org/drawingml/2006/main" w="23813">
            <a:solidFill>
              <a:srgbClr val="5D8EFF"/>
            </a:solidFill>
            <a:prstDash val="solid"/>
            <a:tailEnd type="triangle" w="sm" len="sm"/>
          </a:ln>
        </p:spPr>
      </p:cxnSp>
      <p:cxnSp>
        <p:nvCxnSpPr>
          <p:cNvPr id="45" name=""/>
          <p:cNvCxnSpPr>
            <a:stCxn xmlns:a="http://schemas.openxmlformats.org/drawingml/2006/main" id="11" idx="3"/>
            <a:endCxn xmlns:a="http://schemas.openxmlformats.org/drawingml/2006/main" id="14" idx="1"/>
          </p:cNvCxnSpPr>
          <p:nvPr/>
        </p:nvCxnSpPr>
        <p:spPr>
          <a:xfrm xmlns:a="http://schemas.openxmlformats.org/drawingml/2006/main">
            <a:off x="8172450" y="2762250"/>
            <a:ext cx="647700" cy="981075"/>
          </a:xfrm>
          <a:prstGeom xmlns:a="http://schemas.openxmlformats.org/drawingml/2006/main" prst="bentConnector3">
            <a:avLst>
              <a:gd name="adj1" fmla="val 50000"/>
            </a:avLst>
          </a:prstGeom>
          <a:ln xmlns:a="http://schemas.openxmlformats.org/drawingml/2006/main" w="23813">
            <a:solidFill>
              <a:srgbClr val="63E0C5"/>
            </a:solidFill>
            <a:prstDash val="solid"/>
            <a:tailEnd type="triangle" w="sm" len="sm"/>
          </a:ln>
        </p:spPr>
      </p:cxnSp>
      <p:sp>
        <p:nvSpPr>
          <p:cNvPr id="20" name="problem-question">
            <a:extLst xmlns:a="http://schemas.openxmlformats.org/drawingml/2006/main">
              <a:ext uri="{FF2B5EF4-FFF2-40B4-BE49-F238E27FC236}">
                <a16:creationId xmlns:a16="http://schemas.microsoft.com/office/drawing/2014/main" id="{1FD86012-FC54-4C72-A261-FF0AE6761B8C}"/>
              </a:ext>
            </a:extLst>
          </p:cNvPr>
          <p:cNvSpPr>
            <a:spLocks xmlns:a="http://schemas.openxmlformats.org/drawingml/2006/main" noGrp="1"/>
          </p:cNvSpPr>
          <p:nvPr/>
        </p:nvSpPr>
        <p:spPr>
          <a:xfrm xmlns:a="http://schemas.openxmlformats.org/drawingml/2006/main">
            <a:off x="800100" y="472440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6F9FF"/>
                </a:solidFill>
                <a:latin typeface="Helvetica Neue"/>
                <a:ea typeface="Helvetica Neue"/>
                <a:cs typeface="Helvetica Neue"/>
              </a:defRPr>
            </a:pPr>
            <a:r>
              <a:rPr sz="1950" b="1" i="0">
                <a:solidFill>
                  <a:srgbClr val="F6F9FF"/>
                </a:solidFill>
                <a:latin typeface="Helvetica Neue"/>
                <a:ea typeface="Helvetica Neue"/>
                <a:cs typeface="Helvetica Neue"/>
              </a:rPr>
              <a:t>A score without a sequence leaves the review unfinished.</a:t>
            </a:r>
          </a:p>
        </p:txBody>
      </p:sp>
      <p:sp>
        <p:nvSpPr>
          <p:cNvPr id="21" name="problem-answer">
            <a:extLst xmlns:a="http://schemas.openxmlformats.org/drawingml/2006/main">
              <a:ext uri="{FF2B5EF4-FFF2-40B4-BE49-F238E27FC236}">
                <a16:creationId xmlns:a16="http://schemas.microsoft.com/office/drawing/2014/main" id="{A9662E17-C577-4C43-A5AB-268CDA35ADF8}"/>
              </a:ext>
            </a:extLst>
          </p:cNvPr>
          <p:cNvSpPr>
            <a:spLocks xmlns:a="http://schemas.openxmlformats.org/drawingml/2006/main" noGrp="1"/>
          </p:cNvSpPr>
          <p:nvPr/>
        </p:nvSpPr>
        <p:spPr>
          <a:xfrm xmlns:a="http://schemas.openxmlformats.org/drawingml/2006/main">
            <a:off x="819150" y="5381625"/>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56"/>
          </a:bodyPr>
          <a:lstStyle xmlns:a="http://schemas.openxmlformats.org/drawingml/2006/main"/>
          <a:p xmlns:a="http://schemas.openxmlformats.org/drawingml/2006/main">
            <a:pPr algn="l">
              <a:lnSpc>
                <a:spcPct val="125000"/>
              </a:lnSpc>
              <a:buNone/>
              <a:defRPr sz="1275" b="0" i="0">
                <a:solidFill>
                  <a:srgbClr val="8EA2BE"/>
                </a:solidFill>
                <a:latin typeface="Helvetica Neue"/>
                <a:ea typeface="Helvetica Neue"/>
                <a:cs typeface="Helvetica Neue"/>
              </a:defRPr>
            </a:pPr>
            <a:r>
              <a:rPr sz="1275" b="0" i="0">
                <a:solidFill>
                  <a:srgbClr val="8EA2BE"/>
                </a:solidFill>
                <a:latin typeface="Helvetica Neue"/>
                <a:ea typeface="Helvetica Neue"/>
                <a:cs typeface="Helvetica Neue"/>
              </a:rPr>
              <a:t>FINTRACE keeps the observed time order visible so an analyst can inspect the evidence behind the signal.</a:t>
            </a:r>
          </a:p>
        </p:txBody>
      </p:sp>
      <p:sp>
        <p:nvSpPr>
          <p:cNvPr id="22" name="problem-flag">
            <a:extLst xmlns:a="http://schemas.openxmlformats.org/drawingml/2006/main">
              <a:ext uri="{FF2B5EF4-FFF2-40B4-BE49-F238E27FC236}">
                <a16:creationId xmlns:a16="http://schemas.microsoft.com/office/drawing/2014/main" id="{9FCEBE05-15A4-4211-8306-5BF61316B06E}"/>
              </a:ext>
            </a:extLst>
          </p:cNvPr>
          <p:cNvSpPr>
            <a:spLocks xmlns:a="http://schemas.openxmlformats.org/drawingml/2006/main" noGrp="1"/>
          </p:cNvSpPr>
          <p:nvPr/>
        </p:nvSpPr>
        <p:spPr>
          <a:xfrm xmlns:a="http://schemas.openxmlformats.org/drawingml/2006/main">
            <a:off x="9144000" y="4743450"/>
            <a:ext cx="1714500" cy="514350"/>
          </a:xfrm>
          <a:prstGeom xmlns:a="http://schemas.openxmlformats.org/drawingml/2006/main" prst="roundRect">
            <a:avLst>
              <a:gd name="adj" fmla="val 22222"/>
            </a:avLst>
          </a:prstGeom>
          <a:solidFill xmlns:a="http://schemas.openxmlformats.org/drawingml/2006/main">
            <a:srgbClr val="FFF0EE"/>
          </a:solidFill>
          <a:ln xmlns:a="http://schemas.openxmlformats.org/drawingml/2006/main" w="9525">
            <a:solidFill>
              <a:srgbClr val="F7A49E"/>
            </a:solidFill>
            <a:prstDash val="solid"/>
          </a:ln>
        </p:spPr>
      </p:sp>
      <p:sp>
        <p:nvSpPr>
          <p:cNvPr id="23" name="problem-flag-text">
            <a:extLst xmlns:a="http://schemas.openxmlformats.org/drawingml/2006/main">
              <a:ext uri="{FF2B5EF4-FFF2-40B4-BE49-F238E27FC236}">
                <a16:creationId xmlns:a16="http://schemas.microsoft.com/office/drawing/2014/main" id="{393CB4D5-7091-48C8-9416-0843A9CB52C1}"/>
              </a:ext>
            </a:extLst>
          </p:cNvPr>
          <p:cNvSpPr>
            <a:spLocks xmlns:a="http://schemas.openxmlformats.org/drawingml/2006/main" noGrp="1"/>
          </p:cNvSpPr>
          <p:nvPr/>
        </p:nvSpPr>
        <p:spPr>
          <a:xfrm xmlns:a="http://schemas.openxmlformats.org/drawingml/2006/main">
            <a:off x="9144000" y="49149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B84D49"/>
                </a:solidFill>
                <a:latin typeface="Helvetica Neue"/>
                <a:ea typeface="Helvetica Neue"/>
                <a:cs typeface="Helvetica Neue"/>
              </a:defRPr>
            </a:pPr>
            <a:r>
              <a:rPr sz="900" b="1" i="0">
                <a:solidFill>
                  <a:srgbClr val="B84D49"/>
                </a:solidFill>
                <a:latin typeface="Helvetica Neue"/>
                <a:ea typeface="Helvetica Neue"/>
                <a:cs typeface="Helvetica Neue"/>
              </a:rPr>
              <a:t>FLAGGED ≠ EXPLAINED</a:t>
            </a:r>
          </a:p>
        </p:txBody>
      </p:sp>
      <p:sp>
        <p:nvSpPr>
          <p:cNvPr id="24" name="footer-rule-2">
            <a:extLst xmlns:a="http://schemas.openxmlformats.org/drawingml/2006/main">
              <a:ext uri="{FF2B5EF4-FFF2-40B4-BE49-F238E27FC236}">
                <a16:creationId xmlns:a16="http://schemas.microsoft.com/office/drawing/2014/main" id="{0547A026-527E-4581-B317-13AAF281DEF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25" name="footer-brand-2">
            <a:extLst xmlns:a="http://schemas.openxmlformats.org/drawingml/2006/main">
              <a:ext uri="{FF2B5EF4-FFF2-40B4-BE49-F238E27FC236}">
                <a16:creationId xmlns:a16="http://schemas.microsoft.com/office/drawing/2014/main" id="{3E7387EF-C62F-4F59-8D77-36D33F7BDA75}"/>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6" name="footer-page-2">
            <a:extLst xmlns:a="http://schemas.openxmlformats.org/drawingml/2006/main">
              <a:ext uri="{FF2B5EF4-FFF2-40B4-BE49-F238E27FC236}">
                <a16:creationId xmlns:a16="http://schemas.microsoft.com/office/drawing/2014/main" id="{AF5FD75A-A164-4A20-95A7-7EE01498E1CB}"/>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02 / 13</a:t>
            </a:r>
          </a:p>
        </p:txBody>
      </p:sp>
    </p:spTree>
    <p:extLst>
      <p:ext uri="{BB962C8B-B14F-4D97-AF65-F5344CB8AC3E}">
        <p14:creationId xmlns:p14="http://schemas.microsoft.com/office/powerpoint/2010/main" val="1005924282"/>
      </p:ext>
    </p:extLst>
  </p:cSld>
</p:sld>
</file>

<file path=ppt/slides/slide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52" name="architecture-kicker">
            <a:extLst xmlns:a="http://schemas.openxmlformats.org/drawingml/2006/main">
              <a:ext uri="{FF2B5EF4-FFF2-40B4-BE49-F238E27FC236}">
                <a16:creationId xmlns:a16="http://schemas.microsoft.com/office/drawing/2014/main" id="{0E47EE78-1BCB-4B0C-9DA3-B7EC7E165F66}"/>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SYSTEM ARCHITECTURE</a:t>
            </a:r>
          </a:p>
        </p:txBody>
      </p:sp>
      <p:sp>
        <p:nvSpPr>
          <p:cNvPr id="2" name="architecture-title">
            <a:extLst xmlns:a="http://schemas.openxmlformats.org/drawingml/2006/main">
              <a:ext uri="{FF2B5EF4-FFF2-40B4-BE49-F238E27FC236}">
                <a16:creationId xmlns:a16="http://schemas.microsoft.com/office/drawing/2014/main" id="{6901ABA6-0574-4965-B205-B84ECCFD1A9F}"/>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One engine connects the entire review</a:t>
            </a:r>
          </a:p>
        </p:txBody>
      </p:sp>
      <p:sp>
        <p:nvSpPr>
          <p:cNvPr id="3" name="architecture-subtitle">
            <a:extLst xmlns:a="http://schemas.openxmlformats.org/drawingml/2006/main">
              <a:ext uri="{FF2B5EF4-FFF2-40B4-BE49-F238E27FC236}">
                <a16:creationId xmlns:a16="http://schemas.microsoft.com/office/drawing/2014/main" id="{58F5E503-F70D-4D1F-812C-4446FFFA8A85}"/>
              </a:ext>
            </a:extLst>
          </p:cNvPr>
          <p:cNvSpPr>
            <a:spLocks xmlns:a="http://schemas.openxmlformats.org/drawingml/2006/main" noGrp="1"/>
          </p:cNvSpPr>
          <p:nvPr/>
        </p:nvSpPr>
        <p:spPr>
          <a:xfrm xmlns:a="http://schemas.openxmlformats.org/drawingml/2006/main">
            <a:off x="628650" y="148590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Records enter once. A normalized, cutoff-aware snapshot feeds every analyst surface.</a:t>
            </a:r>
          </a:p>
        </p:txBody>
      </p:sp>
      <p:sp>
        <p:nvSpPr>
          <p:cNvPr id="4" name="architecture-rule">
            <a:extLst xmlns:a="http://schemas.openxmlformats.org/drawingml/2006/main">
              <a:ext uri="{FF2B5EF4-FFF2-40B4-BE49-F238E27FC236}">
                <a16:creationId xmlns:a16="http://schemas.microsoft.com/office/drawing/2014/main" id="{FEB344C2-1ED8-4593-8F46-0ABE012A8319}"/>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architecture-intake">
            <a:extLst xmlns:a="http://schemas.openxmlformats.org/drawingml/2006/main">
              <a:ext uri="{FF2B5EF4-FFF2-40B4-BE49-F238E27FC236}">
                <a16:creationId xmlns:a16="http://schemas.microsoft.com/office/drawing/2014/main" id="{0F32CA37-86E6-4F43-B961-4C2DEFEEE6E6}"/>
              </a:ext>
            </a:extLst>
          </p:cNvPr>
          <p:cNvSpPr>
            <a:spLocks xmlns:a="http://schemas.openxmlformats.org/drawingml/2006/main" noGrp="1"/>
          </p:cNvSpPr>
          <p:nvPr/>
        </p:nvSpPr>
        <p:spPr>
          <a:xfrm xmlns:a="http://schemas.openxmlformats.org/drawingml/2006/main">
            <a:off x="609600" y="2495550"/>
            <a:ext cx="2857500" cy="2724150"/>
          </a:xfrm>
          <a:prstGeom xmlns:a="http://schemas.openxmlformats.org/drawingml/2006/main" prst="roundRect">
            <a:avLst>
              <a:gd name="adj" fmla="val 629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architecture-intake-label">
            <a:extLst xmlns:a="http://schemas.openxmlformats.org/drawingml/2006/main">
              <a:ext uri="{FF2B5EF4-FFF2-40B4-BE49-F238E27FC236}">
                <a16:creationId xmlns:a16="http://schemas.microsoft.com/office/drawing/2014/main" id="{E3D5045E-B062-4C26-A76F-D8982EB113F2}"/>
              </a:ext>
            </a:extLst>
          </p:cNvPr>
          <p:cNvSpPr>
            <a:spLocks xmlns:a="http://schemas.openxmlformats.org/drawingml/2006/main" noGrp="1"/>
          </p:cNvSpPr>
          <p:nvPr/>
        </p:nvSpPr>
        <p:spPr>
          <a:xfrm xmlns:a="http://schemas.openxmlformats.org/drawingml/2006/main">
            <a:off x="83820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01 / INTAKE</a:t>
            </a:r>
          </a:p>
        </p:txBody>
      </p:sp>
      <p:sp>
        <p:nvSpPr>
          <p:cNvPr id="7" name="architecture-intake-title">
            <a:extLst xmlns:a="http://schemas.openxmlformats.org/drawingml/2006/main">
              <a:ext uri="{FF2B5EF4-FFF2-40B4-BE49-F238E27FC236}">
                <a16:creationId xmlns:a16="http://schemas.microsoft.com/office/drawing/2014/main" id="{E6619AE6-AEEA-4ECE-86BB-A066D3D11A67}"/>
              </a:ext>
            </a:extLst>
          </p:cNvPr>
          <p:cNvSpPr>
            <a:spLocks xmlns:a="http://schemas.openxmlformats.org/drawingml/2006/main" noGrp="1"/>
          </p:cNvSpPr>
          <p:nvPr/>
        </p:nvSpPr>
        <p:spPr>
          <a:xfrm xmlns:a="http://schemas.openxmlformats.org/drawingml/2006/main">
            <a:off x="83820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Authorised records</a:t>
            </a:r>
          </a:p>
        </p:txBody>
      </p:sp>
      <p:sp>
        <p:nvSpPr>
          <p:cNvPr id="8" name="architecture-intake-copy">
            <a:extLst xmlns:a="http://schemas.openxmlformats.org/drawingml/2006/main">
              <a:ext uri="{FF2B5EF4-FFF2-40B4-BE49-F238E27FC236}">
                <a16:creationId xmlns:a16="http://schemas.microsoft.com/office/drawing/2014/main" id="{1BA91877-2481-4C47-931F-69E3CD534D50}"/>
              </a:ext>
            </a:extLst>
          </p:cNvPr>
          <p:cNvSpPr>
            <a:spLocks xmlns:a="http://schemas.openxmlformats.org/drawingml/2006/main" noGrp="1"/>
          </p:cNvSpPr>
          <p:nvPr/>
        </p:nvSpPr>
        <p:spPr>
          <a:xfrm xmlns:a="http://schemas.openxmlformats.org/drawingml/2006/main">
            <a:off x="838200" y="33909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Demo fixture or validated CSV enters a single normalized contract.</a:t>
            </a:r>
          </a:p>
        </p:txBody>
      </p:sp>
      <p:sp>
        <p:nvSpPr>
          <p:cNvPr id="9" name="architecture-intake-rule-1">
            <a:extLst xmlns:a="http://schemas.openxmlformats.org/drawingml/2006/main">
              <a:ext uri="{FF2B5EF4-FFF2-40B4-BE49-F238E27FC236}">
                <a16:creationId xmlns:a16="http://schemas.microsoft.com/office/drawing/2014/main" id="{2D19386D-B0F6-4281-AC96-8E25FF12B076}"/>
              </a:ext>
            </a:extLst>
          </p:cNvPr>
          <p:cNvSpPr>
            <a:spLocks xmlns:a="http://schemas.openxmlformats.org/drawingml/2006/main" noGrp="1"/>
          </p:cNvSpPr>
          <p:nvPr/>
        </p:nvSpPr>
        <p:spPr>
          <a:xfrm xmlns:a="http://schemas.openxmlformats.org/drawingml/2006/main">
            <a:off x="838200" y="40195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0" name="architecture-intake-heading-1">
            <a:extLst xmlns:a="http://schemas.openxmlformats.org/drawingml/2006/main">
              <a:ext uri="{FF2B5EF4-FFF2-40B4-BE49-F238E27FC236}">
                <a16:creationId xmlns:a16="http://schemas.microsoft.com/office/drawing/2014/main" id="{1D397A88-DE8A-456F-A2C8-5BB1653BB787}"/>
              </a:ext>
            </a:extLst>
          </p:cNvPr>
          <p:cNvSpPr>
            <a:spLocks xmlns:a="http://schemas.openxmlformats.org/drawingml/2006/main" noGrp="1"/>
          </p:cNvSpPr>
          <p:nvPr/>
        </p:nvSpPr>
        <p:spPr>
          <a:xfrm xmlns:a="http://schemas.openxmlformats.org/drawingml/2006/main">
            <a:off x="83820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CSV parser</a:t>
            </a:r>
          </a:p>
        </p:txBody>
      </p:sp>
      <p:sp>
        <p:nvSpPr>
          <p:cNvPr id="11" name="architecture-intake-body-1">
            <a:extLst xmlns:a="http://schemas.openxmlformats.org/drawingml/2006/main">
              <a:ext uri="{FF2B5EF4-FFF2-40B4-BE49-F238E27FC236}">
                <a16:creationId xmlns:a16="http://schemas.microsoft.com/office/drawing/2014/main" id="{D8E3F532-EE20-4119-9BCE-3C5673198055}"/>
              </a:ext>
            </a:extLst>
          </p:cNvPr>
          <p:cNvSpPr>
            <a:spLocks xmlns:a="http://schemas.openxmlformats.org/drawingml/2006/main" noGrp="1"/>
          </p:cNvSpPr>
          <p:nvPr/>
        </p:nvSpPr>
        <p:spPr>
          <a:xfrm xmlns:a="http://schemas.openxmlformats.org/drawingml/2006/main">
            <a:off x="175260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Papa Parse tokenisation</a:t>
            </a:r>
          </a:p>
        </p:txBody>
      </p:sp>
      <p:sp>
        <p:nvSpPr>
          <p:cNvPr id="12" name="architecture-intake-rule-2">
            <a:extLst xmlns:a="http://schemas.openxmlformats.org/drawingml/2006/main">
              <a:ext uri="{FF2B5EF4-FFF2-40B4-BE49-F238E27FC236}">
                <a16:creationId xmlns:a16="http://schemas.microsoft.com/office/drawing/2014/main" id="{FDBBA2CF-9041-4774-BD6F-9A36C0DE6795}"/>
              </a:ext>
            </a:extLst>
          </p:cNvPr>
          <p:cNvSpPr>
            <a:spLocks xmlns:a="http://schemas.openxmlformats.org/drawingml/2006/main" noGrp="1"/>
          </p:cNvSpPr>
          <p:nvPr/>
        </p:nvSpPr>
        <p:spPr>
          <a:xfrm xmlns:a="http://schemas.openxmlformats.org/drawingml/2006/main">
            <a:off x="838200" y="434340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3" name="architecture-intake-heading-2">
            <a:extLst xmlns:a="http://schemas.openxmlformats.org/drawingml/2006/main">
              <a:ext uri="{FF2B5EF4-FFF2-40B4-BE49-F238E27FC236}">
                <a16:creationId xmlns:a16="http://schemas.microsoft.com/office/drawing/2014/main" id="{15559908-3A7F-47CB-917A-E085A9525A36}"/>
              </a:ext>
            </a:extLst>
          </p:cNvPr>
          <p:cNvSpPr>
            <a:spLocks xmlns:a="http://schemas.openxmlformats.org/drawingml/2006/main" noGrp="1"/>
          </p:cNvSpPr>
          <p:nvPr/>
        </p:nvSpPr>
        <p:spPr>
          <a:xfrm xmlns:a="http://schemas.openxmlformats.org/drawingml/2006/main">
            <a:off x="83820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Validation</a:t>
            </a:r>
          </a:p>
        </p:txBody>
      </p:sp>
      <p:sp>
        <p:nvSpPr>
          <p:cNvPr id="14" name="architecture-intake-body-2">
            <a:extLst xmlns:a="http://schemas.openxmlformats.org/drawingml/2006/main">
              <a:ext uri="{FF2B5EF4-FFF2-40B4-BE49-F238E27FC236}">
                <a16:creationId xmlns:a16="http://schemas.microsoft.com/office/drawing/2014/main" id="{B645F574-2299-4F35-BD55-DD6F4FF11E1A}"/>
              </a:ext>
            </a:extLst>
          </p:cNvPr>
          <p:cNvSpPr>
            <a:spLocks xmlns:a="http://schemas.openxmlformats.org/drawingml/2006/main" noGrp="1"/>
          </p:cNvSpPr>
          <p:nvPr/>
        </p:nvSpPr>
        <p:spPr>
          <a:xfrm xmlns:a="http://schemas.openxmlformats.org/drawingml/2006/main">
            <a:off x="175260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six required fields</a:t>
            </a:r>
          </a:p>
        </p:txBody>
      </p:sp>
      <p:sp>
        <p:nvSpPr>
          <p:cNvPr id="15" name="architecture-intake-rule-3">
            <a:extLst xmlns:a="http://schemas.openxmlformats.org/drawingml/2006/main">
              <a:ext uri="{FF2B5EF4-FFF2-40B4-BE49-F238E27FC236}">
                <a16:creationId xmlns:a16="http://schemas.microsoft.com/office/drawing/2014/main" id="{EB007181-0ED7-49BA-B770-667DFDA514AF}"/>
              </a:ext>
            </a:extLst>
          </p:cNvPr>
          <p:cNvSpPr>
            <a:spLocks xmlns:a="http://schemas.openxmlformats.org/drawingml/2006/main" noGrp="1"/>
          </p:cNvSpPr>
          <p:nvPr/>
        </p:nvSpPr>
        <p:spPr>
          <a:xfrm xmlns:a="http://schemas.openxmlformats.org/drawingml/2006/main">
            <a:off x="838200" y="46672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6" name="architecture-intake-heading-3">
            <a:extLst xmlns:a="http://schemas.openxmlformats.org/drawingml/2006/main">
              <a:ext uri="{FF2B5EF4-FFF2-40B4-BE49-F238E27FC236}">
                <a16:creationId xmlns:a16="http://schemas.microsoft.com/office/drawing/2014/main" id="{1C226DAC-64D7-4ACD-89AB-BD9906F7D171}"/>
              </a:ext>
            </a:extLst>
          </p:cNvPr>
          <p:cNvSpPr>
            <a:spLocks xmlns:a="http://schemas.openxmlformats.org/drawingml/2006/main" noGrp="1"/>
          </p:cNvSpPr>
          <p:nvPr/>
        </p:nvSpPr>
        <p:spPr>
          <a:xfrm xmlns:a="http://schemas.openxmlformats.org/drawingml/2006/main">
            <a:off x="83820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Money</a:t>
            </a:r>
          </a:p>
        </p:txBody>
      </p:sp>
      <p:sp>
        <p:nvSpPr>
          <p:cNvPr id="17" name="architecture-intake-body-3">
            <a:extLst xmlns:a="http://schemas.openxmlformats.org/drawingml/2006/main">
              <a:ext uri="{FF2B5EF4-FFF2-40B4-BE49-F238E27FC236}">
                <a16:creationId xmlns:a16="http://schemas.microsoft.com/office/drawing/2014/main" id="{3D69C83C-E11D-4DB3-BBB8-91927086B1F1}"/>
              </a:ext>
            </a:extLst>
          </p:cNvPr>
          <p:cNvSpPr>
            <a:spLocks xmlns:a="http://schemas.openxmlformats.org/drawingml/2006/main" noGrp="1"/>
          </p:cNvSpPr>
          <p:nvPr/>
        </p:nvSpPr>
        <p:spPr>
          <a:xfrm xmlns:a="http://schemas.openxmlformats.org/drawingml/2006/main">
            <a:off x="175260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rupees to integer paise</a:t>
            </a:r>
          </a:p>
        </p:txBody>
      </p:sp>
      <p:sp>
        <p:nvSpPr>
          <p:cNvPr id="18" name="architecture-reasoning">
            <a:extLst xmlns:a="http://schemas.openxmlformats.org/drawingml/2006/main">
              <a:ext uri="{FF2B5EF4-FFF2-40B4-BE49-F238E27FC236}">
                <a16:creationId xmlns:a16="http://schemas.microsoft.com/office/drawing/2014/main" id="{60561B39-31AB-463C-9042-C8B649082275}"/>
              </a:ext>
            </a:extLst>
          </p:cNvPr>
          <p:cNvSpPr>
            <a:spLocks xmlns:a="http://schemas.openxmlformats.org/drawingml/2006/main" noGrp="1"/>
          </p:cNvSpPr>
          <p:nvPr/>
        </p:nvSpPr>
        <p:spPr>
          <a:xfrm xmlns:a="http://schemas.openxmlformats.org/drawingml/2006/main">
            <a:off x="4667250" y="2495550"/>
            <a:ext cx="2857500" cy="2724150"/>
          </a:xfrm>
          <a:prstGeom xmlns:a="http://schemas.openxmlformats.org/drawingml/2006/main" prst="roundRect">
            <a:avLst>
              <a:gd name="adj" fmla="val 6294"/>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19" name="architecture-reasoning-label">
            <a:extLst xmlns:a="http://schemas.openxmlformats.org/drawingml/2006/main">
              <a:ext uri="{FF2B5EF4-FFF2-40B4-BE49-F238E27FC236}">
                <a16:creationId xmlns:a16="http://schemas.microsoft.com/office/drawing/2014/main" id="{6AB24C1C-0527-4AF1-8DD9-795D252EE72C}"/>
              </a:ext>
            </a:extLst>
          </p:cNvPr>
          <p:cNvSpPr>
            <a:spLocks xmlns:a="http://schemas.openxmlformats.org/drawingml/2006/main" noGrp="1"/>
          </p:cNvSpPr>
          <p:nvPr/>
        </p:nvSpPr>
        <p:spPr>
          <a:xfrm xmlns:a="http://schemas.openxmlformats.org/drawingml/2006/main">
            <a:off x="489585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02 / REASONING</a:t>
            </a:r>
          </a:p>
        </p:txBody>
      </p:sp>
      <p:sp>
        <p:nvSpPr>
          <p:cNvPr id="20" name="architecture-reasoning-title">
            <a:extLst xmlns:a="http://schemas.openxmlformats.org/drawingml/2006/main">
              <a:ext uri="{FF2B5EF4-FFF2-40B4-BE49-F238E27FC236}">
                <a16:creationId xmlns:a16="http://schemas.microsoft.com/office/drawing/2014/main" id="{6E0D18FA-5D40-4CB6-9E58-71FCB12BB5C5}"/>
              </a:ext>
            </a:extLst>
          </p:cNvPr>
          <p:cNvSpPr>
            <a:spLocks xmlns:a="http://schemas.openxmlformats.org/drawingml/2006/main" noGrp="1"/>
          </p:cNvSpPr>
          <p:nvPr/>
        </p:nvSpPr>
        <p:spPr>
          <a:xfrm xmlns:a="http://schemas.openxmlformats.org/drawingml/2006/main">
            <a:off x="489585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Snapshot engine</a:t>
            </a:r>
          </a:p>
        </p:txBody>
      </p:sp>
      <p:sp>
        <p:nvSpPr>
          <p:cNvPr id="21" name="architecture-reasoning-copy">
            <a:extLst xmlns:a="http://schemas.openxmlformats.org/drawingml/2006/main">
              <a:ext uri="{FF2B5EF4-FFF2-40B4-BE49-F238E27FC236}">
                <a16:creationId xmlns:a16="http://schemas.microsoft.com/office/drawing/2014/main" id="{E763557A-8951-438E-B915-ABB131776BAD}"/>
              </a:ext>
            </a:extLst>
          </p:cNvPr>
          <p:cNvSpPr>
            <a:spLocks xmlns:a="http://schemas.openxmlformats.org/drawingml/2006/main" noGrp="1"/>
          </p:cNvSpPr>
          <p:nvPr/>
        </p:nvSpPr>
        <p:spPr>
          <a:xfrm xmlns:a="http://schemas.openxmlformats.org/drawingml/2006/main">
            <a:off x="4895850" y="3390900"/>
            <a:ext cx="2324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450"/>
          </a:bodyPr>
          <a:lstStyle xmlns:a="http://schemas.openxmlformats.org/drawingml/2006/main"/>
          <a:p xmlns:a="http://schemas.openxmlformats.org/drawingml/2006/main">
            <a:pPr algn="l">
              <a:lnSpc>
                <a:spcPct val="125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The same request contract runs locally and through the stateless Vercel Function.</a:t>
            </a:r>
          </a:p>
        </p:txBody>
      </p:sp>
      <p:sp>
        <p:nvSpPr>
          <p:cNvPr id="22" name="architecture-reasoning-rule-1">
            <a:extLst xmlns:a="http://schemas.openxmlformats.org/drawingml/2006/main">
              <a:ext uri="{FF2B5EF4-FFF2-40B4-BE49-F238E27FC236}">
                <a16:creationId xmlns:a16="http://schemas.microsoft.com/office/drawing/2014/main" id="{3044A0EE-3FDE-4075-9E49-DCAE9B43CBBF}"/>
              </a:ext>
            </a:extLst>
          </p:cNvPr>
          <p:cNvSpPr>
            <a:spLocks xmlns:a="http://schemas.openxmlformats.org/drawingml/2006/main" noGrp="1"/>
          </p:cNvSpPr>
          <p:nvPr/>
        </p:nvSpPr>
        <p:spPr>
          <a:xfrm xmlns:a="http://schemas.openxmlformats.org/drawingml/2006/main">
            <a:off x="4895850" y="401955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3" name="architecture-reasoning-heading-1">
            <a:extLst xmlns:a="http://schemas.openxmlformats.org/drawingml/2006/main">
              <a:ext uri="{FF2B5EF4-FFF2-40B4-BE49-F238E27FC236}">
                <a16:creationId xmlns:a16="http://schemas.microsoft.com/office/drawing/2014/main" id="{0F49E4F4-F2A5-41B6-A604-9337BB9D21F7}"/>
              </a:ext>
            </a:extLst>
          </p:cNvPr>
          <p:cNvSpPr>
            <a:spLocks xmlns:a="http://schemas.openxmlformats.org/drawingml/2006/main" noGrp="1"/>
          </p:cNvSpPr>
          <p:nvPr/>
        </p:nvSpPr>
        <p:spPr>
          <a:xfrm xmlns:a="http://schemas.openxmlformats.org/drawingml/2006/main">
            <a:off x="489585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Cutoff</a:t>
            </a:r>
          </a:p>
        </p:txBody>
      </p:sp>
      <p:sp>
        <p:nvSpPr>
          <p:cNvPr id="24" name="architecture-reasoning-body-1">
            <a:extLst xmlns:a="http://schemas.openxmlformats.org/drawingml/2006/main">
              <a:ext uri="{FF2B5EF4-FFF2-40B4-BE49-F238E27FC236}">
                <a16:creationId xmlns:a16="http://schemas.microsoft.com/office/drawing/2014/main" id="{76A97DB6-34B4-45F9-9C34-BFCA4374C9F5}"/>
              </a:ext>
            </a:extLst>
          </p:cNvPr>
          <p:cNvSpPr>
            <a:spLocks xmlns:a="http://schemas.openxmlformats.org/drawingml/2006/main" noGrp="1"/>
          </p:cNvSpPr>
          <p:nvPr/>
        </p:nvSpPr>
        <p:spPr>
          <a:xfrm xmlns:a="http://schemas.openxmlformats.org/drawingml/2006/main">
            <a:off x="581025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future rows excluded</a:t>
            </a:r>
          </a:p>
        </p:txBody>
      </p:sp>
      <p:sp>
        <p:nvSpPr>
          <p:cNvPr id="25" name="architecture-reasoning-rule-2">
            <a:extLst xmlns:a="http://schemas.openxmlformats.org/drawingml/2006/main">
              <a:ext uri="{FF2B5EF4-FFF2-40B4-BE49-F238E27FC236}">
                <a16:creationId xmlns:a16="http://schemas.microsoft.com/office/drawing/2014/main" id="{F2A39BCB-11B5-45E5-ADED-42047B810288}"/>
              </a:ext>
            </a:extLst>
          </p:cNvPr>
          <p:cNvSpPr>
            <a:spLocks xmlns:a="http://schemas.openxmlformats.org/drawingml/2006/main" noGrp="1"/>
          </p:cNvSpPr>
          <p:nvPr/>
        </p:nvSpPr>
        <p:spPr>
          <a:xfrm xmlns:a="http://schemas.openxmlformats.org/drawingml/2006/main">
            <a:off x="4895850" y="434340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6" name="architecture-reasoning-heading-2">
            <a:extLst xmlns:a="http://schemas.openxmlformats.org/drawingml/2006/main">
              <a:ext uri="{FF2B5EF4-FFF2-40B4-BE49-F238E27FC236}">
                <a16:creationId xmlns:a16="http://schemas.microsoft.com/office/drawing/2014/main" id="{743E4A4C-4027-49A3-8F9C-0460CC8C5348}"/>
              </a:ext>
            </a:extLst>
          </p:cNvPr>
          <p:cNvSpPr>
            <a:spLocks xmlns:a="http://schemas.openxmlformats.org/drawingml/2006/main" noGrp="1"/>
          </p:cNvSpPr>
          <p:nvPr/>
        </p:nvSpPr>
        <p:spPr>
          <a:xfrm xmlns:a="http://schemas.openxmlformats.org/drawingml/2006/main">
            <a:off x="489585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Rules v1</a:t>
            </a:r>
          </a:p>
        </p:txBody>
      </p:sp>
      <p:sp>
        <p:nvSpPr>
          <p:cNvPr id="27" name="architecture-reasoning-body-2">
            <a:extLst xmlns:a="http://schemas.openxmlformats.org/drawingml/2006/main">
              <a:ext uri="{FF2B5EF4-FFF2-40B4-BE49-F238E27FC236}">
                <a16:creationId xmlns:a16="http://schemas.microsoft.com/office/drawing/2014/main" id="{D4821400-58A1-4AB2-AF7A-AAA6A82F43C1}"/>
              </a:ext>
            </a:extLst>
          </p:cNvPr>
          <p:cNvSpPr>
            <a:spLocks xmlns:a="http://schemas.openxmlformats.org/drawingml/2006/main" noGrp="1"/>
          </p:cNvSpPr>
          <p:nvPr/>
        </p:nvSpPr>
        <p:spPr>
          <a:xfrm xmlns:a="http://schemas.openxmlformats.org/drawingml/2006/main">
            <a:off x="581025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30 / 40 / 30 points</a:t>
            </a:r>
          </a:p>
        </p:txBody>
      </p:sp>
      <p:sp>
        <p:nvSpPr>
          <p:cNvPr id="28" name="architecture-reasoning-rule-3">
            <a:extLst xmlns:a="http://schemas.openxmlformats.org/drawingml/2006/main">
              <a:ext uri="{FF2B5EF4-FFF2-40B4-BE49-F238E27FC236}">
                <a16:creationId xmlns:a16="http://schemas.microsoft.com/office/drawing/2014/main" id="{6B4ED27E-2051-464D-96B5-F7D189D9C0EC}"/>
              </a:ext>
            </a:extLst>
          </p:cNvPr>
          <p:cNvSpPr>
            <a:spLocks xmlns:a="http://schemas.openxmlformats.org/drawingml/2006/main" noGrp="1"/>
          </p:cNvSpPr>
          <p:nvPr/>
        </p:nvSpPr>
        <p:spPr>
          <a:xfrm xmlns:a="http://schemas.openxmlformats.org/drawingml/2006/main">
            <a:off x="4895850" y="466725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9" name="architecture-reasoning-heading-3">
            <a:extLst xmlns:a="http://schemas.openxmlformats.org/drawingml/2006/main">
              <a:ext uri="{FF2B5EF4-FFF2-40B4-BE49-F238E27FC236}">
                <a16:creationId xmlns:a16="http://schemas.microsoft.com/office/drawing/2014/main" id="{C76ED3A4-8230-4B1D-9C4C-CB2141D9ED8D}"/>
              </a:ext>
            </a:extLst>
          </p:cNvPr>
          <p:cNvSpPr>
            <a:spLocks xmlns:a="http://schemas.openxmlformats.org/drawingml/2006/main" noGrp="1"/>
          </p:cNvSpPr>
          <p:nvPr/>
        </p:nvSpPr>
        <p:spPr>
          <a:xfrm xmlns:a="http://schemas.openxmlformats.org/drawingml/2006/main">
            <a:off x="489585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Graph v2</a:t>
            </a:r>
          </a:p>
        </p:txBody>
      </p:sp>
      <p:sp>
        <p:nvSpPr>
          <p:cNvPr id="30" name="architecture-reasoning-body-3">
            <a:extLst xmlns:a="http://schemas.openxmlformats.org/drawingml/2006/main">
              <a:ext uri="{FF2B5EF4-FFF2-40B4-BE49-F238E27FC236}">
                <a16:creationId xmlns:a16="http://schemas.microsoft.com/office/drawing/2014/main" id="{DB24D729-AF48-4228-AB8C-FFB033F0902F}"/>
              </a:ext>
            </a:extLst>
          </p:cNvPr>
          <p:cNvSpPr>
            <a:spLocks xmlns:a="http://schemas.openxmlformats.org/drawingml/2006/main" noGrp="1"/>
          </p:cNvSpPr>
          <p:nvPr/>
        </p:nvSpPr>
        <p:spPr>
          <a:xfrm xmlns:a="http://schemas.openxmlformats.org/drawingml/2006/main">
            <a:off x="581025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paths and witnesses</a:t>
            </a:r>
          </a:p>
        </p:txBody>
      </p:sp>
      <p:sp>
        <p:nvSpPr>
          <p:cNvPr id="31" name="architecture-surfaces">
            <a:extLst xmlns:a="http://schemas.openxmlformats.org/drawingml/2006/main">
              <a:ext uri="{FF2B5EF4-FFF2-40B4-BE49-F238E27FC236}">
                <a16:creationId xmlns:a16="http://schemas.microsoft.com/office/drawing/2014/main" id="{07618774-9332-4434-ACF6-2E6283583A6E}"/>
              </a:ext>
            </a:extLst>
          </p:cNvPr>
          <p:cNvSpPr>
            <a:spLocks xmlns:a="http://schemas.openxmlformats.org/drawingml/2006/main" noGrp="1"/>
          </p:cNvSpPr>
          <p:nvPr/>
        </p:nvSpPr>
        <p:spPr>
          <a:xfrm xmlns:a="http://schemas.openxmlformats.org/drawingml/2006/main">
            <a:off x="8724900" y="2495550"/>
            <a:ext cx="2857500" cy="2724150"/>
          </a:xfrm>
          <a:prstGeom xmlns:a="http://schemas.openxmlformats.org/drawingml/2006/main" prst="roundRect">
            <a:avLst>
              <a:gd name="adj" fmla="val 629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architecture-surfaces-label">
            <a:extLst xmlns:a="http://schemas.openxmlformats.org/drawingml/2006/main">
              <a:ext uri="{FF2B5EF4-FFF2-40B4-BE49-F238E27FC236}">
                <a16:creationId xmlns:a16="http://schemas.microsoft.com/office/drawing/2014/main" id="{AF38217E-E307-4E0E-9963-F7437A43D0B2}"/>
              </a:ext>
            </a:extLst>
          </p:cNvPr>
          <p:cNvSpPr>
            <a:spLocks xmlns:a="http://schemas.openxmlformats.org/drawingml/2006/main" noGrp="1"/>
          </p:cNvSpPr>
          <p:nvPr/>
        </p:nvSpPr>
        <p:spPr>
          <a:xfrm xmlns:a="http://schemas.openxmlformats.org/drawingml/2006/main">
            <a:off x="895350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03 / SURFACES</a:t>
            </a:r>
          </a:p>
        </p:txBody>
      </p:sp>
      <p:sp>
        <p:nvSpPr>
          <p:cNvPr id="33" name="architecture-surfaces-title">
            <a:extLst xmlns:a="http://schemas.openxmlformats.org/drawingml/2006/main">
              <a:ext uri="{FF2B5EF4-FFF2-40B4-BE49-F238E27FC236}">
                <a16:creationId xmlns:a16="http://schemas.microsoft.com/office/drawing/2014/main" id="{D38D73A1-10EB-4EE7-BE8F-7BC82B81DA81}"/>
              </a:ext>
            </a:extLst>
          </p:cNvPr>
          <p:cNvSpPr>
            <a:spLocks xmlns:a="http://schemas.openxmlformats.org/drawingml/2006/main" noGrp="1"/>
          </p:cNvSpPr>
          <p:nvPr/>
        </p:nvSpPr>
        <p:spPr>
          <a:xfrm xmlns:a="http://schemas.openxmlformats.org/drawingml/2006/main">
            <a:off x="895350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Analyst review</a:t>
            </a:r>
          </a:p>
        </p:txBody>
      </p:sp>
      <p:sp>
        <p:nvSpPr>
          <p:cNvPr id="34" name="architecture-surfaces-copy">
            <a:extLst xmlns:a="http://schemas.openxmlformats.org/drawingml/2006/main">
              <a:ext uri="{FF2B5EF4-FFF2-40B4-BE49-F238E27FC236}">
                <a16:creationId xmlns:a16="http://schemas.microsoft.com/office/drawing/2014/main" id="{586E0EFE-212C-4C45-825B-7623FC408EF0}"/>
              </a:ext>
            </a:extLst>
          </p:cNvPr>
          <p:cNvSpPr>
            <a:spLocks xmlns:a="http://schemas.openxmlformats.org/drawingml/2006/main" noGrp="1"/>
          </p:cNvSpPr>
          <p:nvPr/>
        </p:nvSpPr>
        <p:spPr>
          <a:xfrm xmlns:a="http://schemas.openxmlformats.org/drawingml/2006/main">
            <a:off x="8953500" y="33909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3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Every visible view reads the same snapshot and linked transaction IDs.</a:t>
            </a:r>
          </a:p>
        </p:txBody>
      </p:sp>
      <p:sp>
        <p:nvSpPr>
          <p:cNvPr id="35" name="architecture-surfaces-rule-1">
            <a:extLst xmlns:a="http://schemas.openxmlformats.org/drawingml/2006/main">
              <a:ext uri="{FF2B5EF4-FFF2-40B4-BE49-F238E27FC236}">
                <a16:creationId xmlns:a16="http://schemas.microsoft.com/office/drawing/2014/main" id="{A8E415E0-B927-49F8-B839-CEF176FBF2D0}"/>
              </a:ext>
            </a:extLst>
          </p:cNvPr>
          <p:cNvSpPr>
            <a:spLocks xmlns:a="http://schemas.openxmlformats.org/drawingml/2006/main" noGrp="1"/>
          </p:cNvSpPr>
          <p:nvPr/>
        </p:nvSpPr>
        <p:spPr>
          <a:xfrm xmlns:a="http://schemas.openxmlformats.org/drawingml/2006/main">
            <a:off x="8953500" y="40195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6" name="architecture-surfaces-heading-1">
            <a:extLst xmlns:a="http://schemas.openxmlformats.org/drawingml/2006/main">
              <a:ext uri="{FF2B5EF4-FFF2-40B4-BE49-F238E27FC236}">
                <a16:creationId xmlns:a16="http://schemas.microsoft.com/office/drawing/2014/main" id="{32736F5F-8B77-483B-B45F-CE7FABB6A514}"/>
              </a:ext>
            </a:extLst>
          </p:cNvPr>
          <p:cNvSpPr>
            <a:spLocks xmlns:a="http://schemas.openxmlformats.org/drawingml/2006/main" noGrp="1"/>
          </p:cNvSpPr>
          <p:nvPr/>
        </p:nvSpPr>
        <p:spPr>
          <a:xfrm xmlns:a="http://schemas.openxmlformats.org/drawingml/2006/main">
            <a:off x="895350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Queue</a:t>
            </a:r>
          </a:p>
        </p:txBody>
      </p:sp>
      <p:sp>
        <p:nvSpPr>
          <p:cNvPr id="37" name="architecture-surfaces-body-1">
            <a:extLst xmlns:a="http://schemas.openxmlformats.org/drawingml/2006/main">
              <a:ext uri="{FF2B5EF4-FFF2-40B4-BE49-F238E27FC236}">
                <a16:creationId xmlns:a16="http://schemas.microsoft.com/office/drawing/2014/main" id="{AEA609ED-7117-4A94-AD7B-FE42548C3D90}"/>
              </a:ext>
            </a:extLst>
          </p:cNvPr>
          <p:cNvSpPr>
            <a:spLocks xmlns:a="http://schemas.openxmlformats.org/drawingml/2006/main" noGrp="1"/>
          </p:cNvSpPr>
          <p:nvPr/>
        </p:nvSpPr>
        <p:spPr>
          <a:xfrm xmlns:a="http://schemas.openxmlformats.org/drawingml/2006/main">
            <a:off x="986790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priority per account</a:t>
            </a:r>
          </a:p>
        </p:txBody>
      </p:sp>
      <p:sp>
        <p:nvSpPr>
          <p:cNvPr id="38" name="architecture-surfaces-rule-2">
            <a:extLst xmlns:a="http://schemas.openxmlformats.org/drawingml/2006/main">
              <a:ext uri="{FF2B5EF4-FFF2-40B4-BE49-F238E27FC236}">
                <a16:creationId xmlns:a16="http://schemas.microsoft.com/office/drawing/2014/main" id="{B892F791-8F7B-457F-8482-3F691CB97F1E}"/>
              </a:ext>
            </a:extLst>
          </p:cNvPr>
          <p:cNvSpPr>
            <a:spLocks xmlns:a="http://schemas.openxmlformats.org/drawingml/2006/main" noGrp="1"/>
          </p:cNvSpPr>
          <p:nvPr/>
        </p:nvSpPr>
        <p:spPr>
          <a:xfrm xmlns:a="http://schemas.openxmlformats.org/drawingml/2006/main">
            <a:off x="8953500" y="434340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9" name="architecture-surfaces-heading-2">
            <a:extLst xmlns:a="http://schemas.openxmlformats.org/drawingml/2006/main">
              <a:ext uri="{FF2B5EF4-FFF2-40B4-BE49-F238E27FC236}">
                <a16:creationId xmlns:a16="http://schemas.microsoft.com/office/drawing/2014/main" id="{325B355E-AE2C-4725-9944-D70C4C104D08}"/>
              </a:ext>
            </a:extLst>
          </p:cNvPr>
          <p:cNvSpPr>
            <a:spLocks xmlns:a="http://schemas.openxmlformats.org/drawingml/2006/main" noGrp="1"/>
          </p:cNvSpPr>
          <p:nvPr/>
        </p:nvSpPr>
        <p:spPr>
          <a:xfrm xmlns:a="http://schemas.openxmlformats.org/drawingml/2006/main">
            <a:off x="895350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Graph</a:t>
            </a:r>
          </a:p>
        </p:txBody>
      </p:sp>
      <p:sp>
        <p:nvSpPr>
          <p:cNvPr id="40" name="architecture-surfaces-body-2">
            <a:extLst xmlns:a="http://schemas.openxmlformats.org/drawingml/2006/main">
              <a:ext uri="{FF2B5EF4-FFF2-40B4-BE49-F238E27FC236}">
                <a16:creationId xmlns:a16="http://schemas.microsoft.com/office/drawing/2014/main" id="{CD2755DA-9DA7-461A-9C54-B7EB957702EC}"/>
              </a:ext>
            </a:extLst>
          </p:cNvPr>
          <p:cNvSpPr>
            <a:spLocks xmlns:a="http://schemas.openxmlformats.org/drawingml/2006/main" noGrp="1"/>
          </p:cNvSpPr>
          <p:nvPr/>
        </p:nvSpPr>
        <p:spPr>
          <a:xfrm xmlns:a="http://schemas.openxmlformats.org/drawingml/2006/main">
            <a:off x="986790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chronological paths</a:t>
            </a:r>
          </a:p>
        </p:txBody>
      </p:sp>
      <p:sp>
        <p:nvSpPr>
          <p:cNvPr id="41" name="architecture-surfaces-rule-3">
            <a:extLst xmlns:a="http://schemas.openxmlformats.org/drawingml/2006/main">
              <a:ext uri="{FF2B5EF4-FFF2-40B4-BE49-F238E27FC236}">
                <a16:creationId xmlns:a16="http://schemas.microsoft.com/office/drawing/2014/main" id="{94A7DC39-8B4D-468B-9B0F-945A69DE3918}"/>
              </a:ext>
            </a:extLst>
          </p:cNvPr>
          <p:cNvSpPr>
            <a:spLocks xmlns:a="http://schemas.openxmlformats.org/drawingml/2006/main" noGrp="1"/>
          </p:cNvSpPr>
          <p:nvPr/>
        </p:nvSpPr>
        <p:spPr>
          <a:xfrm xmlns:a="http://schemas.openxmlformats.org/drawingml/2006/main">
            <a:off x="8953500" y="46672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42" name="architecture-surfaces-heading-3">
            <a:extLst xmlns:a="http://schemas.openxmlformats.org/drawingml/2006/main">
              <a:ext uri="{FF2B5EF4-FFF2-40B4-BE49-F238E27FC236}">
                <a16:creationId xmlns:a16="http://schemas.microsoft.com/office/drawing/2014/main" id="{01ACA542-44F1-4174-AA38-E73925CBA434}"/>
              </a:ext>
            </a:extLst>
          </p:cNvPr>
          <p:cNvSpPr>
            <a:spLocks xmlns:a="http://schemas.openxmlformats.org/drawingml/2006/main" noGrp="1"/>
          </p:cNvSpPr>
          <p:nvPr/>
        </p:nvSpPr>
        <p:spPr>
          <a:xfrm xmlns:a="http://schemas.openxmlformats.org/drawingml/2006/main">
            <a:off x="895350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Evidence</a:t>
            </a:r>
          </a:p>
        </p:txBody>
      </p:sp>
      <p:sp>
        <p:nvSpPr>
          <p:cNvPr id="43" name="architecture-surfaces-body-3">
            <a:extLst xmlns:a="http://schemas.openxmlformats.org/drawingml/2006/main">
              <a:ext uri="{FF2B5EF4-FFF2-40B4-BE49-F238E27FC236}">
                <a16:creationId xmlns:a16="http://schemas.microsoft.com/office/drawing/2014/main" id="{2EF3A702-FF7F-4C57-98A4-546AAADA96C4}"/>
              </a:ext>
            </a:extLst>
          </p:cNvPr>
          <p:cNvSpPr>
            <a:spLocks xmlns:a="http://schemas.openxmlformats.org/drawingml/2006/main" noGrp="1"/>
          </p:cNvSpPr>
          <p:nvPr/>
        </p:nvSpPr>
        <p:spPr>
          <a:xfrm xmlns:a="http://schemas.openxmlformats.org/drawingml/2006/main">
            <a:off x="986790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rows, notes, export</a:t>
            </a:r>
          </a:p>
        </p:txBody>
      </p:sp>
      <p:cxnSp>
        <p:nvCxnSpPr>
          <p:cNvPr id="95" name=""/>
          <p:cNvCxnSpPr>
            <a:stCxn xmlns:a="http://schemas.openxmlformats.org/drawingml/2006/main" id="5" idx="3"/>
            <a:endCxn xmlns:a="http://schemas.openxmlformats.org/drawingml/2006/main" id="18" idx="1"/>
          </p:cNvCxnSpPr>
          <p:nvPr/>
        </p:nvCxnSpPr>
        <p:spPr>
          <a:xfrm xmlns:a="http://schemas.openxmlformats.org/drawingml/2006/main">
            <a:off x="3467100" y="3857625"/>
            <a:ext cx="1200150" cy="0"/>
          </a:xfrm>
          <a:prstGeom xmlns:a="http://schemas.openxmlformats.org/drawingml/2006/main" prst="straightConnector1">
            <a:avLst/>
          </a:prstGeom>
          <a:ln xmlns:a="http://schemas.openxmlformats.org/drawingml/2006/main" w="23813">
            <a:solidFill>
              <a:srgbClr val="2F6FE5"/>
            </a:solidFill>
            <a:prstDash val="solid"/>
            <a:tailEnd type="triangle" w="sm" len="sm"/>
          </a:ln>
        </p:spPr>
      </p:cxnSp>
      <p:cxnSp>
        <p:nvCxnSpPr>
          <p:cNvPr id="96" name=""/>
          <p:cNvCxnSpPr>
            <a:stCxn xmlns:a="http://schemas.openxmlformats.org/drawingml/2006/main" id="18" idx="3"/>
            <a:endCxn xmlns:a="http://schemas.openxmlformats.org/drawingml/2006/main" id="31" idx="1"/>
          </p:cNvCxnSpPr>
          <p:nvPr/>
        </p:nvCxnSpPr>
        <p:spPr>
          <a:xfrm xmlns:a="http://schemas.openxmlformats.org/drawingml/2006/main">
            <a:off x="7524750" y="3857625"/>
            <a:ext cx="1200150" cy="0"/>
          </a:xfrm>
          <a:prstGeom xmlns:a="http://schemas.openxmlformats.org/drawingml/2006/main" prst="straightConnector1">
            <a:avLst/>
          </a:prstGeom>
          <a:ln xmlns:a="http://schemas.openxmlformats.org/drawingml/2006/main" w="23813">
            <a:solidFill>
              <a:srgbClr val="63E0C5"/>
            </a:solidFill>
            <a:prstDash val="solid"/>
            <a:tailEnd type="triangle" w="sm" len="sm"/>
          </a:ln>
        </p:spPr>
      </p:cxnSp>
      <p:sp>
        <p:nvSpPr>
          <p:cNvPr id="46" name="architecture-bottom-band">
            <a:extLst xmlns:a="http://schemas.openxmlformats.org/drawingml/2006/main">
              <a:ext uri="{FF2B5EF4-FFF2-40B4-BE49-F238E27FC236}">
                <a16:creationId xmlns:a16="http://schemas.microsoft.com/office/drawing/2014/main" id="{45FB63AE-13E6-4E3A-8349-2333C0DBD483}"/>
              </a:ext>
            </a:extLst>
          </p:cNvPr>
          <p:cNvSpPr>
            <a:spLocks xmlns:a="http://schemas.openxmlformats.org/drawingml/2006/main" noGrp="1"/>
          </p:cNvSpPr>
          <p:nvPr/>
        </p:nvSpPr>
        <p:spPr>
          <a:xfrm xmlns:a="http://schemas.openxmlformats.org/drawingml/2006/main">
            <a:off x="609600" y="5562600"/>
            <a:ext cx="10972800" cy="476250"/>
          </a:xfrm>
          <a:prstGeom xmlns:a="http://schemas.openxmlformats.org/drawingml/2006/main" prst="roundRect">
            <a:avLst>
              <a:gd name="adj" fmla="val 24000"/>
            </a:avLst>
          </a:prstGeom>
          <a:solidFill xmlns:a="http://schemas.openxmlformats.org/drawingml/2006/main">
            <a:srgbClr val="071429"/>
          </a:solidFill>
          <a:ln xmlns:a="http://schemas.openxmlformats.org/drawingml/2006/main" w="9525">
            <a:solidFill>
              <a:srgbClr val="17345B"/>
            </a:solidFill>
            <a:prstDash val="solid"/>
          </a:ln>
        </p:spPr>
      </p:sp>
      <p:sp>
        <p:nvSpPr>
          <p:cNvPr id="47" name="architecture-bottom-title">
            <a:extLst xmlns:a="http://schemas.openxmlformats.org/drawingml/2006/main">
              <a:ext uri="{FF2B5EF4-FFF2-40B4-BE49-F238E27FC236}">
                <a16:creationId xmlns:a16="http://schemas.microsoft.com/office/drawing/2014/main" id="{DD09CE35-69EC-4E58-B6C5-43CED705BE04}"/>
              </a:ext>
            </a:extLst>
          </p:cNvPr>
          <p:cNvSpPr>
            <a:spLocks xmlns:a="http://schemas.openxmlformats.org/drawingml/2006/main" noGrp="1"/>
          </p:cNvSpPr>
          <p:nvPr/>
        </p:nvSpPr>
        <p:spPr>
          <a:xfrm xmlns:a="http://schemas.openxmlformats.org/drawingml/2006/main">
            <a:off x="838200" y="57054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l">
              <a:lnSpc>
                <a:spcPct val="100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Same snapshot, same answer</a:t>
            </a:r>
          </a:p>
        </p:txBody>
      </p:sp>
      <p:sp>
        <p:nvSpPr>
          <p:cNvPr id="48" name="architecture-bottom-copy">
            <a:extLst xmlns:a="http://schemas.openxmlformats.org/drawingml/2006/main">
              <a:ext uri="{FF2B5EF4-FFF2-40B4-BE49-F238E27FC236}">
                <a16:creationId xmlns:a16="http://schemas.microsoft.com/office/drawing/2014/main" id="{78523AC0-2D53-4C05-BCAA-4A0A3BEF6EB1}"/>
              </a:ext>
            </a:extLst>
          </p:cNvPr>
          <p:cNvSpPr>
            <a:spLocks xmlns:a="http://schemas.openxmlformats.org/drawingml/2006/main" noGrp="1"/>
          </p:cNvSpPr>
          <p:nvPr/>
        </p:nvSpPr>
        <p:spPr>
          <a:xfrm xmlns:a="http://schemas.openxmlformats.org/drawingml/2006/main">
            <a:off x="4171950" y="5705475"/>
            <a:ext cx="704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Queue, graph, evidence, replay, and export stay aligned at the selected cutoff.</a:t>
            </a:r>
          </a:p>
        </p:txBody>
      </p:sp>
      <p:sp>
        <p:nvSpPr>
          <p:cNvPr id="49" name="footer-rule-3">
            <a:extLst xmlns:a="http://schemas.openxmlformats.org/drawingml/2006/main">
              <a:ext uri="{FF2B5EF4-FFF2-40B4-BE49-F238E27FC236}">
                <a16:creationId xmlns:a16="http://schemas.microsoft.com/office/drawing/2014/main" id="{BF93F66B-E7A9-460B-BA08-70C6BC84EED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0" name="footer-brand-3">
            <a:extLst xmlns:a="http://schemas.openxmlformats.org/drawingml/2006/main">
              <a:ext uri="{FF2B5EF4-FFF2-40B4-BE49-F238E27FC236}">
                <a16:creationId xmlns:a16="http://schemas.microsoft.com/office/drawing/2014/main" id="{B7A4DFD0-5C15-4467-AAB7-E00D321A75F8}"/>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51" name="footer-page-3">
            <a:extLst xmlns:a="http://schemas.openxmlformats.org/drawingml/2006/main">
              <a:ext uri="{FF2B5EF4-FFF2-40B4-BE49-F238E27FC236}">
                <a16:creationId xmlns:a16="http://schemas.microsoft.com/office/drawing/2014/main" id="{E56266F7-0621-4FE2-9349-0071E0E9DAAE}"/>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03 / 13</a:t>
            </a:r>
          </a:p>
        </p:txBody>
      </p:sp>
    </p:spTree>
    <p:extLst>
      <p:ext uri="{BB962C8B-B14F-4D97-AF65-F5344CB8AC3E}">
        <p14:creationId xmlns:p14="http://schemas.microsoft.com/office/powerpoint/2010/main" val="1867155919"/>
      </p:ext>
    </p:extLst>
  </p:cSld>
</p:sld>
</file>

<file path=ppt/slides/slide4.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9" name="flow-kicker">
            <a:extLst xmlns:a="http://schemas.openxmlformats.org/drawingml/2006/main">
              <a:ext uri="{FF2B5EF4-FFF2-40B4-BE49-F238E27FC236}">
                <a16:creationId xmlns:a16="http://schemas.microsoft.com/office/drawing/2014/main" id="{D67C48F8-4D14-4F56-8B8F-24CF6587A1F2}"/>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FINTRACE PRODUCT FLOW</a:t>
            </a:r>
          </a:p>
        </p:txBody>
      </p:sp>
      <p:sp>
        <p:nvSpPr>
          <p:cNvPr id="2" name="flow-title">
            <a:extLst xmlns:a="http://schemas.openxmlformats.org/drawingml/2006/main">
              <a:ext uri="{FF2B5EF4-FFF2-40B4-BE49-F238E27FC236}">
                <a16:creationId xmlns:a16="http://schemas.microsoft.com/office/drawing/2014/main" id="{CF5AF928-82A2-4BD2-A800-2A29D6876B6A}"/>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One snapshot keeps every view aligned</a:t>
            </a:r>
          </a:p>
        </p:txBody>
      </p:sp>
      <p:sp>
        <p:nvSpPr>
          <p:cNvPr id="3" name="flow-subtitle">
            <a:extLst xmlns:a="http://schemas.openxmlformats.org/drawingml/2006/main">
              <a:ext uri="{FF2B5EF4-FFF2-40B4-BE49-F238E27FC236}">
                <a16:creationId xmlns:a16="http://schemas.microsoft.com/office/drawing/2014/main" id="{9942F3C0-E9FC-47D6-8AE5-EE4D351D8478}"/>
              </a:ext>
            </a:extLst>
          </p:cNvPr>
          <p:cNvSpPr>
            <a:spLocks xmlns:a="http://schemas.openxmlformats.org/drawingml/2006/main" noGrp="1"/>
          </p:cNvSpPr>
          <p:nvPr/>
        </p:nvSpPr>
        <p:spPr>
          <a:xfrm xmlns:a="http://schemas.openxmlformats.org/drawingml/2006/main">
            <a:off x="628650" y="1485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queue, graph, evidence panel, replay controls, and export consume the same cutoff-aware result.</a:t>
            </a:r>
          </a:p>
        </p:txBody>
      </p:sp>
      <p:sp>
        <p:nvSpPr>
          <p:cNvPr id="4" name="flow-box-1">
            <a:extLst xmlns:a="http://schemas.openxmlformats.org/drawingml/2006/main">
              <a:ext uri="{FF2B5EF4-FFF2-40B4-BE49-F238E27FC236}">
                <a16:creationId xmlns:a16="http://schemas.microsoft.com/office/drawing/2014/main" id="{B6E6766C-342B-4ECF-B0FC-4EEC9830DB87}"/>
              </a:ext>
            </a:extLst>
          </p:cNvPr>
          <p:cNvSpPr>
            <a:spLocks xmlns:a="http://schemas.openxmlformats.org/drawingml/2006/main" noGrp="1"/>
          </p:cNvSpPr>
          <p:nvPr/>
        </p:nvSpPr>
        <p:spPr>
          <a:xfrm xmlns:a="http://schemas.openxmlformats.org/drawingml/2006/main">
            <a:off x="60960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flow-num-1">
            <a:extLst xmlns:a="http://schemas.openxmlformats.org/drawingml/2006/main">
              <a:ext uri="{FF2B5EF4-FFF2-40B4-BE49-F238E27FC236}">
                <a16:creationId xmlns:a16="http://schemas.microsoft.com/office/drawing/2014/main" id="{DB709DE1-F6F2-4501-B5F2-ECC10E51678F}"/>
              </a:ext>
            </a:extLst>
          </p:cNvPr>
          <p:cNvSpPr>
            <a:spLocks xmlns:a="http://schemas.openxmlformats.org/drawingml/2006/main" noGrp="1"/>
          </p:cNvSpPr>
          <p:nvPr/>
        </p:nvSpPr>
        <p:spPr>
          <a:xfrm xmlns:a="http://schemas.openxmlformats.org/drawingml/2006/main">
            <a:off x="78105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01</a:t>
            </a:r>
          </a:p>
        </p:txBody>
      </p:sp>
      <p:sp>
        <p:nvSpPr>
          <p:cNvPr id="6" name="flow-title-1">
            <a:extLst xmlns:a="http://schemas.openxmlformats.org/drawingml/2006/main">
              <a:ext uri="{FF2B5EF4-FFF2-40B4-BE49-F238E27FC236}">
                <a16:creationId xmlns:a16="http://schemas.microsoft.com/office/drawing/2014/main" id="{A8BB1915-4C5A-426B-9932-09C84E9952C4}"/>
              </a:ext>
            </a:extLst>
          </p:cNvPr>
          <p:cNvSpPr>
            <a:spLocks xmlns:a="http://schemas.openxmlformats.org/drawingml/2006/main" noGrp="1"/>
          </p:cNvSpPr>
          <p:nvPr/>
        </p:nvSpPr>
        <p:spPr>
          <a:xfrm xmlns:a="http://schemas.openxmlformats.org/drawingml/2006/main">
            <a:off x="78105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Load records</a:t>
            </a:r>
          </a:p>
        </p:txBody>
      </p:sp>
      <p:sp>
        <p:nvSpPr>
          <p:cNvPr id="7" name="flow-body-1">
            <a:extLst xmlns:a="http://schemas.openxmlformats.org/drawingml/2006/main">
              <a:ext uri="{FF2B5EF4-FFF2-40B4-BE49-F238E27FC236}">
                <a16:creationId xmlns:a16="http://schemas.microsoft.com/office/drawing/2014/main" id="{2B74058E-419B-4F45-9331-A71707BAA2B6}"/>
              </a:ext>
            </a:extLst>
          </p:cNvPr>
          <p:cNvSpPr>
            <a:spLocks xmlns:a="http://schemas.openxmlformats.org/drawingml/2006/main" noGrp="1"/>
          </p:cNvSpPr>
          <p:nvPr/>
        </p:nvSpPr>
        <p:spPr>
          <a:xfrm xmlns:a="http://schemas.openxmlformats.org/drawingml/2006/main">
            <a:off x="78105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CSV intake or a synthetic scenario with strict validation.</a:t>
            </a:r>
          </a:p>
        </p:txBody>
      </p:sp>
      <p:sp>
        <p:nvSpPr>
          <p:cNvPr id="8" name="flow-box-2">
            <a:extLst xmlns:a="http://schemas.openxmlformats.org/drawingml/2006/main">
              <a:ext uri="{FF2B5EF4-FFF2-40B4-BE49-F238E27FC236}">
                <a16:creationId xmlns:a16="http://schemas.microsoft.com/office/drawing/2014/main" id="{7A78FB7A-4BDC-4BCB-9D2B-C953A0E15C5D}"/>
              </a:ext>
            </a:extLst>
          </p:cNvPr>
          <p:cNvSpPr>
            <a:spLocks xmlns:a="http://schemas.openxmlformats.org/drawingml/2006/main" noGrp="1"/>
          </p:cNvSpPr>
          <p:nvPr/>
        </p:nvSpPr>
        <p:spPr>
          <a:xfrm xmlns:a="http://schemas.openxmlformats.org/drawingml/2006/main">
            <a:off x="311467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flow-num-2">
            <a:extLst xmlns:a="http://schemas.openxmlformats.org/drawingml/2006/main">
              <a:ext uri="{FF2B5EF4-FFF2-40B4-BE49-F238E27FC236}">
                <a16:creationId xmlns:a16="http://schemas.microsoft.com/office/drawing/2014/main" id="{C2BEC84E-A016-4A01-B3BB-0DD283949599}"/>
              </a:ext>
            </a:extLst>
          </p:cNvPr>
          <p:cNvSpPr>
            <a:spLocks xmlns:a="http://schemas.openxmlformats.org/drawingml/2006/main" noGrp="1"/>
          </p:cNvSpPr>
          <p:nvPr/>
        </p:nvSpPr>
        <p:spPr>
          <a:xfrm xmlns:a="http://schemas.openxmlformats.org/drawingml/2006/main">
            <a:off x="328612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02</a:t>
            </a:r>
          </a:p>
        </p:txBody>
      </p:sp>
      <p:sp>
        <p:nvSpPr>
          <p:cNvPr id="10" name="flow-title-2">
            <a:extLst xmlns:a="http://schemas.openxmlformats.org/drawingml/2006/main">
              <a:ext uri="{FF2B5EF4-FFF2-40B4-BE49-F238E27FC236}">
                <a16:creationId xmlns:a16="http://schemas.microsoft.com/office/drawing/2014/main" id="{06630212-EB0B-4ADD-AC73-65773F9171B1}"/>
              </a:ext>
            </a:extLst>
          </p:cNvPr>
          <p:cNvSpPr>
            <a:spLocks xmlns:a="http://schemas.openxmlformats.org/drawingml/2006/main" noGrp="1"/>
          </p:cNvSpPr>
          <p:nvPr/>
        </p:nvSpPr>
        <p:spPr>
          <a:xfrm xmlns:a="http://schemas.openxmlformats.org/drawingml/2006/main">
            <a:off x="328612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Apply cutoff</a:t>
            </a:r>
          </a:p>
        </p:txBody>
      </p:sp>
      <p:sp>
        <p:nvSpPr>
          <p:cNvPr id="11" name="flow-body-2">
            <a:extLst xmlns:a="http://schemas.openxmlformats.org/drawingml/2006/main">
              <a:ext uri="{FF2B5EF4-FFF2-40B4-BE49-F238E27FC236}">
                <a16:creationId xmlns:a16="http://schemas.microsoft.com/office/drawing/2014/main" id="{A407599E-D371-481A-8BDF-C553F266BC45}"/>
              </a:ext>
            </a:extLst>
          </p:cNvPr>
          <p:cNvSpPr>
            <a:spLocks xmlns:a="http://schemas.openxmlformats.org/drawingml/2006/main" noGrp="1"/>
          </p:cNvSpPr>
          <p:nvPr/>
        </p:nvSpPr>
        <p:spPr>
          <a:xfrm xmlns:a="http://schemas.openxmlformats.org/drawingml/2006/main">
            <a:off x="328612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Future transfers stay out of the current observation.</a:t>
            </a:r>
          </a:p>
        </p:txBody>
      </p:sp>
      <p:sp>
        <p:nvSpPr>
          <p:cNvPr id="12" name="flow-box-3">
            <a:extLst xmlns:a="http://schemas.openxmlformats.org/drawingml/2006/main">
              <a:ext uri="{FF2B5EF4-FFF2-40B4-BE49-F238E27FC236}">
                <a16:creationId xmlns:a16="http://schemas.microsoft.com/office/drawing/2014/main" id="{0193FF61-3331-4120-A034-C5BF80241D1B}"/>
              </a:ext>
            </a:extLst>
          </p:cNvPr>
          <p:cNvSpPr>
            <a:spLocks xmlns:a="http://schemas.openxmlformats.org/drawingml/2006/main" noGrp="1"/>
          </p:cNvSpPr>
          <p:nvPr/>
        </p:nvSpPr>
        <p:spPr>
          <a:xfrm xmlns:a="http://schemas.openxmlformats.org/drawingml/2006/main">
            <a:off x="561975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flow-num-3">
            <a:extLst xmlns:a="http://schemas.openxmlformats.org/drawingml/2006/main">
              <a:ext uri="{FF2B5EF4-FFF2-40B4-BE49-F238E27FC236}">
                <a16:creationId xmlns:a16="http://schemas.microsoft.com/office/drawing/2014/main" id="{8DAF7B6E-A3DB-4D11-A135-42F1F278FD2F}"/>
              </a:ext>
            </a:extLst>
          </p:cNvPr>
          <p:cNvSpPr>
            <a:spLocks xmlns:a="http://schemas.openxmlformats.org/drawingml/2006/main" noGrp="1"/>
          </p:cNvSpPr>
          <p:nvPr/>
        </p:nvSpPr>
        <p:spPr>
          <a:xfrm xmlns:a="http://schemas.openxmlformats.org/drawingml/2006/main">
            <a:off x="579120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03</a:t>
            </a:r>
          </a:p>
        </p:txBody>
      </p:sp>
      <p:sp>
        <p:nvSpPr>
          <p:cNvPr id="14" name="flow-title-3">
            <a:extLst xmlns:a="http://schemas.openxmlformats.org/drawingml/2006/main">
              <a:ext uri="{FF2B5EF4-FFF2-40B4-BE49-F238E27FC236}">
                <a16:creationId xmlns:a16="http://schemas.microsoft.com/office/drawing/2014/main" id="{D60A776F-78BD-4C17-A873-845A43B97B1D}"/>
              </a:ext>
            </a:extLst>
          </p:cNvPr>
          <p:cNvSpPr>
            <a:spLocks xmlns:a="http://schemas.openxmlformats.org/drawingml/2006/main" noGrp="1"/>
          </p:cNvSpPr>
          <p:nvPr/>
        </p:nvSpPr>
        <p:spPr>
          <a:xfrm xmlns:a="http://schemas.openxmlformats.org/drawingml/2006/main">
            <a:off x="579120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Trace paths</a:t>
            </a:r>
          </a:p>
        </p:txBody>
      </p:sp>
      <p:sp>
        <p:nvSpPr>
          <p:cNvPr id="15" name="flow-body-3">
            <a:extLst xmlns:a="http://schemas.openxmlformats.org/drawingml/2006/main">
              <a:ext uri="{FF2B5EF4-FFF2-40B4-BE49-F238E27FC236}">
                <a16:creationId xmlns:a16="http://schemas.microsoft.com/office/drawing/2014/main" id="{3193342B-A829-42E2-BDB0-5203731F8FB7}"/>
              </a:ext>
            </a:extLst>
          </p:cNvPr>
          <p:cNvSpPr>
            <a:spLocks xmlns:a="http://schemas.openxmlformats.org/drawingml/2006/main" noGrp="1"/>
          </p:cNvSpPr>
          <p:nvPr/>
        </p:nvSpPr>
        <p:spPr>
          <a:xfrm xmlns:a="http://schemas.openxmlformats.org/drawingml/2006/main">
            <a:off x="579120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Chronological graph reasoning with bounded depth and time.</a:t>
            </a:r>
          </a:p>
        </p:txBody>
      </p:sp>
      <p:sp>
        <p:nvSpPr>
          <p:cNvPr id="16" name="flow-box-4">
            <a:extLst xmlns:a="http://schemas.openxmlformats.org/drawingml/2006/main">
              <a:ext uri="{FF2B5EF4-FFF2-40B4-BE49-F238E27FC236}">
                <a16:creationId xmlns:a16="http://schemas.microsoft.com/office/drawing/2014/main" id="{07A23420-1559-41E4-BCE6-38805576A804}"/>
              </a:ext>
            </a:extLst>
          </p:cNvPr>
          <p:cNvSpPr>
            <a:spLocks xmlns:a="http://schemas.openxmlformats.org/drawingml/2006/main" noGrp="1"/>
          </p:cNvSpPr>
          <p:nvPr/>
        </p:nvSpPr>
        <p:spPr>
          <a:xfrm xmlns:a="http://schemas.openxmlformats.org/drawingml/2006/main">
            <a:off x="812482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flow-num-4">
            <a:extLst xmlns:a="http://schemas.openxmlformats.org/drawingml/2006/main">
              <a:ext uri="{FF2B5EF4-FFF2-40B4-BE49-F238E27FC236}">
                <a16:creationId xmlns:a16="http://schemas.microsoft.com/office/drawing/2014/main" id="{88375D63-0F5D-4924-A801-63053D43AFD5}"/>
              </a:ext>
            </a:extLst>
          </p:cNvPr>
          <p:cNvSpPr>
            <a:spLocks xmlns:a="http://schemas.openxmlformats.org/drawingml/2006/main" noGrp="1"/>
          </p:cNvSpPr>
          <p:nvPr/>
        </p:nvSpPr>
        <p:spPr>
          <a:xfrm xmlns:a="http://schemas.openxmlformats.org/drawingml/2006/main">
            <a:off x="829627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04</a:t>
            </a:r>
          </a:p>
        </p:txBody>
      </p:sp>
      <p:sp>
        <p:nvSpPr>
          <p:cNvPr id="18" name="flow-title-4">
            <a:extLst xmlns:a="http://schemas.openxmlformats.org/drawingml/2006/main">
              <a:ext uri="{FF2B5EF4-FFF2-40B4-BE49-F238E27FC236}">
                <a16:creationId xmlns:a16="http://schemas.microsoft.com/office/drawing/2014/main" id="{D45E3147-4A83-4D8A-AD54-5B1546B9861C}"/>
              </a:ext>
            </a:extLst>
          </p:cNvPr>
          <p:cNvSpPr>
            <a:spLocks xmlns:a="http://schemas.openxmlformats.org/drawingml/2006/main" noGrp="1"/>
          </p:cNvSpPr>
          <p:nvPr/>
        </p:nvSpPr>
        <p:spPr>
          <a:xfrm xmlns:a="http://schemas.openxmlformats.org/drawingml/2006/main">
            <a:off x="829627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Review evidence</a:t>
            </a:r>
          </a:p>
        </p:txBody>
      </p:sp>
      <p:sp>
        <p:nvSpPr>
          <p:cNvPr id="19" name="flow-body-4">
            <a:extLst xmlns:a="http://schemas.openxmlformats.org/drawingml/2006/main">
              <a:ext uri="{FF2B5EF4-FFF2-40B4-BE49-F238E27FC236}">
                <a16:creationId xmlns:a16="http://schemas.microsoft.com/office/drawing/2014/main" id="{DB17BA1C-B6F1-4DD8-AA69-9574E875F7BF}"/>
              </a:ext>
            </a:extLst>
          </p:cNvPr>
          <p:cNvSpPr>
            <a:spLocks xmlns:a="http://schemas.openxmlformats.org/drawingml/2006/main" noGrp="1"/>
          </p:cNvSpPr>
          <p:nvPr/>
        </p:nvSpPr>
        <p:spPr>
          <a:xfrm xmlns:a="http://schemas.openxmlformats.org/drawingml/2006/main">
            <a:off x="829627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Score, signals, rows, notes, and JSON snapshot.</a:t>
            </a:r>
          </a:p>
        </p:txBody>
      </p:sp>
      <p:cxnSp>
        <p:nvCxnSpPr>
          <p:cNvPr id="48" name=""/>
          <p:cNvCxnSpPr>
            <a:stCxn xmlns:a="http://schemas.openxmlformats.org/drawingml/2006/main" id="4" idx="3"/>
            <a:endCxn xmlns:a="http://schemas.openxmlformats.org/drawingml/2006/main" id="8" idx="1"/>
          </p:cNvCxnSpPr>
          <p:nvPr/>
        </p:nvCxnSpPr>
        <p:spPr>
          <a:xfrm xmlns:a="http://schemas.openxmlformats.org/drawingml/2006/main">
            <a:off x="2943225"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cxnSp>
        <p:nvCxnSpPr>
          <p:cNvPr id="49" name=""/>
          <p:cNvCxnSpPr>
            <a:stCxn xmlns:a="http://schemas.openxmlformats.org/drawingml/2006/main" id="8" idx="3"/>
            <a:endCxn xmlns:a="http://schemas.openxmlformats.org/drawingml/2006/main" id="12" idx="1"/>
          </p:cNvCxnSpPr>
          <p:nvPr/>
        </p:nvCxnSpPr>
        <p:spPr>
          <a:xfrm xmlns:a="http://schemas.openxmlformats.org/drawingml/2006/main">
            <a:off x="5448300"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cxnSp>
        <p:nvCxnSpPr>
          <p:cNvPr id="50" name=""/>
          <p:cNvCxnSpPr>
            <a:stCxn xmlns:a="http://schemas.openxmlformats.org/drawingml/2006/main" id="12" idx="3"/>
            <a:endCxn xmlns:a="http://schemas.openxmlformats.org/drawingml/2006/main" id="16" idx="1"/>
          </p:cNvCxnSpPr>
          <p:nvPr/>
        </p:nvCxnSpPr>
        <p:spPr>
          <a:xfrm xmlns:a="http://schemas.openxmlformats.org/drawingml/2006/main">
            <a:off x="7953375"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sp>
        <p:nvSpPr>
          <p:cNvPr id="23" name="flow-bottom-band">
            <a:extLst xmlns:a="http://schemas.openxmlformats.org/drawingml/2006/main">
              <a:ext uri="{FF2B5EF4-FFF2-40B4-BE49-F238E27FC236}">
                <a16:creationId xmlns:a16="http://schemas.microsoft.com/office/drawing/2014/main" id="{5F52569F-019E-4EA3-A91F-E06FA204F08B}"/>
              </a:ext>
            </a:extLst>
          </p:cNvPr>
          <p:cNvSpPr>
            <a:spLocks xmlns:a="http://schemas.openxmlformats.org/drawingml/2006/main" noGrp="1"/>
          </p:cNvSpPr>
          <p:nvPr/>
        </p:nvSpPr>
        <p:spPr>
          <a:xfrm xmlns:a="http://schemas.openxmlformats.org/drawingml/2006/main">
            <a:off x="609600" y="4762500"/>
            <a:ext cx="10972800" cy="990600"/>
          </a:xfrm>
          <a:prstGeom xmlns:a="http://schemas.openxmlformats.org/drawingml/2006/main" prst="roundRect">
            <a:avLst>
              <a:gd name="adj" fmla="val 17308"/>
            </a:avLst>
          </a:prstGeom>
          <a:solidFill xmlns:a="http://schemas.openxmlformats.org/drawingml/2006/main">
            <a:srgbClr val="071429"/>
          </a:solidFill>
          <a:ln xmlns:a="http://schemas.openxmlformats.org/drawingml/2006/main" w="9525">
            <a:solidFill>
              <a:srgbClr val="17345B"/>
            </a:solidFill>
            <a:prstDash val="solid"/>
          </a:ln>
        </p:spPr>
      </p:sp>
      <p:sp>
        <p:nvSpPr>
          <p:cNvPr id="24" name="flow-bottom-title">
            <a:extLst xmlns:a="http://schemas.openxmlformats.org/drawingml/2006/main">
              <a:ext uri="{FF2B5EF4-FFF2-40B4-BE49-F238E27FC236}">
                <a16:creationId xmlns:a16="http://schemas.microsoft.com/office/drawing/2014/main" id="{4E7D840A-5729-4F89-9AA9-0141F4CD4DD6}"/>
              </a:ext>
            </a:extLst>
          </p:cNvPr>
          <p:cNvSpPr>
            <a:spLocks xmlns:a="http://schemas.openxmlformats.org/drawingml/2006/main" noGrp="1"/>
          </p:cNvSpPr>
          <p:nvPr/>
        </p:nvSpPr>
        <p:spPr>
          <a:xfrm xmlns:a="http://schemas.openxmlformats.org/drawingml/2006/main">
            <a:off x="857250" y="49911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One response. Five product surfaces.</a:t>
            </a:r>
          </a:p>
        </p:txBody>
      </p:sp>
      <p:sp>
        <p:nvSpPr>
          <p:cNvPr id="25" name="flow-bottom-body">
            <a:extLst xmlns:a="http://schemas.openxmlformats.org/drawingml/2006/main">
              <a:ext uri="{FF2B5EF4-FFF2-40B4-BE49-F238E27FC236}">
                <a16:creationId xmlns:a16="http://schemas.microsoft.com/office/drawing/2014/main" id="{5235F14B-A79C-4B48-92E2-751857A562D5}"/>
              </a:ext>
            </a:extLst>
          </p:cNvPr>
          <p:cNvSpPr>
            <a:spLocks xmlns:a="http://schemas.openxmlformats.org/drawingml/2006/main" noGrp="1"/>
          </p:cNvSpPr>
          <p:nvPr/>
        </p:nvSpPr>
        <p:spPr>
          <a:xfrm xmlns:a="http://schemas.openxmlformats.org/drawingml/2006/main">
            <a:off x="5467350" y="4981575"/>
            <a:ext cx="561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141"/>
          </a:bodyPr>
          <a:lstStyle xmlns:a="http://schemas.openxmlformats.org/drawingml/2006/main"/>
          <a:p xmlns:a="http://schemas.openxmlformats.org/drawingml/2006/main">
            <a:pPr algn="l">
              <a:lnSpc>
                <a:spcPct val="13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frontend never invents a second score. It renders the API or local engine snapshot that already contains the evidence links.</a:t>
            </a:r>
          </a:p>
        </p:txBody>
      </p:sp>
      <p:sp>
        <p:nvSpPr>
          <p:cNvPr id="26" name="footer-rule-4">
            <a:extLst xmlns:a="http://schemas.openxmlformats.org/drawingml/2006/main">
              <a:ext uri="{FF2B5EF4-FFF2-40B4-BE49-F238E27FC236}">
                <a16:creationId xmlns:a16="http://schemas.microsoft.com/office/drawing/2014/main" id="{9514BE8B-0409-435B-B10E-148CD8E6C9A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7" name="footer-brand-4">
            <a:extLst xmlns:a="http://schemas.openxmlformats.org/drawingml/2006/main">
              <a:ext uri="{FF2B5EF4-FFF2-40B4-BE49-F238E27FC236}">
                <a16:creationId xmlns:a16="http://schemas.microsoft.com/office/drawing/2014/main" id="{60DD9204-E6BA-4FB1-8A89-696FBFABE08A}"/>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8" name="footer-page-4">
            <a:extLst xmlns:a="http://schemas.openxmlformats.org/drawingml/2006/main">
              <a:ext uri="{FF2B5EF4-FFF2-40B4-BE49-F238E27FC236}">
                <a16:creationId xmlns:a16="http://schemas.microsoft.com/office/drawing/2014/main" id="{645BAE04-6C64-41C4-A83E-6622D8DDBA09}"/>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04 / 13</a:t>
            </a:r>
          </a:p>
        </p:txBody>
      </p:sp>
    </p:spTree>
    <p:extLst>
      <p:ext uri="{BB962C8B-B14F-4D97-AF65-F5344CB8AC3E}">
        <p14:creationId xmlns:p14="http://schemas.microsoft.com/office/powerpoint/2010/main" val="470162065"/>
      </p:ext>
    </p:extLst>
  </p:cSld>
</p:sld>
</file>

<file path=ppt/slides/slide5.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18" name="proof-kicker">
            <a:extLst xmlns:a="http://schemas.openxmlformats.org/drawingml/2006/main">
              <a:ext uri="{FF2B5EF4-FFF2-40B4-BE49-F238E27FC236}">
                <a16:creationId xmlns:a16="http://schemas.microsoft.com/office/drawing/2014/main" id="{D3140757-01F1-4EA1-957D-38B06F39FE4B}"/>
              </a:ext>
            </a:extLst>
          </p:cNvPr>
          <p:cNvSpPr>
            <a:spLocks xmlns:a="http://schemas.openxmlformats.org/drawingml/2006/main" noGrp="1"/>
          </p:cNvSpPr>
          <p:nvPr/>
        </p:nvSpPr>
        <p:spPr>
          <a:xfrm xmlns:a="http://schemas.openxmlformats.org/drawingml/2006/main">
            <a:off x="609600" y="514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PRODUCT PROOF</a:t>
            </a:r>
          </a:p>
        </p:txBody>
      </p:sp>
      <p:sp>
        <p:nvSpPr>
          <p:cNvPr id="2" name="proof-title">
            <a:extLst xmlns:a="http://schemas.openxmlformats.org/drawingml/2006/main">
              <a:ext uri="{FF2B5EF4-FFF2-40B4-BE49-F238E27FC236}">
                <a16:creationId xmlns:a16="http://schemas.microsoft.com/office/drawing/2014/main" id="{628859B0-89A0-46D3-A2BD-7E225ADCBFD9}"/>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The product fits on one investigation screen</a:t>
            </a:r>
          </a:p>
        </p:txBody>
      </p:sp>
      <p:sp>
        <p:nvSpPr>
          <p:cNvPr id="3" name="proof-subtitle">
            <a:extLst xmlns:a="http://schemas.openxmlformats.org/drawingml/2006/main">
              <a:ext uri="{FF2B5EF4-FFF2-40B4-BE49-F238E27FC236}">
                <a16:creationId xmlns:a16="http://schemas.microsoft.com/office/drawing/2014/main" id="{38FB3534-D574-4B2E-B7D6-74DE3B516242}"/>
              </a:ext>
            </a:extLst>
          </p:cNvPr>
          <p:cNvSpPr>
            <a:spLocks xmlns:a="http://schemas.openxmlformats.org/drawingml/2006/main" noGrp="1"/>
          </p:cNvSpPr>
          <p:nvPr/>
        </p:nvSpPr>
        <p:spPr>
          <a:xfrm xmlns:a="http://schemas.openxmlformats.org/drawingml/2006/main">
            <a:off x="628650" y="1485900"/>
            <a:ext cx="752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can move from priority to graph to evidence without leaving the case.</a:t>
            </a:r>
          </a:p>
        </p:txBody>
      </p:sp>
      <p:sp>
        <p:nvSpPr>
          <p:cNvPr id="4" name="proof-image-frame">
            <a:extLst xmlns:a="http://schemas.openxmlformats.org/drawingml/2006/main">
              <a:ext uri="{FF2B5EF4-FFF2-40B4-BE49-F238E27FC236}">
                <a16:creationId xmlns:a16="http://schemas.microsoft.com/office/drawing/2014/main" id="{58FF5BA3-191B-4C37-99C6-C936315F7EF3}"/>
              </a:ext>
            </a:extLst>
          </p:cNvPr>
          <p:cNvSpPr>
            <a:spLocks xmlns:a="http://schemas.openxmlformats.org/drawingml/2006/main" noGrp="1"/>
          </p:cNvSpPr>
          <p:nvPr/>
        </p:nvSpPr>
        <p:spPr>
          <a:xfrm xmlns:a="http://schemas.openxmlformats.org/drawingml/2006/main">
            <a:off x="609600" y="2133600"/>
            <a:ext cx="6667500" cy="4171950"/>
          </a:xfrm>
          <a:prstGeom xmlns:a="http://schemas.openxmlformats.org/drawingml/2006/main" prst="roundRect">
            <a:avLst>
              <a:gd name="adj" fmla="val 4566"/>
            </a:avLst>
          </a:prstGeom>
          <a:solidFill xmlns:a="http://schemas.openxmlformats.org/drawingml/2006/main">
            <a:srgbClr val="0D203B"/>
          </a:solidFill>
          <a:ln xmlns:a="http://schemas.openxmlformats.org/drawingml/2006/main" w="9525">
            <a:solidFill>
              <a:srgbClr val="284A73"/>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5a8df0154044b0d"/>
          <a:srcRect xmlns:a="http://schemas.openxmlformats.org/drawingml/2006/main" l="0" t="1006" r="0" b="1006"/>
          <a:stretch xmlns:a="http://schemas.openxmlformats.org/drawingml/2006/main">
            <a:fillRect l="0" t="0" r="0" b="0"/>
          </a:stretch>
        </p:blipFill>
        <p:spPr>
          <a:xfrm xmlns:a="http://schemas.openxmlformats.org/drawingml/2006/main">
            <a:off x="723900" y="2247900"/>
            <a:ext cx="6438900" cy="3943350"/>
          </a:xfrm>
          <a:prstGeom xmlns:a="http://schemas.openxmlformats.org/drawingml/2006/main" prst="roundRect">
            <a:avLst>
              <a:gd name="adj" fmla="val 3865"/>
            </a:avLst>
          </a:prstGeom>
        </p:spPr>
      </p:pic>
      <p:sp>
        <p:nvSpPr>
          <p:cNvPr id="6" name="proof-caption">
            <a:extLst xmlns:a="http://schemas.openxmlformats.org/drawingml/2006/main">
              <a:ext uri="{FF2B5EF4-FFF2-40B4-BE49-F238E27FC236}">
                <a16:creationId xmlns:a16="http://schemas.microsoft.com/office/drawing/2014/main" id="{2ECD2466-3FA9-450F-8A52-FFBC15B1F5E7}"/>
              </a:ext>
            </a:extLst>
          </p:cNvPr>
          <p:cNvSpPr>
            <a:spLocks xmlns:a="http://schemas.openxmlformats.org/drawingml/2006/main" noGrp="1"/>
          </p:cNvSpPr>
          <p:nvPr/>
        </p:nvSpPr>
        <p:spPr>
          <a:xfrm xmlns:a="http://schemas.openxmlformats.org/drawingml/2006/main">
            <a:off x="8763000" y="21336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CANONICAL SPLIT AND RECONVERGE SCENARIO</a:t>
            </a:r>
          </a:p>
        </p:txBody>
      </p:sp>
      <p:sp>
        <p:nvSpPr>
          <p:cNvPr id="7" name="proof-rule-1">
            <a:extLst xmlns:a="http://schemas.openxmlformats.org/drawingml/2006/main">
              <a:ext uri="{FF2B5EF4-FFF2-40B4-BE49-F238E27FC236}">
                <a16:creationId xmlns:a16="http://schemas.microsoft.com/office/drawing/2014/main" id="{57728B5C-B448-4827-8608-566DA7DFCB82}"/>
              </a:ext>
            </a:extLst>
          </p:cNvPr>
          <p:cNvSpPr>
            <a:spLocks xmlns:a="http://schemas.openxmlformats.org/drawingml/2006/main" noGrp="1"/>
          </p:cNvSpPr>
          <p:nvPr/>
        </p:nvSpPr>
        <p:spPr>
          <a:xfrm xmlns:a="http://schemas.openxmlformats.org/drawingml/2006/main">
            <a:off x="8763000" y="2562225"/>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8" name="proof-point-1-number">
            <a:extLst xmlns:a="http://schemas.openxmlformats.org/drawingml/2006/main">
              <a:ext uri="{FF2B5EF4-FFF2-40B4-BE49-F238E27FC236}">
                <a16:creationId xmlns:a16="http://schemas.microsoft.com/office/drawing/2014/main" id="{A5692430-B9BF-4E23-A1AB-AD9F821E3D25}"/>
              </a:ext>
            </a:extLst>
          </p:cNvPr>
          <p:cNvSpPr>
            <a:spLocks xmlns:a="http://schemas.openxmlformats.org/drawingml/2006/main" noGrp="1"/>
          </p:cNvSpPr>
          <p:nvPr/>
        </p:nvSpPr>
        <p:spPr>
          <a:xfrm xmlns:a="http://schemas.openxmlformats.org/drawingml/2006/main">
            <a:off x="8763000" y="2800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75" b="1" i="0">
                <a:solidFill>
                  <a:srgbClr val="F2756C"/>
                </a:solidFill>
                <a:latin typeface="Helvetica Neue"/>
                <a:ea typeface="Helvetica Neue"/>
                <a:cs typeface="Helvetica Neue"/>
              </a:defRPr>
            </a:pPr>
            <a:r>
              <a:rPr sz="2475" b="1" i="0">
                <a:solidFill>
                  <a:srgbClr val="F2756C"/>
                </a:solidFill>
                <a:latin typeface="Helvetica Neue"/>
                <a:ea typeface="Helvetica Neue"/>
                <a:cs typeface="Helvetica Neue"/>
              </a:rPr>
              <a:t>100/100</a:t>
            </a:r>
          </a:p>
        </p:txBody>
      </p:sp>
      <p:sp>
        <p:nvSpPr>
          <p:cNvPr id="9" name="proof-point-1">
            <a:extLst xmlns:a="http://schemas.openxmlformats.org/drawingml/2006/main">
              <a:ext uri="{FF2B5EF4-FFF2-40B4-BE49-F238E27FC236}">
                <a16:creationId xmlns:a16="http://schemas.microsoft.com/office/drawing/2014/main" id="{A9DE3391-54C7-4626-AC4D-B753F055E703}"/>
              </a:ext>
            </a:extLst>
          </p:cNvPr>
          <p:cNvSpPr>
            <a:spLocks xmlns:a="http://schemas.openxmlformats.org/drawingml/2006/main" noGrp="1"/>
          </p:cNvSpPr>
          <p:nvPr/>
        </p:nvSpPr>
        <p:spPr>
          <a:xfrm xmlns:a="http://schemas.openxmlformats.org/drawingml/2006/main">
            <a:off x="8763000" y="32385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Configured checks surface a high-priority review case for A101.</a:t>
            </a:r>
          </a:p>
        </p:txBody>
      </p:sp>
      <p:sp>
        <p:nvSpPr>
          <p:cNvPr id="10" name="proof-rule-2">
            <a:extLst xmlns:a="http://schemas.openxmlformats.org/drawingml/2006/main">
              <a:ext uri="{FF2B5EF4-FFF2-40B4-BE49-F238E27FC236}">
                <a16:creationId xmlns:a16="http://schemas.microsoft.com/office/drawing/2014/main" id="{55F12D7E-F176-423D-8BC3-8D00D592CCE4}"/>
              </a:ext>
            </a:extLst>
          </p:cNvPr>
          <p:cNvSpPr>
            <a:spLocks xmlns:a="http://schemas.openxmlformats.org/drawingml/2006/main" noGrp="1"/>
          </p:cNvSpPr>
          <p:nvPr/>
        </p:nvSpPr>
        <p:spPr>
          <a:xfrm xmlns:a="http://schemas.openxmlformats.org/drawingml/2006/main">
            <a:off x="8763000" y="400050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1" name="proof-point-2-number">
            <a:extLst xmlns:a="http://schemas.openxmlformats.org/drawingml/2006/main">
              <a:ext uri="{FF2B5EF4-FFF2-40B4-BE49-F238E27FC236}">
                <a16:creationId xmlns:a16="http://schemas.microsoft.com/office/drawing/2014/main" id="{14724066-E1D4-49E0-841E-E008328A6B13}"/>
              </a:ext>
            </a:extLst>
          </p:cNvPr>
          <p:cNvSpPr>
            <a:spLocks xmlns:a="http://schemas.openxmlformats.org/drawingml/2006/main" noGrp="1"/>
          </p:cNvSpPr>
          <p:nvPr/>
        </p:nvSpPr>
        <p:spPr>
          <a:xfrm xmlns:a="http://schemas.openxmlformats.org/drawingml/2006/main">
            <a:off x="8763000" y="423862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63E0C5"/>
                </a:solidFill>
                <a:latin typeface="Helvetica Neue"/>
                <a:ea typeface="Helvetica Neue"/>
                <a:cs typeface="Helvetica Neue"/>
              </a:defRPr>
            </a:pPr>
            <a:r>
              <a:rPr sz="2175" b="1" i="0">
                <a:solidFill>
                  <a:srgbClr val="63E0C5"/>
                </a:solidFill>
                <a:latin typeface="Helvetica Neue"/>
                <a:ea typeface="Helvetica Neue"/>
                <a:cs typeface="Helvetica Neue"/>
              </a:rPr>
              <a:t>2 paths</a:t>
            </a:r>
          </a:p>
        </p:txBody>
      </p:sp>
      <p:sp>
        <p:nvSpPr>
          <p:cNvPr id="12" name="proof-point-2">
            <a:extLst xmlns:a="http://schemas.openxmlformats.org/drawingml/2006/main">
              <a:ext uri="{FF2B5EF4-FFF2-40B4-BE49-F238E27FC236}">
                <a16:creationId xmlns:a16="http://schemas.microsoft.com/office/drawing/2014/main" id="{F9315D40-5039-457F-8EDE-CD98D90962BA}"/>
              </a:ext>
            </a:extLst>
          </p:cNvPr>
          <p:cNvSpPr>
            <a:spLocks xmlns:a="http://schemas.openxmlformats.org/drawingml/2006/main" noGrp="1"/>
          </p:cNvSpPr>
          <p:nvPr/>
        </p:nvSpPr>
        <p:spPr>
          <a:xfrm xmlns:a="http://schemas.openxmlformats.org/drawingml/2006/main">
            <a:off x="8763000" y="46672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A101 to A201 to A301 and A101 to A202 to A301 are visible as separate chronological paths.</a:t>
            </a:r>
          </a:p>
        </p:txBody>
      </p:sp>
      <p:sp>
        <p:nvSpPr>
          <p:cNvPr id="13" name="proof-rule-3">
            <a:extLst xmlns:a="http://schemas.openxmlformats.org/drawingml/2006/main">
              <a:ext uri="{FF2B5EF4-FFF2-40B4-BE49-F238E27FC236}">
                <a16:creationId xmlns:a16="http://schemas.microsoft.com/office/drawing/2014/main" id="{F0EFCCBB-1957-4E91-8CF6-FC07CE0CED03}"/>
              </a:ext>
            </a:extLst>
          </p:cNvPr>
          <p:cNvSpPr>
            <a:spLocks xmlns:a="http://schemas.openxmlformats.org/drawingml/2006/main" noGrp="1"/>
          </p:cNvSpPr>
          <p:nvPr/>
        </p:nvSpPr>
        <p:spPr>
          <a:xfrm xmlns:a="http://schemas.openxmlformats.org/drawingml/2006/main">
            <a:off x="8763000" y="565785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4" name="proof-point-3">
            <a:extLst xmlns:a="http://schemas.openxmlformats.org/drawingml/2006/main">
              <a:ext uri="{FF2B5EF4-FFF2-40B4-BE49-F238E27FC236}">
                <a16:creationId xmlns:a16="http://schemas.microsoft.com/office/drawing/2014/main" id="{4B6B94A6-B71E-4CD8-AB99-FD36601138C0}"/>
              </a:ext>
            </a:extLst>
          </p:cNvPr>
          <p:cNvSpPr>
            <a:spLocks xmlns:a="http://schemas.openxmlformats.org/drawingml/2006/main" noGrp="1"/>
          </p:cNvSpPr>
          <p:nvPr/>
        </p:nvSpPr>
        <p:spPr>
          <a:xfrm xmlns:a="http://schemas.openxmlformats.org/drawingml/2006/main">
            <a:off x="8763000" y="588645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12 evidence rows stay linked to the selected cutoff and export.</a:t>
            </a:r>
          </a:p>
        </p:txBody>
      </p:sp>
      <p:sp>
        <p:nvSpPr>
          <p:cNvPr id="15" name="footer-rule-5">
            <a:extLst xmlns:a="http://schemas.openxmlformats.org/drawingml/2006/main">
              <a:ext uri="{FF2B5EF4-FFF2-40B4-BE49-F238E27FC236}">
                <a16:creationId xmlns:a16="http://schemas.microsoft.com/office/drawing/2014/main" id="{B2605623-C18F-42AD-BC53-34C2F146DB3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6" name="footer-brand-5">
            <a:extLst xmlns:a="http://schemas.openxmlformats.org/drawingml/2006/main">
              <a:ext uri="{FF2B5EF4-FFF2-40B4-BE49-F238E27FC236}">
                <a16:creationId xmlns:a16="http://schemas.microsoft.com/office/drawing/2014/main" id="{DE7252FA-11F2-437C-B678-220DEFE7B285}"/>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7" name="footer-page-5">
            <a:extLst xmlns:a="http://schemas.openxmlformats.org/drawingml/2006/main">
              <a:ext uri="{FF2B5EF4-FFF2-40B4-BE49-F238E27FC236}">
                <a16:creationId xmlns:a16="http://schemas.microsoft.com/office/drawing/2014/main" id="{4F755888-19B9-4522-8355-5D9264A02A09}"/>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05 / 13</a:t>
            </a:r>
          </a:p>
        </p:txBody>
      </p:sp>
    </p:spTree>
    <p:extLst>
      <p:ext uri="{BB962C8B-B14F-4D97-AF65-F5344CB8AC3E}">
        <p14:creationId xmlns:p14="http://schemas.microsoft.com/office/powerpoint/2010/main" val="1714254633"/>
      </p:ext>
    </p:extLst>
  </p:cSld>
</p:sld>
</file>

<file path=ppt/slides/slide6.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2" name="score-kicker">
            <a:extLst xmlns:a="http://schemas.openxmlformats.org/drawingml/2006/main">
              <a:ext uri="{FF2B5EF4-FFF2-40B4-BE49-F238E27FC236}">
                <a16:creationId xmlns:a16="http://schemas.microsoft.com/office/drawing/2014/main" id="{CBDBA5D5-74BF-4C05-8802-61795DD25FEF}"/>
              </a:ext>
            </a:extLst>
          </p:cNvPr>
          <p:cNvSpPr>
            <a:spLocks xmlns:a="http://schemas.openxmlformats.org/drawingml/2006/main" noGrp="1"/>
          </p:cNvSpPr>
          <p:nvPr/>
        </p:nvSpPr>
        <p:spPr>
          <a:xfrm xmlns:a="http://schemas.openxmlformats.org/drawingml/2006/main">
            <a:off x="609600" y="5143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CANONICAL REPLAY</a:t>
            </a:r>
          </a:p>
        </p:txBody>
      </p:sp>
      <p:sp>
        <p:nvSpPr>
          <p:cNvPr id="2" name="score-title">
            <a:extLst xmlns:a="http://schemas.openxmlformats.org/drawingml/2006/main">
              <a:ext uri="{FF2B5EF4-FFF2-40B4-BE49-F238E27FC236}">
                <a16:creationId xmlns:a16="http://schemas.microsoft.com/office/drawing/2014/main" id="{DCC0C8E4-E9E9-4F0C-96FE-222D6D5B8F0C}"/>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The score follows the observed sequence</a:t>
            </a:r>
          </a:p>
        </p:txBody>
      </p:sp>
      <p:sp>
        <p:nvSpPr>
          <p:cNvPr id="3" name="score-subtitle">
            <a:extLst xmlns:a="http://schemas.openxmlformats.org/drawingml/2006/main">
              <a:ext uri="{FF2B5EF4-FFF2-40B4-BE49-F238E27FC236}">
                <a16:creationId xmlns:a16="http://schemas.microsoft.com/office/drawing/2014/main" id="{723B78ED-CAD7-482A-A1FC-CA1EC73B0B4E}"/>
              </a:ext>
            </a:extLst>
          </p:cNvPr>
          <p:cNvSpPr>
            <a:spLocks xmlns:a="http://schemas.openxmlformats.org/drawingml/2006/main" noGrp="1"/>
          </p:cNvSpPr>
          <p:nvPr/>
        </p:nvSpPr>
        <p:spPr>
          <a:xfrm xmlns:a="http://schemas.openxmlformats.org/drawingml/2006/main">
            <a:off x="628650" y="14859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Every point appears only after the supporting transfer is visible at that cutoff.</a:t>
            </a:r>
          </a:p>
        </p:txBody>
      </p:sp>
      <p:sp>
        <p:nvSpPr>
          <p:cNvPr id="4" name="score-row-line-1">
            <a:extLst xmlns:a="http://schemas.openxmlformats.org/drawingml/2006/main">
              <a:ext uri="{FF2B5EF4-FFF2-40B4-BE49-F238E27FC236}">
                <a16:creationId xmlns:a16="http://schemas.microsoft.com/office/drawing/2014/main" id="{C86584AE-6382-410B-AC12-1E127BE70AEC}"/>
              </a:ext>
            </a:extLst>
          </p:cNvPr>
          <p:cNvSpPr>
            <a:spLocks xmlns:a="http://schemas.openxmlformats.org/drawingml/2006/main" noGrp="1"/>
          </p:cNvSpPr>
          <p:nvPr/>
        </p:nvSpPr>
        <p:spPr>
          <a:xfrm xmlns:a="http://schemas.openxmlformats.org/drawingml/2006/main">
            <a:off x="609600" y="2419350"/>
            <a:ext cx="47625" cy="723900"/>
          </a:xfrm>
          <a:prstGeom xmlns:a="http://schemas.openxmlformats.org/drawingml/2006/main" prst="roundRect">
            <a:avLst>
              <a:gd name="adj" fmla="val 40000"/>
            </a:avLst>
          </a:prstGeom>
          <a:solidFill xmlns:a="http://schemas.openxmlformats.org/drawingml/2006/main">
            <a:srgbClr val="2F6FE5"/>
          </a:solidFill>
          <a:ln xmlns:a="http://schemas.openxmlformats.org/drawingml/2006/main" w="9525">
            <a:solidFill>
              <a:srgbClr val="2F6FE5"/>
            </a:solidFill>
            <a:prstDash val="solid"/>
          </a:ln>
        </p:spPr>
      </p:sp>
      <p:sp>
        <p:nvSpPr>
          <p:cNvPr id="5" name="score-row-number-1">
            <a:extLst xmlns:a="http://schemas.openxmlformats.org/drawingml/2006/main">
              <a:ext uri="{FF2B5EF4-FFF2-40B4-BE49-F238E27FC236}">
                <a16:creationId xmlns:a16="http://schemas.microsoft.com/office/drawing/2014/main" id="{007B1BFA-E70B-478F-963B-0F9E308D77D5}"/>
              </a:ext>
            </a:extLst>
          </p:cNvPr>
          <p:cNvSpPr>
            <a:spLocks xmlns:a="http://schemas.openxmlformats.org/drawingml/2006/main" noGrp="1"/>
          </p:cNvSpPr>
          <p:nvPr/>
        </p:nvSpPr>
        <p:spPr>
          <a:xfrm xmlns:a="http://schemas.openxmlformats.org/drawingml/2006/main">
            <a:off x="838200" y="24574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F6FE5"/>
                </a:solidFill>
                <a:latin typeface="Helvetica Neue"/>
                <a:ea typeface="Helvetica Neue"/>
                <a:cs typeface="Helvetica Neue"/>
              </a:defRPr>
            </a:pPr>
            <a:r>
              <a:rPr sz="2550" b="1" i="0">
                <a:solidFill>
                  <a:srgbClr val="2F6FE5"/>
                </a:solidFill>
                <a:latin typeface="Helvetica Neue"/>
                <a:ea typeface="Helvetica Neue"/>
                <a:cs typeface="Helvetica Neue"/>
              </a:rPr>
              <a:t>30</a:t>
            </a:r>
          </a:p>
        </p:txBody>
      </p:sp>
      <p:sp>
        <p:nvSpPr>
          <p:cNvPr id="6" name="score-row-heading-1">
            <a:extLst xmlns:a="http://schemas.openxmlformats.org/drawingml/2006/main">
              <a:ext uri="{FF2B5EF4-FFF2-40B4-BE49-F238E27FC236}">
                <a16:creationId xmlns:a16="http://schemas.microsoft.com/office/drawing/2014/main" id="{963DB9A2-5AC5-46F7-9830-EDD26EE799D5}"/>
              </a:ext>
            </a:extLst>
          </p:cNvPr>
          <p:cNvSpPr>
            <a:spLocks xmlns:a="http://schemas.openxmlformats.org/drawingml/2006/main" noGrp="1"/>
          </p:cNvSpPr>
          <p:nvPr/>
        </p:nvSpPr>
        <p:spPr>
          <a:xfrm xmlns:a="http://schemas.openxmlformats.org/drawingml/2006/main">
            <a:off x="1733550" y="24765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Collection burst</a:t>
            </a:r>
          </a:p>
        </p:txBody>
      </p:sp>
      <p:sp>
        <p:nvSpPr>
          <p:cNvPr id="7" name="score-row-body-1">
            <a:extLst xmlns:a="http://schemas.openxmlformats.org/drawingml/2006/main">
              <a:ext uri="{FF2B5EF4-FFF2-40B4-BE49-F238E27FC236}">
                <a16:creationId xmlns:a16="http://schemas.microsoft.com/office/drawing/2014/main" id="{5010741C-54BF-474D-98B6-314DE514F9B0}"/>
              </a:ext>
            </a:extLst>
          </p:cNvPr>
          <p:cNvSpPr>
            <a:spLocks xmlns:a="http://schemas.openxmlformats.org/drawingml/2006/main" noGrp="1"/>
          </p:cNvSpPr>
          <p:nvPr/>
        </p:nvSpPr>
        <p:spPr>
          <a:xfrm xmlns:a="http://schemas.openxmlformats.org/drawingml/2006/main">
            <a:off x="1733550" y="27717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8 distinct senders paid A101 with ₹40,000 observed.</a:t>
            </a:r>
          </a:p>
        </p:txBody>
      </p:sp>
      <p:sp>
        <p:nvSpPr>
          <p:cNvPr id="8" name="score-row-line-2">
            <a:extLst xmlns:a="http://schemas.openxmlformats.org/drawingml/2006/main">
              <a:ext uri="{FF2B5EF4-FFF2-40B4-BE49-F238E27FC236}">
                <a16:creationId xmlns:a16="http://schemas.microsoft.com/office/drawing/2014/main" id="{E76D3C55-484E-496F-B9E9-E374CA13D160}"/>
              </a:ext>
            </a:extLst>
          </p:cNvPr>
          <p:cNvSpPr>
            <a:spLocks xmlns:a="http://schemas.openxmlformats.org/drawingml/2006/main" noGrp="1"/>
          </p:cNvSpPr>
          <p:nvPr/>
        </p:nvSpPr>
        <p:spPr>
          <a:xfrm xmlns:a="http://schemas.openxmlformats.org/drawingml/2006/main">
            <a:off x="609600" y="3390900"/>
            <a:ext cx="47625" cy="723900"/>
          </a:xfrm>
          <a:prstGeom xmlns:a="http://schemas.openxmlformats.org/drawingml/2006/main" prst="roundRect">
            <a:avLst>
              <a:gd name="adj" fmla="val 40000"/>
            </a:avLst>
          </a:prstGeom>
          <a:solidFill xmlns:a="http://schemas.openxmlformats.org/drawingml/2006/main">
            <a:srgbClr val="5D8EFF"/>
          </a:solidFill>
          <a:ln xmlns:a="http://schemas.openxmlformats.org/drawingml/2006/main" w="9525">
            <a:solidFill>
              <a:srgbClr val="5D8EFF"/>
            </a:solidFill>
            <a:prstDash val="solid"/>
          </a:ln>
        </p:spPr>
      </p:sp>
      <p:sp>
        <p:nvSpPr>
          <p:cNvPr id="9" name="score-row-number-2">
            <a:extLst xmlns:a="http://schemas.openxmlformats.org/drawingml/2006/main">
              <a:ext uri="{FF2B5EF4-FFF2-40B4-BE49-F238E27FC236}">
                <a16:creationId xmlns:a16="http://schemas.microsoft.com/office/drawing/2014/main" id="{914D5ABA-7013-4F31-8702-C9C182A37FBA}"/>
              </a:ext>
            </a:extLst>
          </p:cNvPr>
          <p:cNvSpPr>
            <a:spLocks xmlns:a="http://schemas.openxmlformats.org/drawingml/2006/main" noGrp="1"/>
          </p:cNvSpPr>
          <p:nvPr/>
        </p:nvSpPr>
        <p:spPr>
          <a:xfrm xmlns:a="http://schemas.openxmlformats.org/drawingml/2006/main">
            <a:off x="838200" y="342900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5D8EFF"/>
                </a:solidFill>
                <a:latin typeface="Helvetica Neue"/>
                <a:ea typeface="Helvetica Neue"/>
                <a:cs typeface="Helvetica Neue"/>
              </a:defRPr>
            </a:pPr>
            <a:r>
              <a:rPr sz="2550" b="1" i="0">
                <a:solidFill>
                  <a:srgbClr val="5D8EFF"/>
                </a:solidFill>
                <a:latin typeface="Helvetica Neue"/>
                <a:ea typeface="Helvetica Neue"/>
                <a:cs typeface="Helvetica Neue"/>
              </a:rPr>
              <a:t>70</a:t>
            </a:r>
          </a:p>
        </p:txBody>
      </p:sp>
      <p:sp>
        <p:nvSpPr>
          <p:cNvPr id="10" name="score-row-heading-2">
            <a:extLst xmlns:a="http://schemas.openxmlformats.org/drawingml/2006/main">
              <a:ext uri="{FF2B5EF4-FFF2-40B4-BE49-F238E27FC236}">
                <a16:creationId xmlns:a16="http://schemas.microsoft.com/office/drawing/2014/main" id="{EE4CA524-DDA5-4D8E-BAFB-42EA3422B9D6}"/>
              </a:ext>
            </a:extLst>
          </p:cNvPr>
          <p:cNvSpPr>
            <a:spLocks xmlns:a="http://schemas.openxmlformats.org/drawingml/2006/main" noGrp="1"/>
          </p:cNvSpPr>
          <p:nvPr/>
        </p:nvSpPr>
        <p:spPr>
          <a:xfrm xmlns:a="http://schemas.openxmlformats.org/drawingml/2006/main">
            <a:off x="1733550" y="34480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Rapid forwarding</a:t>
            </a:r>
          </a:p>
        </p:txBody>
      </p:sp>
      <p:sp>
        <p:nvSpPr>
          <p:cNvPr id="11" name="score-row-body-2">
            <a:extLst xmlns:a="http://schemas.openxmlformats.org/drawingml/2006/main">
              <a:ext uri="{FF2B5EF4-FFF2-40B4-BE49-F238E27FC236}">
                <a16:creationId xmlns:a16="http://schemas.microsoft.com/office/drawing/2014/main" id="{57FCF8DF-B5D6-4863-A03D-CDD62060B18A}"/>
              </a:ext>
            </a:extLst>
          </p:cNvPr>
          <p:cNvSpPr>
            <a:spLocks xmlns:a="http://schemas.openxmlformats.org/drawingml/2006/main" noGrp="1"/>
          </p:cNvSpPr>
          <p:nvPr/>
        </p:nvSpPr>
        <p:spPr>
          <a:xfrm xmlns:a="http://schemas.openxmlformats.org/drawingml/2006/main">
            <a:off x="1733550" y="3743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01"/>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₹38,000 outward movement reaches 95% of the observed incoming volume.</a:t>
            </a:r>
          </a:p>
        </p:txBody>
      </p:sp>
      <p:sp>
        <p:nvSpPr>
          <p:cNvPr id="12" name="score-row-line-3">
            <a:extLst xmlns:a="http://schemas.openxmlformats.org/drawingml/2006/main">
              <a:ext uri="{FF2B5EF4-FFF2-40B4-BE49-F238E27FC236}">
                <a16:creationId xmlns:a16="http://schemas.microsoft.com/office/drawing/2014/main" id="{E17BCA99-F7CF-4E1B-9A16-3A98550326E5}"/>
              </a:ext>
            </a:extLst>
          </p:cNvPr>
          <p:cNvSpPr>
            <a:spLocks xmlns:a="http://schemas.openxmlformats.org/drawingml/2006/main" noGrp="1"/>
          </p:cNvSpPr>
          <p:nvPr/>
        </p:nvSpPr>
        <p:spPr>
          <a:xfrm xmlns:a="http://schemas.openxmlformats.org/drawingml/2006/main">
            <a:off x="609600" y="4362450"/>
            <a:ext cx="47625" cy="723900"/>
          </a:xfrm>
          <a:prstGeom xmlns:a="http://schemas.openxmlformats.org/drawingml/2006/main" prst="roundRect">
            <a:avLst>
              <a:gd name="adj" fmla="val 40000"/>
            </a:avLst>
          </a:prstGeom>
          <a:solidFill xmlns:a="http://schemas.openxmlformats.org/drawingml/2006/main">
            <a:srgbClr val="F2756C"/>
          </a:solidFill>
          <a:ln xmlns:a="http://schemas.openxmlformats.org/drawingml/2006/main" w="9525">
            <a:solidFill>
              <a:srgbClr val="F2756C"/>
            </a:solidFill>
            <a:prstDash val="solid"/>
          </a:ln>
        </p:spPr>
      </p:sp>
      <p:sp>
        <p:nvSpPr>
          <p:cNvPr id="13" name="score-row-number-3">
            <a:extLst xmlns:a="http://schemas.openxmlformats.org/drawingml/2006/main">
              <a:ext uri="{FF2B5EF4-FFF2-40B4-BE49-F238E27FC236}">
                <a16:creationId xmlns:a16="http://schemas.microsoft.com/office/drawing/2014/main" id="{DE73B27D-5A1C-4C5E-AFF7-EE802603BE50}"/>
              </a:ext>
            </a:extLst>
          </p:cNvPr>
          <p:cNvSpPr>
            <a:spLocks xmlns:a="http://schemas.openxmlformats.org/drawingml/2006/main" noGrp="1"/>
          </p:cNvSpPr>
          <p:nvPr/>
        </p:nvSpPr>
        <p:spPr>
          <a:xfrm xmlns:a="http://schemas.openxmlformats.org/drawingml/2006/main">
            <a:off x="838200" y="44005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2756C"/>
                </a:solidFill>
                <a:latin typeface="Helvetica Neue"/>
                <a:ea typeface="Helvetica Neue"/>
                <a:cs typeface="Helvetica Neue"/>
              </a:defRPr>
            </a:pPr>
            <a:r>
              <a:rPr sz="2550" b="1" i="0">
                <a:solidFill>
                  <a:srgbClr val="F2756C"/>
                </a:solidFill>
                <a:latin typeface="Helvetica Neue"/>
                <a:ea typeface="Helvetica Neue"/>
                <a:cs typeface="Helvetica Neue"/>
              </a:rPr>
              <a:t>100</a:t>
            </a:r>
          </a:p>
        </p:txBody>
      </p:sp>
      <p:sp>
        <p:nvSpPr>
          <p:cNvPr id="14" name="score-row-heading-3">
            <a:extLst xmlns:a="http://schemas.openxmlformats.org/drawingml/2006/main">
              <a:ext uri="{FF2B5EF4-FFF2-40B4-BE49-F238E27FC236}">
                <a16:creationId xmlns:a16="http://schemas.microsoft.com/office/drawing/2014/main" id="{86A23AD8-FCA6-42EB-A30D-BE36957339FD}"/>
              </a:ext>
            </a:extLst>
          </p:cNvPr>
          <p:cNvSpPr>
            <a:spLocks xmlns:a="http://schemas.openxmlformats.org/drawingml/2006/main" noGrp="1"/>
          </p:cNvSpPr>
          <p:nvPr/>
        </p:nvSpPr>
        <p:spPr>
          <a:xfrm xmlns:a="http://schemas.openxmlformats.org/drawingml/2006/main">
            <a:off x="1733550" y="44196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Split and reconverge</a:t>
            </a:r>
          </a:p>
        </p:txBody>
      </p:sp>
      <p:sp>
        <p:nvSpPr>
          <p:cNvPr id="15" name="score-row-body-3">
            <a:extLst xmlns:a="http://schemas.openxmlformats.org/drawingml/2006/main">
              <a:ext uri="{FF2B5EF4-FFF2-40B4-BE49-F238E27FC236}">
                <a16:creationId xmlns:a16="http://schemas.microsoft.com/office/drawing/2014/main" id="{A6F6F505-891F-49B5-9A1B-E868E15D90CE}"/>
              </a:ext>
            </a:extLst>
          </p:cNvPr>
          <p:cNvSpPr>
            <a:spLocks xmlns:a="http://schemas.openxmlformats.org/drawingml/2006/main" noGrp="1"/>
          </p:cNvSpPr>
          <p:nvPr/>
        </p:nvSpPr>
        <p:spPr>
          <a:xfrm xmlns:a="http://schemas.openxmlformats.org/drawingml/2006/main">
            <a:off x="1733550" y="4714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68"/>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Two branches reach the common destination A301 in order.</a:t>
            </a:r>
          </a:p>
        </p:txBody>
      </p:sp>
      <p:graphicFrame>
        <p:nvGraphicFramePr>
          <p:cNvPr id="37" name="Chart"/>
          <p:cNvGraphicFramePr/>
          <p:nvPr/>
        </p:nvGraphicFramePr>
        <p:xfrm>
          <a:off xmlns:a="http://schemas.openxmlformats.org/drawingml/2006/main" x="5962650" y="2190750"/>
          <a:ext xmlns:a="http://schemas.openxmlformats.org/drawingml/2006/main" cx="5619750" cy="3143250"/>
        </p:xfrm>
        <a:graphic xmlns:a="http://schemas.openxmlformats.org/drawingml/2006/main">
          <a:graphicData uri="http://schemas.openxmlformats.org/drawingml/2006/chart">
            <c:chart xmlns:r="http://schemas.openxmlformats.org/officeDocument/2006/relationships" xmlns:c="http://schemas.openxmlformats.org/drawingml/2006/chart" r:id="Rd743786a01354893"/>
          </a:graphicData>
        </a:graphic>
      </p:graphicFrame>
      <p:sp>
        <p:nvSpPr>
          <p:cNvPr id="17" name="score-caveat">
            <a:extLst xmlns:a="http://schemas.openxmlformats.org/drawingml/2006/main">
              <a:ext uri="{FF2B5EF4-FFF2-40B4-BE49-F238E27FC236}">
                <a16:creationId xmlns:a16="http://schemas.microsoft.com/office/drawing/2014/main" id="{8ED5C7D9-0A13-40D4-9078-3A4162B7B57F}"/>
              </a:ext>
            </a:extLst>
          </p:cNvPr>
          <p:cNvSpPr>
            <a:spLocks xmlns:a="http://schemas.openxmlformats.org/drawingml/2006/main" noGrp="1"/>
          </p:cNvSpPr>
          <p:nvPr/>
        </p:nvSpPr>
        <p:spPr>
          <a:xfrm xmlns:a="http://schemas.openxmlformats.org/drawingml/2006/main">
            <a:off x="5962650" y="5600700"/>
            <a:ext cx="5619750" cy="438150"/>
          </a:xfrm>
          <a:prstGeom xmlns:a="http://schemas.openxmlformats.org/drawingml/2006/main" prst="roundRect">
            <a:avLst>
              <a:gd name="adj" fmla="val 21739"/>
            </a:avLst>
          </a:prstGeom>
          <a:solidFill xmlns:a="http://schemas.openxmlformats.org/drawingml/2006/main">
            <a:srgbClr val="071429"/>
          </a:solidFill>
          <a:ln xmlns:a="http://schemas.openxmlformats.org/drawingml/2006/main" w="9525">
            <a:solidFill>
              <a:srgbClr val="17345B"/>
            </a:solidFill>
            <a:prstDash val="solid"/>
          </a:ln>
        </p:spPr>
      </p:sp>
      <p:sp>
        <p:nvSpPr>
          <p:cNvPr id="18" name="score-caveat-text">
            <a:extLst xmlns:a="http://schemas.openxmlformats.org/drawingml/2006/main">
              <a:ext uri="{FF2B5EF4-FFF2-40B4-BE49-F238E27FC236}">
                <a16:creationId xmlns:a16="http://schemas.microsoft.com/office/drawing/2014/main" id="{FAD7838A-838F-45EF-B4C8-8B37B5AAEDBF}"/>
              </a:ext>
            </a:extLst>
          </p:cNvPr>
          <p:cNvSpPr>
            <a:spLocks xmlns:a="http://schemas.openxmlformats.org/drawingml/2006/main" noGrp="1"/>
          </p:cNvSpPr>
          <p:nvPr/>
        </p:nvSpPr>
        <p:spPr>
          <a:xfrm xmlns:a="http://schemas.openxmlformats.org/drawingml/2006/main">
            <a:off x="6153150" y="5724525"/>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Configured review points. Not a fraud probability.</a:t>
            </a:r>
          </a:p>
        </p:txBody>
      </p:sp>
      <p:sp>
        <p:nvSpPr>
          <p:cNvPr id="19" name="footer-rule-6">
            <a:extLst xmlns:a="http://schemas.openxmlformats.org/drawingml/2006/main">
              <a:ext uri="{FF2B5EF4-FFF2-40B4-BE49-F238E27FC236}">
                <a16:creationId xmlns:a16="http://schemas.microsoft.com/office/drawing/2014/main" id="{A7CE581B-6DB9-4E66-A93B-CAEDF0D2B0D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0" name="footer-brand-6">
            <a:extLst xmlns:a="http://schemas.openxmlformats.org/drawingml/2006/main">
              <a:ext uri="{FF2B5EF4-FFF2-40B4-BE49-F238E27FC236}">
                <a16:creationId xmlns:a16="http://schemas.microsoft.com/office/drawing/2014/main" id="{493927A7-BB61-4977-B017-192152F5670D}"/>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1" name="footer-page-6">
            <a:extLst xmlns:a="http://schemas.openxmlformats.org/drawingml/2006/main">
              <a:ext uri="{FF2B5EF4-FFF2-40B4-BE49-F238E27FC236}">
                <a16:creationId xmlns:a16="http://schemas.microsoft.com/office/drawing/2014/main" id="{6D84D84D-FCE7-4356-9CD0-5A07836F7011}"/>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06 / 13</a:t>
            </a:r>
          </a:p>
        </p:txBody>
      </p:sp>
    </p:spTree>
    <p:extLst>
      <p:ext uri="{BB962C8B-B14F-4D97-AF65-F5344CB8AC3E}">
        <p14:creationId xmlns:p14="http://schemas.microsoft.com/office/powerpoint/2010/main" val="1543346242"/>
      </p:ext>
    </p:extLst>
  </p:cSld>
</p:sld>
</file>

<file path=ppt/slides/slide7.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59" name="trace-kicker">
            <a:extLst xmlns:a="http://schemas.openxmlformats.org/drawingml/2006/main">
              <a:ext uri="{FF2B5EF4-FFF2-40B4-BE49-F238E27FC236}">
                <a16:creationId xmlns:a16="http://schemas.microsoft.com/office/drawing/2014/main" id="{BACEBEC7-28A5-4157-9427-6C8A115CE73C}"/>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GRAPH INTELLIGENCE</a:t>
            </a:r>
          </a:p>
        </p:txBody>
      </p:sp>
      <p:sp>
        <p:nvSpPr>
          <p:cNvPr id="2" name="trace-title">
            <a:extLst xmlns:a="http://schemas.openxmlformats.org/drawingml/2006/main">
              <a:ext uri="{FF2B5EF4-FFF2-40B4-BE49-F238E27FC236}">
                <a16:creationId xmlns:a16="http://schemas.microsoft.com/office/drawing/2014/main" id="{A732CB46-7C85-480A-9CEF-7364006FBA84}"/>
              </a:ext>
            </a:extLst>
          </p:cNvPr>
          <p:cNvSpPr>
            <a:spLocks xmlns:a="http://schemas.openxmlformats.org/drawingml/2006/main" noGrp="1"/>
          </p:cNvSpPr>
          <p:nvPr/>
        </p:nvSpPr>
        <p:spPr>
          <a:xfrm xmlns:a="http://schemas.openxmlformats.org/drawingml/2006/main">
            <a:off x="609600" y="828675"/>
            <a:ext cx="962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84"/>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Money-flow tracing makes the evidence inspectable</a:t>
            </a:r>
          </a:p>
        </p:txBody>
      </p:sp>
      <p:sp>
        <p:nvSpPr>
          <p:cNvPr id="3" name="trace-subtitle">
            <a:extLst xmlns:a="http://schemas.openxmlformats.org/drawingml/2006/main">
              <a:ext uri="{FF2B5EF4-FFF2-40B4-BE49-F238E27FC236}">
                <a16:creationId xmlns:a16="http://schemas.microsoft.com/office/drawing/2014/main" id="{FC23DFC9-321B-409B-8790-4469661F751E}"/>
              </a:ext>
            </a:extLst>
          </p:cNvPr>
          <p:cNvSpPr>
            <a:spLocks xmlns:a="http://schemas.openxmlformats.org/drawingml/2006/main" noGrp="1"/>
          </p:cNvSpPr>
          <p:nvPr/>
        </p:nvSpPr>
        <p:spPr>
          <a:xfrm xmlns:a="http://schemas.openxmlformats.org/drawingml/2006/main">
            <a:off x="628650" y="1485900"/>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engine follows chronological edges and reports what the data supports at the selected cutoff.</a:t>
            </a:r>
          </a:p>
        </p:txBody>
      </p:sp>
      <p:sp>
        <p:nvSpPr>
          <p:cNvPr id="4" name="trace-rule">
            <a:extLst xmlns:a="http://schemas.openxmlformats.org/drawingml/2006/main">
              <a:ext uri="{FF2B5EF4-FFF2-40B4-BE49-F238E27FC236}">
                <a16:creationId xmlns:a16="http://schemas.microsoft.com/office/drawing/2014/main" id="{D47D126F-4E59-4275-8D42-84660234248C}"/>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trace-source-1">
            <a:extLst xmlns:a="http://schemas.openxmlformats.org/drawingml/2006/main">
              <a:ext uri="{FF2B5EF4-FFF2-40B4-BE49-F238E27FC236}">
                <a16:creationId xmlns:a16="http://schemas.microsoft.com/office/drawing/2014/main" id="{72B88734-224E-4615-8A36-A1D1E6B04BC3}"/>
              </a:ext>
            </a:extLst>
          </p:cNvPr>
          <p:cNvSpPr>
            <a:spLocks xmlns:a="http://schemas.openxmlformats.org/drawingml/2006/main" noGrp="1"/>
          </p:cNvSpPr>
          <p:nvPr/>
        </p:nvSpPr>
        <p:spPr>
          <a:xfrm xmlns:a="http://schemas.openxmlformats.org/drawingml/2006/main">
            <a:off x="742950" y="23336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6" name="trace-source-1-title">
            <a:extLst xmlns:a="http://schemas.openxmlformats.org/drawingml/2006/main">
              <a:ext uri="{FF2B5EF4-FFF2-40B4-BE49-F238E27FC236}">
                <a16:creationId xmlns:a16="http://schemas.microsoft.com/office/drawing/2014/main" id="{C1C494C9-F269-46E3-B45B-95B6540502EF}"/>
              </a:ext>
            </a:extLst>
          </p:cNvPr>
          <p:cNvSpPr>
            <a:spLocks xmlns:a="http://schemas.openxmlformats.org/drawingml/2006/main" noGrp="1"/>
          </p:cNvSpPr>
          <p:nvPr/>
        </p:nvSpPr>
        <p:spPr>
          <a:xfrm xmlns:a="http://schemas.openxmlformats.org/drawingml/2006/main">
            <a:off x="876300" y="24479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A001</a:t>
            </a:r>
          </a:p>
        </p:txBody>
      </p:sp>
      <p:sp>
        <p:nvSpPr>
          <p:cNvPr id="7" name="trace-source-2">
            <a:extLst xmlns:a="http://schemas.openxmlformats.org/drawingml/2006/main">
              <a:ext uri="{FF2B5EF4-FFF2-40B4-BE49-F238E27FC236}">
                <a16:creationId xmlns:a16="http://schemas.microsoft.com/office/drawing/2014/main" id="{3C16D8BF-93CF-4816-ACA8-1294D6BAC13E}"/>
              </a:ext>
            </a:extLst>
          </p:cNvPr>
          <p:cNvSpPr>
            <a:spLocks xmlns:a="http://schemas.openxmlformats.org/drawingml/2006/main" noGrp="1"/>
          </p:cNvSpPr>
          <p:nvPr/>
        </p:nvSpPr>
        <p:spPr>
          <a:xfrm xmlns:a="http://schemas.openxmlformats.org/drawingml/2006/main">
            <a:off x="742950" y="26955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8" name="trace-source-2-title">
            <a:extLst xmlns:a="http://schemas.openxmlformats.org/drawingml/2006/main">
              <a:ext uri="{FF2B5EF4-FFF2-40B4-BE49-F238E27FC236}">
                <a16:creationId xmlns:a16="http://schemas.microsoft.com/office/drawing/2014/main" id="{E4A7796B-6070-4F16-A5F5-22931CF49DF6}"/>
              </a:ext>
            </a:extLst>
          </p:cNvPr>
          <p:cNvSpPr>
            <a:spLocks xmlns:a="http://schemas.openxmlformats.org/drawingml/2006/main" noGrp="1"/>
          </p:cNvSpPr>
          <p:nvPr/>
        </p:nvSpPr>
        <p:spPr>
          <a:xfrm xmlns:a="http://schemas.openxmlformats.org/drawingml/2006/main">
            <a:off x="876300" y="28098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A002</a:t>
            </a:r>
          </a:p>
        </p:txBody>
      </p:sp>
      <p:sp>
        <p:nvSpPr>
          <p:cNvPr id="9" name="trace-source-3">
            <a:extLst xmlns:a="http://schemas.openxmlformats.org/drawingml/2006/main">
              <a:ext uri="{FF2B5EF4-FFF2-40B4-BE49-F238E27FC236}">
                <a16:creationId xmlns:a16="http://schemas.microsoft.com/office/drawing/2014/main" id="{1784E4B7-E68F-4EDC-85FB-82A211C311FA}"/>
              </a:ext>
            </a:extLst>
          </p:cNvPr>
          <p:cNvSpPr>
            <a:spLocks xmlns:a="http://schemas.openxmlformats.org/drawingml/2006/main" noGrp="1"/>
          </p:cNvSpPr>
          <p:nvPr/>
        </p:nvSpPr>
        <p:spPr>
          <a:xfrm xmlns:a="http://schemas.openxmlformats.org/drawingml/2006/main">
            <a:off x="742950" y="30575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0" name="trace-source-3-title">
            <a:extLst xmlns:a="http://schemas.openxmlformats.org/drawingml/2006/main">
              <a:ext uri="{FF2B5EF4-FFF2-40B4-BE49-F238E27FC236}">
                <a16:creationId xmlns:a16="http://schemas.microsoft.com/office/drawing/2014/main" id="{245B4A2B-21A1-4888-B264-F7CF422CF3FE}"/>
              </a:ext>
            </a:extLst>
          </p:cNvPr>
          <p:cNvSpPr>
            <a:spLocks xmlns:a="http://schemas.openxmlformats.org/drawingml/2006/main" noGrp="1"/>
          </p:cNvSpPr>
          <p:nvPr/>
        </p:nvSpPr>
        <p:spPr>
          <a:xfrm xmlns:a="http://schemas.openxmlformats.org/drawingml/2006/main">
            <a:off x="876300" y="31718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A003</a:t>
            </a:r>
          </a:p>
        </p:txBody>
      </p:sp>
      <p:sp>
        <p:nvSpPr>
          <p:cNvPr id="11" name="trace-source-4">
            <a:extLst xmlns:a="http://schemas.openxmlformats.org/drawingml/2006/main">
              <a:ext uri="{FF2B5EF4-FFF2-40B4-BE49-F238E27FC236}">
                <a16:creationId xmlns:a16="http://schemas.microsoft.com/office/drawing/2014/main" id="{E5735552-172D-4F59-9B7D-71EB577920AE}"/>
              </a:ext>
            </a:extLst>
          </p:cNvPr>
          <p:cNvSpPr>
            <a:spLocks xmlns:a="http://schemas.openxmlformats.org/drawingml/2006/main" noGrp="1"/>
          </p:cNvSpPr>
          <p:nvPr/>
        </p:nvSpPr>
        <p:spPr>
          <a:xfrm xmlns:a="http://schemas.openxmlformats.org/drawingml/2006/main">
            <a:off x="742950" y="34194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2" name="trace-source-4-title">
            <a:extLst xmlns:a="http://schemas.openxmlformats.org/drawingml/2006/main">
              <a:ext uri="{FF2B5EF4-FFF2-40B4-BE49-F238E27FC236}">
                <a16:creationId xmlns:a16="http://schemas.microsoft.com/office/drawing/2014/main" id="{70651459-8584-481A-BD6A-A809B4998A63}"/>
              </a:ext>
            </a:extLst>
          </p:cNvPr>
          <p:cNvSpPr>
            <a:spLocks xmlns:a="http://schemas.openxmlformats.org/drawingml/2006/main" noGrp="1"/>
          </p:cNvSpPr>
          <p:nvPr/>
        </p:nvSpPr>
        <p:spPr>
          <a:xfrm xmlns:a="http://schemas.openxmlformats.org/drawingml/2006/main">
            <a:off x="876300" y="35337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A004</a:t>
            </a:r>
          </a:p>
        </p:txBody>
      </p:sp>
      <p:sp>
        <p:nvSpPr>
          <p:cNvPr id="13" name="trace-source-5">
            <a:extLst xmlns:a="http://schemas.openxmlformats.org/drawingml/2006/main">
              <a:ext uri="{FF2B5EF4-FFF2-40B4-BE49-F238E27FC236}">
                <a16:creationId xmlns:a16="http://schemas.microsoft.com/office/drawing/2014/main" id="{3CAA9C76-5A5E-43DF-87EE-10B2EDFF1BF7}"/>
              </a:ext>
            </a:extLst>
          </p:cNvPr>
          <p:cNvSpPr>
            <a:spLocks xmlns:a="http://schemas.openxmlformats.org/drawingml/2006/main" noGrp="1"/>
          </p:cNvSpPr>
          <p:nvPr/>
        </p:nvSpPr>
        <p:spPr>
          <a:xfrm xmlns:a="http://schemas.openxmlformats.org/drawingml/2006/main">
            <a:off x="742950" y="37814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4" name="trace-source-5-title">
            <a:extLst xmlns:a="http://schemas.openxmlformats.org/drawingml/2006/main">
              <a:ext uri="{FF2B5EF4-FFF2-40B4-BE49-F238E27FC236}">
                <a16:creationId xmlns:a16="http://schemas.microsoft.com/office/drawing/2014/main" id="{6A21FB4D-CB91-49B6-8A23-C85EF4F28271}"/>
              </a:ext>
            </a:extLst>
          </p:cNvPr>
          <p:cNvSpPr>
            <a:spLocks xmlns:a="http://schemas.openxmlformats.org/drawingml/2006/main" noGrp="1"/>
          </p:cNvSpPr>
          <p:nvPr/>
        </p:nvSpPr>
        <p:spPr>
          <a:xfrm xmlns:a="http://schemas.openxmlformats.org/drawingml/2006/main">
            <a:off x="876300" y="38957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A005</a:t>
            </a:r>
          </a:p>
        </p:txBody>
      </p:sp>
      <p:sp>
        <p:nvSpPr>
          <p:cNvPr id="15" name="trace-source-6">
            <a:extLst xmlns:a="http://schemas.openxmlformats.org/drawingml/2006/main">
              <a:ext uri="{FF2B5EF4-FFF2-40B4-BE49-F238E27FC236}">
                <a16:creationId xmlns:a16="http://schemas.microsoft.com/office/drawing/2014/main" id="{4BE8349C-E72A-44FA-A5C9-15EAAED19AA4}"/>
              </a:ext>
            </a:extLst>
          </p:cNvPr>
          <p:cNvSpPr>
            <a:spLocks xmlns:a="http://schemas.openxmlformats.org/drawingml/2006/main" noGrp="1"/>
          </p:cNvSpPr>
          <p:nvPr/>
        </p:nvSpPr>
        <p:spPr>
          <a:xfrm xmlns:a="http://schemas.openxmlformats.org/drawingml/2006/main">
            <a:off x="742950" y="41433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6" name="trace-source-6-title">
            <a:extLst xmlns:a="http://schemas.openxmlformats.org/drawingml/2006/main">
              <a:ext uri="{FF2B5EF4-FFF2-40B4-BE49-F238E27FC236}">
                <a16:creationId xmlns:a16="http://schemas.microsoft.com/office/drawing/2014/main" id="{FA041FF1-52EF-4A65-ABDD-608055237270}"/>
              </a:ext>
            </a:extLst>
          </p:cNvPr>
          <p:cNvSpPr>
            <a:spLocks xmlns:a="http://schemas.openxmlformats.org/drawingml/2006/main" noGrp="1"/>
          </p:cNvSpPr>
          <p:nvPr/>
        </p:nvSpPr>
        <p:spPr>
          <a:xfrm xmlns:a="http://schemas.openxmlformats.org/drawingml/2006/main">
            <a:off x="876300" y="42576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A006</a:t>
            </a:r>
          </a:p>
        </p:txBody>
      </p:sp>
      <p:sp>
        <p:nvSpPr>
          <p:cNvPr id="17" name="trace-source-7">
            <a:extLst xmlns:a="http://schemas.openxmlformats.org/drawingml/2006/main">
              <a:ext uri="{FF2B5EF4-FFF2-40B4-BE49-F238E27FC236}">
                <a16:creationId xmlns:a16="http://schemas.microsoft.com/office/drawing/2014/main" id="{0B948042-B403-4972-BF1A-94323CE19E5B}"/>
              </a:ext>
            </a:extLst>
          </p:cNvPr>
          <p:cNvSpPr>
            <a:spLocks xmlns:a="http://schemas.openxmlformats.org/drawingml/2006/main" noGrp="1"/>
          </p:cNvSpPr>
          <p:nvPr/>
        </p:nvSpPr>
        <p:spPr>
          <a:xfrm xmlns:a="http://schemas.openxmlformats.org/drawingml/2006/main">
            <a:off x="742950" y="45053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8" name="trace-source-7-title">
            <a:extLst xmlns:a="http://schemas.openxmlformats.org/drawingml/2006/main">
              <a:ext uri="{FF2B5EF4-FFF2-40B4-BE49-F238E27FC236}">
                <a16:creationId xmlns:a16="http://schemas.microsoft.com/office/drawing/2014/main" id="{D0409AF0-2498-4740-8226-DD2832ECB350}"/>
              </a:ext>
            </a:extLst>
          </p:cNvPr>
          <p:cNvSpPr>
            <a:spLocks xmlns:a="http://schemas.openxmlformats.org/drawingml/2006/main" noGrp="1"/>
          </p:cNvSpPr>
          <p:nvPr/>
        </p:nvSpPr>
        <p:spPr>
          <a:xfrm xmlns:a="http://schemas.openxmlformats.org/drawingml/2006/main">
            <a:off x="876300" y="46196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A007</a:t>
            </a:r>
          </a:p>
        </p:txBody>
      </p:sp>
      <p:sp>
        <p:nvSpPr>
          <p:cNvPr id="19" name="trace-source-8">
            <a:extLst xmlns:a="http://schemas.openxmlformats.org/drawingml/2006/main">
              <a:ext uri="{FF2B5EF4-FFF2-40B4-BE49-F238E27FC236}">
                <a16:creationId xmlns:a16="http://schemas.microsoft.com/office/drawing/2014/main" id="{625BE6F8-B0BD-4B02-943C-300844262B54}"/>
              </a:ext>
            </a:extLst>
          </p:cNvPr>
          <p:cNvSpPr>
            <a:spLocks xmlns:a="http://schemas.openxmlformats.org/drawingml/2006/main" noGrp="1"/>
          </p:cNvSpPr>
          <p:nvPr/>
        </p:nvSpPr>
        <p:spPr>
          <a:xfrm xmlns:a="http://schemas.openxmlformats.org/drawingml/2006/main">
            <a:off x="742950" y="48672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20" name="trace-source-8-title">
            <a:extLst xmlns:a="http://schemas.openxmlformats.org/drawingml/2006/main">
              <a:ext uri="{FF2B5EF4-FFF2-40B4-BE49-F238E27FC236}">
                <a16:creationId xmlns:a16="http://schemas.microsoft.com/office/drawing/2014/main" id="{77168771-E684-4924-9118-5E2675811CA0}"/>
              </a:ext>
            </a:extLst>
          </p:cNvPr>
          <p:cNvSpPr>
            <a:spLocks xmlns:a="http://schemas.openxmlformats.org/drawingml/2006/main" noGrp="1"/>
          </p:cNvSpPr>
          <p:nvPr/>
        </p:nvSpPr>
        <p:spPr>
          <a:xfrm xmlns:a="http://schemas.openxmlformats.org/drawingml/2006/main">
            <a:off x="876300" y="49815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A008</a:t>
            </a:r>
          </a:p>
        </p:txBody>
      </p:sp>
      <p:sp>
        <p:nvSpPr>
          <p:cNvPr id="21" name="trace-focal">
            <a:extLst xmlns:a="http://schemas.openxmlformats.org/drawingml/2006/main">
              <a:ext uri="{FF2B5EF4-FFF2-40B4-BE49-F238E27FC236}">
                <a16:creationId xmlns:a16="http://schemas.microsoft.com/office/drawing/2014/main" id="{39C1262A-3745-4CFE-A71F-81DABD487ABD}"/>
              </a:ext>
            </a:extLst>
          </p:cNvPr>
          <p:cNvSpPr>
            <a:spLocks xmlns:a="http://schemas.openxmlformats.org/drawingml/2006/main" noGrp="1"/>
          </p:cNvSpPr>
          <p:nvPr/>
        </p:nvSpPr>
        <p:spPr>
          <a:xfrm xmlns:a="http://schemas.openxmlformats.org/drawingml/2006/main">
            <a:off x="3238500" y="3476625"/>
            <a:ext cx="1524000" cy="609600"/>
          </a:xfrm>
          <a:prstGeom xmlns:a="http://schemas.openxmlformats.org/drawingml/2006/main" prst="roundRect">
            <a:avLst>
              <a:gd name="adj" fmla="val 20313"/>
            </a:avLst>
          </a:prstGeom>
          <a:solidFill xmlns:a="http://schemas.openxmlformats.org/drawingml/2006/main">
            <a:srgbClr val="2F6FE5"/>
          </a:solidFill>
          <a:ln xmlns:a="http://schemas.openxmlformats.org/drawingml/2006/main" w="9525">
            <a:solidFill>
              <a:srgbClr val="77A4FF"/>
            </a:solidFill>
            <a:prstDash val="solid"/>
          </a:ln>
        </p:spPr>
      </p:sp>
      <p:sp>
        <p:nvSpPr>
          <p:cNvPr id="22" name="trace-focal-title">
            <a:extLst xmlns:a="http://schemas.openxmlformats.org/drawingml/2006/main">
              <a:ext uri="{FF2B5EF4-FFF2-40B4-BE49-F238E27FC236}">
                <a16:creationId xmlns:a16="http://schemas.microsoft.com/office/drawing/2014/main" id="{8855FCCC-CAC7-4BE1-9E17-3A65C7B62CBF}"/>
              </a:ext>
            </a:extLst>
          </p:cNvPr>
          <p:cNvSpPr>
            <a:spLocks xmlns:a="http://schemas.openxmlformats.org/drawingml/2006/main" noGrp="1"/>
          </p:cNvSpPr>
          <p:nvPr/>
        </p:nvSpPr>
        <p:spPr>
          <a:xfrm xmlns:a="http://schemas.openxmlformats.org/drawingml/2006/main">
            <a:off x="3371850" y="3590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7505"/>
          </a:bodyPr>
          <a:lstStyle xmlns:a="http://schemas.openxmlformats.org/drawingml/2006/main"/>
          <a:p xmlns:a="http://schemas.openxmlformats.org/drawingml/2006/main">
            <a:pPr algn="l">
              <a:lnSpc>
                <a:spcPct val="112000"/>
              </a:lnSpc>
              <a:buNone/>
              <a:defRPr sz="1800" b="1" i="0">
                <a:solidFill>
                  <a:srgbClr val="F6F9FF"/>
                </a:solidFill>
                <a:latin typeface="Helvetica Neue"/>
                <a:ea typeface="Helvetica Neue"/>
                <a:cs typeface="Helvetica Neue"/>
              </a:defRPr>
            </a:pPr>
            <a:r>
              <a:rPr sz="1800" b="1" i="0">
                <a:solidFill>
                  <a:srgbClr val="F6F9FF"/>
                </a:solidFill>
                <a:latin typeface="Helvetica Neue"/>
                <a:ea typeface="Helvetica Neue"/>
                <a:cs typeface="Helvetica Neue"/>
              </a:rPr>
              <a:t>A101</a:t>
            </a:r>
          </a:p>
        </p:txBody>
      </p:sp>
      <p:sp>
        <p:nvSpPr>
          <p:cNvPr id="23" name="trace-focal-body">
            <a:extLst xmlns:a="http://schemas.openxmlformats.org/drawingml/2006/main">
              <a:ext uri="{FF2B5EF4-FFF2-40B4-BE49-F238E27FC236}">
                <a16:creationId xmlns:a16="http://schemas.microsoft.com/office/drawing/2014/main" id="{3B0EE21A-44B2-4DB9-8BA5-581AA8945188}"/>
              </a:ext>
            </a:extLst>
          </p:cNvPr>
          <p:cNvSpPr>
            <a:spLocks xmlns:a="http://schemas.openxmlformats.org/drawingml/2006/main" noGrp="1"/>
          </p:cNvSpPr>
          <p:nvPr/>
        </p:nvSpPr>
        <p:spPr>
          <a:xfrm xmlns:a="http://schemas.openxmlformats.org/drawingml/2006/main">
            <a:off x="3371850" y="3857625"/>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focal account</a:t>
            </a:r>
          </a:p>
        </p:txBody>
      </p:sp>
      <p:sp>
        <p:nvSpPr>
          <p:cNvPr id="24" name="trace-branch-1">
            <a:extLst xmlns:a="http://schemas.openxmlformats.org/drawingml/2006/main">
              <a:ext uri="{FF2B5EF4-FFF2-40B4-BE49-F238E27FC236}">
                <a16:creationId xmlns:a16="http://schemas.microsoft.com/office/drawing/2014/main" id="{02315461-D58F-4C1B-9149-0DECC84BEB90}"/>
              </a:ext>
            </a:extLst>
          </p:cNvPr>
          <p:cNvSpPr>
            <a:spLocks xmlns:a="http://schemas.openxmlformats.org/drawingml/2006/main" noGrp="1"/>
          </p:cNvSpPr>
          <p:nvPr/>
        </p:nvSpPr>
        <p:spPr>
          <a:xfrm xmlns:a="http://schemas.openxmlformats.org/drawingml/2006/main">
            <a:off x="5715000" y="278130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5" name="trace-branch-1-title">
            <a:extLst xmlns:a="http://schemas.openxmlformats.org/drawingml/2006/main">
              <a:ext uri="{FF2B5EF4-FFF2-40B4-BE49-F238E27FC236}">
                <a16:creationId xmlns:a16="http://schemas.microsoft.com/office/drawing/2014/main" id="{68242521-025A-45A9-AD03-C1851EB59978}"/>
              </a:ext>
            </a:extLst>
          </p:cNvPr>
          <p:cNvSpPr>
            <a:spLocks xmlns:a="http://schemas.openxmlformats.org/drawingml/2006/main" noGrp="1"/>
          </p:cNvSpPr>
          <p:nvPr/>
        </p:nvSpPr>
        <p:spPr>
          <a:xfrm xmlns:a="http://schemas.openxmlformats.org/drawingml/2006/main">
            <a:off x="5848350" y="28956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A201</a:t>
            </a:r>
          </a:p>
        </p:txBody>
      </p:sp>
      <p:sp>
        <p:nvSpPr>
          <p:cNvPr id="26" name="trace-branch-1-body">
            <a:extLst xmlns:a="http://schemas.openxmlformats.org/drawingml/2006/main">
              <a:ext uri="{FF2B5EF4-FFF2-40B4-BE49-F238E27FC236}">
                <a16:creationId xmlns:a16="http://schemas.microsoft.com/office/drawing/2014/main" id="{86B85F9C-D4E8-4F92-9D0D-6197F8450C45}"/>
              </a:ext>
            </a:extLst>
          </p:cNvPr>
          <p:cNvSpPr>
            <a:spLocks xmlns:a="http://schemas.openxmlformats.org/drawingml/2006/main" noGrp="1"/>
          </p:cNvSpPr>
          <p:nvPr/>
        </p:nvSpPr>
        <p:spPr>
          <a:xfrm xmlns:a="http://schemas.openxmlformats.org/drawingml/2006/main">
            <a:off x="5848350" y="316230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27" name="trace-branch-2">
            <a:extLst xmlns:a="http://schemas.openxmlformats.org/drawingml/2006/main">
              <a:ext uri="{FF2B5EF4-FFF2-40B4-BE49-F238E27FC236}">
                <a16:creationId xmlns:a16="http://schemas.microsoft.com/office/drawing/2014/main" id="{B260FF43-D2AC-4756-862A-732087B7B29D}"/>
              </a:ext>
            </a:extLst>
          </p:cNvPr>
          <p:cNvSpPr>
            <a:spLocks xmlns:a="http://schemas.openxmlformats.org/drawingml/2006/main" noGrp="1"/>
          </p:cNvSpPr>
          <p:nvPr/>
        </p:nvSpPr>
        <p:spPr>
          <a:xfrm xmlns:a="http://schemas.openxmlformats.org/drawingml/2006/main">
            <a:off x="5715000" y="409575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8" name="trace-branch-2-title">
            <a:extLst xmlns:a="http://schemas.openxmlformats.org/drawingml/2006/main">
              <a:ext uri="{FF2B5EF4-FFF2-40B4-BE49-F238E27FC236}">
                <a16:creationId xmlns:a16="http://schemas.microsoft.com/office/drawing/2014/main" id="{A39CC19A-7661-40E5-9716-E8683034C571}"/>
              </a:ext>
            </a:extLst>
          </p:cNvPr>
          <p:cNvSpPr>
            <a:spLocks xmlns:a="http://schemas.openxmlformats.org/drawingml/2006/main" noGrp="1"/>
          </p:cNvSpPr>
          <p:nvPr/>
        </p:nvSpPr>
        <p:spPr>
          <a:xfrm xmlns:a="http://schemas.openxmlformats.org/drawingml/2006/main">
            <a:off x="5848350" y="421005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A202</a:t>
            </a:r>
          </a:p>
        </p:txBody>
      </p:sp>
      <p:sp>
        <p:nvSpPr>
          <p:cNvPr id="29" name="trace-branch-2-body">
            <a:extLst xmlns:a="http://schemas.openxmlformats.org/drawingml/2006/main">
              <a:ext uri="{FF2B5EF4-FFF2-40B4-BE49-F238E27FC236}">
                <a16:creationId xmlns:a16="http://schemas.microsoft.com/office/drawing/2014/main" id="{4178A7AE-CF56-4627-875F-1A8359AED1A3}"/>
              </a:ext>
            </a:extLst>
          </p:cNvPr>
          <p:cNvSpPr>
            <a:spLocks xmlns:a="http://schemas.openxmlformats.org/drawingml/2006/main" noGrp="1"/>
          </p:cNvSpPr>
          <p:nvPr/>
        </p:nvSpPr>
        <p:spPr>
          <a:xfrm xmlns:a="http://schemas.openxmlformats.org/drawingml/2006/main">
            <a:off x="5848350" y="447675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30" name="trace-target">
            <a:extLst xmlns:a="http://schemas.openxmlformats.org/drawingml/2006/main">
              <a:ext uri="{FF2B5EF4-FFF2-40B4-BE49-F238E27FC236}">
                <a16:creationId xmlns:a16="http://schemas.microsoft.com/office/drawing/2014/main" id="{3B3E1CD7-CC0F-401E-AA25-860C6FC4BD34}"/>
              </a:ext>
            </a:extLst>
          </p:cNvPr>
          <p:cNvSpPr>
            <a:spLocks xmlns:a="http://schemas.openxmlformats.org/drawingml/2006/main" noGrp="1"/>
          </p:cNvSpPr>
          <p:nvPr/>
        </p:nvSpPr>
        <p:spPr>
          <a:xfrm xmlns:a="http://schemas.openxmlformats.org/drawingml/2006/main">
            <a:off x="8210550" y="3429000"/>
            <a:ext cx="1485900" cy="609600"/>
          </a:xfrm>
          <a:prstGeom xmlns:a="http://schemas.openxmlformats.org/drawingml/2006/main" prst="roundRect">
            <a:avLst>
              <a:gd name="adj" fmla="val 20313"/>
            </a:avLst>
          </a:prstGeom>
          <a:solidFill xmlns:a="http://schemas.openxmlformats.org/drawingml/2006/main">
            <a:srgbClr val="143A3A"/>
          </a:solidFill>
          <a:ln xmlns:a="http://schemas.openxmlformats.org/drawingml/2006/main" w="9525">
            <a:solidFill>
              <a:srgbClr val="3B8F84"/>
            </a:solidFill>
            <a:prstDash val="solid"/>
          </a:ln>
        </p:spPr>
      </p:sp>
      <p:sp>
        <p:nvSpPr>
          <p:cNvPr id="31" name="trace-target-title">
            <a:extLst xmlns:a="http://schemas.openxmlformats.org/drawingml/2006/main">
              <a:ext uri="{FF2B5EF4-FFF2-40B4-BE49-F238E27FC236}">
                <a16:creationId xmlns:a16="http://schemas.microsoft.com/office/drawing/2014/main" id="{EB3EED9E-D20B-40E3-B1DC-F3AD13F5FF2E}"/>
              </a:ext>
            </a:extLst>
          </p:cNvPr>
          <p:cNvSpPr>
            <a:spLocks xmlns:a="http://schemas.openxmlformats.org/drawingml/2006/main" noGrp="1"/>
          </p:cNvSpPr>
          <p:nvPr/>
        </p:nvSpPr>
        <p:spPr>
          <a:xfrm xmlns:a="http://schemas.openxmlformats.org/drawingml/2006/main">
            <a:off x="8343900" y="3543300"/>
            <a:ext cx="121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77"/>
          </a:bodyPr>
          <a:lstStyle xmlns:a="http://schemas.openxmlformats.org/drawingml/2006/main"/>
          <a:p xmlns:a="http://schemas.openxmlformats.org/drawingml/2006/main">
            <a:pPr algn="l">
              <a:lnSpc>
                <a:spcPct val="112000"/>
              </a:lnSpc>
              <a:buNone/>
              <a:defRPr sz="1575" b="1" i="0">
                <a:solidFill>
                  <a:srgbClr val="63E0C5"/>
                </a:solidFill>
                <a:latin typeface="Helvetica Neue"/>
                <a:ea typeface="Helvetica Neue"/>
                <a:cs typeface="Helvetica Neue"/>
              </a:defRPr>
            </a:pPr>
            <a:r>
              <a:rPr sz="1575" b="1" i="0">
                <a:solidFill>
                  <a:srgbClr val="63E0C5"/>
                </a:solidFill>
                <a:latin typeface="Helvetica Neue"/>
                <a:ea typeface="Helvetica Neue"/>
                <a:cs typeface="Helvetica Neue"/>
              </a:rPr>
              <a:t>A301</a:t>
            </a:r>
          </a:p>
        </p:txBody>
      </p:sp>
      <p:sp>
        <p:nvSpPr>
          <p:cNvPr id="32" name="trace-target-body">
            <a:extLst xmlns:a="http://schemas.openxmlformats.org/drawingml/2006/main">
              <a:ext uri="{FF2B5EF4-FFF2-40B4-BE49-F238E27FC236}">
                <a16:creationId xmlns:a16="http://schemas.microsoft.com/office/drawing/2014/main" id="{B1AE5CA3-6A4A-4DE2-87A6-FBB27C84982A}"/>
              </a:ext>
            </a:extLst>
          </p:cNvPr>
          <p:cNvSpPr>
            <a:spLocks xmlns:a="http://schemas.openxmlformats.org/drawingml/2006/main" noGrp="1"/>
          </p:cNvSpPr>
          <p:nvPr/>
        </p:nvSpPr>
        <p:spPr>
          <a:xfrm xmlns:a="http://schemas.openxmlformats.org/drawingml/2006/main">
            <a:off x="8343900" y="38100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i="0">
                <a:solidFill>
                  <a:srgbClr val="B9E8DF"/>
                </a:solidFill>
                <a:latin typeface="Helvetica Neue"/>
                <a:ea typeface="Helvetica Neue"/>
                <a:cs typeface="Helvetica Neue"/>
              </a:defRPr>
            </a:pPr>
            <a:r>
              <a:rPr sz="825" b="0" i="0">
                <a:solidFill>
                  <a:srgbClr val="B9E8DF"/>
                </a:solidFill>
                <a:latin typeface="Helvetica Neue"/>
                <a:ea typeface="Helvetica Neue"/>
                <a:cs typeface="Helvetica Neue"/>
              </a:rPr>
              <a:t>common destination</a:t>
            </a:r>
          </a:p>
        </p:txBody>
      </p:sp>
      <p:cxnSp>
        <p:nvCxnSpPr>
          <p:cNvPr id="91" name=""/>
          <p:cNvCxnSpPr>
            <a:stCxn xmlns:a="http://schemas.openxmlformats.org/drawingml/2006/main" id="5" idx="3"/>
            <a:endCxn xmlns:a="http://schemas.openxmlformats.org/drawingml/2006/main" id="21" idx="1"/>
          </p:cNvCxnSpPr>
          <p:nvPr/>
        </p:nvCxnSpPr>
        <p:spPr>
          <a:xfrm xmlns:a="http://schemas.openxmlformats.org/drawingml/2006/main">
            <a:off x="1743075" y="2466975"/>
            <a:ext cx="1495425" cy="13144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2" name=""/>
          <p:cNvCxnSpPr>
            <a:stCxn xmlns:a="http://schemas.openxmlformats.org/drawingml/2006/main" id="7" idx="3"/>
            <a:endCxn xmlns:a="http://schemas.openxmlformats.org/drawingml/2006/main" id="21" idx="1"/>
          </p:cNvCxnSpPr>
          <p:nvPr/>
        </p:nvCxnSpPr>
        <p:spPr>
          <a:xfrm xmlns:a="http://schemas.openxmlformats.org/drawingml/2006/main">
            <a:off x="1743075" y="2828925"/>
            <a:ext cx="1495425" cy="9525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3" name=""/>
          <p:cNvCxnSpPr>
            <a:stCxn xmlns:a="http://schemas.openxmlformats.org/drawingml/2006/main" id="9" idx="3"/>
            <a:endCxn xmlns:a="http://schemas.openxmlformats.org/drawingml/2006/main" id="21" idx="1"/>
          </p:cNvCxnSpPr>
          <p:nvPr/>
        </p:nvCxnSpPr>
        <p:spPr>
          <a:xfrm xmlns:a="http://schemas.openxmlformats.org/drawingml/2006/main">
            <a:off x="1743075" y="3190875"/>
            <a:ext cx="1495425" cy="5905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4" name=""/>
          <p:cNvCxnSpPr>
            <a:stCxn xmlns:a="http://schemas.openxmlformats.org/drawingml/2006/main" id="11" idx="3"/>
            <a:endCxn xmlns:a="http://schemas.openxmlformats.org/drawingml/2006/main" id="21" idx="1"/>
          </p:cNvCxnSpPr>
          <p:nvPr/>
        </p:nvCxnSpPr>
        <p:spPr>
          <a:xfrm xmlns:a="http://schemas.openxmlformats.org/drawingml/2006/main">
            <a:off x="1743075" y="3552825"/>
            <a:ext cx="1495425" cy="2286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5" name=""/>
          <p:cNvCxnSpPr>
            <a:stCxn xmlns:a="http://schemas.openxmlformats.org/drawingml/2006/main" id="13" idx="3"/>
            <a:endCxn xmlns:a="http://schemas.openxmlformats.org/drawingml/2006/main" id="21" idx="1"/>
          </p:cNvCxnSpPr>
          <p:nvPr/>
        </p:nvCxnSpPr>
        <p:spPr>
          <a:xfrm xmlns:a="http://schemas.openxmlformats.org/drawingml/2006/main" flipV="1">
            <a:off x="1743075" y="3781425"/>
            <a:ext cx="1495425" cy="1333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6" name=""/>
          <p:cNvCxnSpPr>
            <a:stCxn xmlns:a="http://schemas.openxmlformats.org/drawingml/2006/main" id="15" idx="3"/>
            <a:endCxn xmlns:a="http://schemas.openxmlformats.org/drawingml/2006/main" id="21" idx="1"/>
          </p:cNvCxnSpPr>
          <p:nvPr/>
        </p:nvCxnSpPr>
        <p:spPr>
          <a:xfrm xmlns:a="http://schemas.openxmlformats.org/drawingml/2006/main" flipV="1">
            <a:off x="1743075" y="3781425"/>
            <a:ext cx="1495425" cy="4953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7" name=""/>
          <p:cNvCxnSpPr>
            <a:stCxn xmlns:a="http://schemas.openxmlformats.org/drawingml/2006/main" id="17" idx="3"/>
            <a:endCxn xmlns:a="http://schemas.openxmlformats.org/drawingml/2006/main" id="21" idx="1"/>
          </p:cNvCxnSpPr>
          <p:nvPr/>
        </p:nvCxnSpPr>
        <p:spPr>
          <a:xfrm xmlns:a="http://schemas.openxmlformats.org/drawingml/2006/main" flipV="1">
            <a:off x="1743075" y="3781425"/>
            <a:ext cx="1495425" cy="8572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8" name=""/>
          <p:cNvCxnSpPr>
            <a:stCxn xmlns:a="http://schemas.openxmlformats.org/drawingml/2006/main" id="19" idx="3"/>
            <a:endCxn xmlns:a="http://schemas.openxmlformats.org/drawingml/2006/main" id="21" idx="1"/>
          </p:cNvCxnSpPr>
          <p:nvPr/>
        </p:nvCxnSpPr>
        <p:spPr>
          <a:xfrm xmlns:a="http://schemas.openxmlformats.org/drawingml/2006/main" flipV="1">
            <a:off x="1743075" y="3781425"/>
            <a:ext cx="1495425" cy="12192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9" name=""/>
          <p:cNvCxnSpPr>
            <a:stCxn xmlns:a="http://schemas.openxmlformats.org/drawingml/2006/main" id="21" idx="3"/>
            <a:endCxn xmlns:a="http://schemas.openxmlformats.org/drawingml/2006/main" id="24" idx="1"/>
          </p:cNvCxnSpPr>
          <p:nvPr/>
        </p:nvCxnSpPr>
        <p:spPr>
          <a:xfrm xmlns:a="http://schemas.openxmlformats.org/drawingml/2006/main" flipV="1">
            <a:off x="4762500" y="3067050"/>
            <a:ext cx="952500" cy="714375"/>
          </a:xfrm>
          <a:prstGeom xmlns:a="http://schemas.openxmlformats.org/drawingml/2006/main" prst="bentConnector3">
            <a:avLst>
              <a:gd name="adj1" fmla="val 50000"/>
            </a:avLst>
          </a:prstGeom>
          <a:ln xmlns:a="http://schemas.openxmlformats.org/drawingml/2006/main" w="20955">
            <a:solidFill>
              <a:srgbClr val="5D8EFF"/>
            </a:solidFill>
            <a:prstDash val="solid"/>
            <a:tailEnd type="triangle" w="sm" len="sm"/>
          </a:ln>
        </p:spPr>
      </p:cxnSp>
      <p:cxnSp>
        <p:nvCxnSpPr>
          <p:cNvPr id="100" name=""/>
          <p:cNvCxnSpPr>
            <a:stCxn xmlns:a="http://schemas.openxmlformats.org/drawingml/2006/main" id="21" idx="3"/>
            <a:endCxn xmlns:a="http://schemas.openxmlformats.org/drawingml/2006/main" id="27" idx="1"/>
          </p:cNvCxnSpPr>
          <p:nvPr/>
        </p:nvCxnSpPr>
        <p:spPr>
          <a:xfrm xmlns:a="http://schemas.openxmlformats.org/drawingml/2006/main">
            <a:off x="4762500" y="3781425"/>
            <a:ext cx="952500" cy="600075"/>
          </a:xfrm>
          <a:prstGeom xmlns:a="http://schemas.openxmlformats.org/drawingml/2006/main" prst="bentConnector3">
            <a:avLst>
              <a:gd name="adj1" fmla="val 50000"/>
            </a:avLst>
          </a:prstGeom>
          <a:ln xmlns:a="http://schemas.openxmlformats.org/drawingml/2006/main" w="20955">
            <a:solidFill>
              <a:srgbClr val="5D8EFF"/>
            </a:solidFill>
            <a:prstDash val="solid"/>
            <a:tailEnd type="triangle" w="sm" len="sm"/>
          </a:ln>
        </p:spPr>
      </p:cxnSp>
      <p:cxnSp>
        <p:nvCxnSpPr>
          <p:cNvPr id="101" name=""/>
          <p:cNvCxnSpPr>
            <a:stCxn xmlns:a="http://schemas.openxmlformats.org/drawingml/2006/main" id="24" idx="3"/>
            <a:endCxn xmlns:a="http://schemas.openxmlformats.org/drawingml/2006/main" id="30" idx="1"/>
          </p:cNvCxnSpPr>
          <p:nvPr/>
        </p:nvCxnSpPr>
        <p:spPr>
          <a:xfrm xmlns:a="http://schemas.openxmlformats.org/drawingml/2006/main">
            <a:off x="7143750" y="3067050"/>
            <a:ext cx="1066800" cy="666750"/>
          </a:xfrm>
          <a:prstGeom xmlns:a="http://schemas.openxmlformats.org/drawingml/2006/main" prst="bentConnector3">
            <a:avLst>
              <a:gd name="adj1" fmla="val 50000"/>
            </a:avLst>
          </a:prstGeom>
          <a:ln xmlns:a="http://schemas.openxmlformats.org/drawingml/2006/main" w="20955">
            <a:solidFill>
              <a:srgbClr val="63E0C5"/>
            </a:solidFill>
            <a:prstDash val="solid"/>
            <a:tailEnd type="triangle" w="sm" len="sm"/>
          </a:ln>
        </p:spPr>
      </p:cxnSp>
      <p:cxnSp>
        <p:nvCxnSpPr>
          <p:cNvPr id="102" name=""/>
          <p:cNvCxnSpPr>
            <a:stCxn xmlns:a="http://schemas.openxmlformats.org/drawingml/2006/main" id="27" idx="3"/>
            <a:endCxn xmlns:a="http://schemas.openxmlformats.org/drawingml/2006/main" id="30" idx="1"/>
          </p:cNvCxnSpPr>
          <p:nvPr/>
        </p:nvCxnSpPr>
        <p:spPr>
          <a:xfrm xmlns:a="http://schemas.openxmlformats.org/drawingml/2006/main" flipV="1">
            <a:off x="7143750" y="3733800"/>
            <a:ext cx="1066800" cy="647700"/>
          </a:xfrm>
          <a:prstGeom xmlns:a="http://schemas.openxmlformats.org/drawingml/2006/main" prst="bentConnector3">
            <a:avLst>
              <a:gd name="adj1" fmla="val 50000"/>
            </a:avLst>
          </a:prstGeom>
          <a:ln xmlns:a="http://schemas.openxmlformats.org/drawingml/2006/main" w="20955">
            <a:solidFill>
              <a:srgbClr val="63E0C5"/>
            </a:solidFill>
            <a:prstDash val="solid"/>
            <a:tailEnd type="triangle" w="sm" len="sm"/>
          </a:ln>
        </p:spPr>
      </p:cxnSp>
      <p:sp>
        <p:nvSpPr>
          <p:cNvPr id="45" name="trace-metrics">
            <a:extLst xmlns:a="http://schemas.openxmlformats.org/drawingml/2006/main">
              <a:ext uri="{FF2B5EF4-FFF2-40B4-BE49-F238E27FC236}">
                <a16:creationId xmlns:a16="http://schemas.microsoft.com/office/drawing/2014/main" id="{2370A62B-8BCB-4147-A61B-20C32D06C8A7}"/>
              </a:ext>
            </a:extLst>
          </p:cNvPr>
          <p:cNvSpPr>
            <a:spLocks xmlns:a="http://schemas.openxmlformats.org/drawingml/2006/main" noGrp="1"/>
          </p:cNvSpPr>
          <p:nvPr/>
        </p:nvSpPr>
        <p:spPr>
          <a:xfrm xmlns:a="http://schemas.openxmlformats.org/drawingml/2006/main">
            <a:off x="9982200" y="2447925"/>
            <a:ext cx="1600200" cy="2209800"/>
          </a:xfrm>
          <a:prstGeom xmlns:a="http://schemas.openxmlformats.org/drawingml/2006/main" prst="roundRect">
            <a:avLst>
              <a:gd name="adj" fmla="val 9524"/>
            </a:avLst>
          </a:prstGeom>
          <a:solidFill xmlns:a="http://schemas.openxmlformats.org/drawingml/2006/main">
            <a:srgbClr val="102746"/>
          </a:solidFill>
          <a:ln xmlns:a="http://schemas.openxmlformats.org/drawingml/2006/main" w="9525">
            <a:solidFill>
              <a:srgbClr val="244B77"/>
            </a:solidFill>
            <a:prstDash val="solid"/>
          </a:ln>
        </p:spPr>
      </p:sp>
      <p:sp>
        <p:nvSpPr>
          <p:cNvPr id="46" name="trace-metrics-label">
            <a:extLst xmlns:a="http://schemas.openxmlformats.org/drawingml/2006/main">
              <a:ext uri="{FF2B5EF4-FFF2-40B4-BE49-F238E27FC236}">
                <a16:creationId xmlns:a16="http://schemas.microsoft.com/office/drawing/2014/main" id="{C1E88A93-C653-45A0-B8B0-81A503C152F2}"/>
              </a:ext>
            </a:extLst>
          </p:cNvPr>
          <p:cNvSpPr>
            <a:spLocks xmlns:a="http://schemas.openxmlformats.org/drawingml/2006/main" noGrp="1"/>
          </p:cNvSpPr>
          <p:nvPr/>
        </p:nvSpPr>
        <p:spPr>
          <a:xfrm xmlns:a="http://schemas.openxmlformats.org/drawingml/2006/main">
            <a:off x="10134600" y="26479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OBSERVED OUTPUT</a:t>
            </a:r>
          </a:p>
        </p:txBody>
      </p:sp>
      <p:sp>
        <p:nvSpPr>
          <p:cNvPr id="47" name="trace-metric-1">
            <a:extLst xmlns:a="http://schemas.openxmlformats.org/drawingml/2006/main">
              <a:ext uri="{FF2B5EF4-FFF2-40B4-BE49-F238E27FC236}">
                <a16:creationId xmlns:a16="http://schemas.microsoft.com/office/drawing/2014/main" id="{675D3DAE-A4FB-429C-98E9-F69C55611F03}"/>
              </a:ext>
            </a:extLst>
          </p:cNvPr>
          <p:cNvSpPr>
            <a:spLocks xmlns:a="http://schemas.openxmlformats.org/drawingml/2006/main" noGrp="1"/>
          </p:cNvSpPr>
          <p:nvPr/>
        </p:nvSpPr>
        <p:spPr>
          <a:xfrm xmlns:a="http://schemas.openxmlformats.org/drawingml/2006/main">
            <a:off x="10134600" y="2981325"/>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2400" b="1" i="0">
                <a:solidFill>
                  <a:srgbClr val="F6F9FF"/>
                </a:solidFill>
                <a:latin typeface="Helvetica Neue"/>
                <a:ea typeface="Helvetica Neue"/>
                <a:cs typeface="Helvetica Neue"/>
              </a:defRPr>
            </a:pPr>
            <a:r>
              <a:rPr sz="2400" b="1" i="0">
                <a:solidFill>
                  <a:srgbClr val="F6F9FF"/>
                </a:solidFill>
                <a:latin typeface="Helvetica Neue"/>
                <a:ea typeface="Helvetica Neue"/>
                <a:cs typeface="Helvetica Neue"/>
              </a:rPr>
              <a:t>2</a:t>
            </a:r>
          </a:p>
        </p:txBody>
      </p:sp>
      <p:sp>
        <p:nvSpPr>
          <p:cNvPr id="48" name="trace-metric-1-label">
            <a:extLst xmlns:a="http://schemas.openxmlformats.org/drawingml/2006/main">
              <a:ext uri="{FF2B5EF4-FFF2-40B4-BE49-F238E27FC236}">
                <a16:creationId xmlns:a16="http://schemas.microsoft.com/office/drawing/2014/main" id="{A21F9B71-ED00-42C0-8CD2-026D49951DEE}"/>
              </a:ext>
            </a:extLst>
          </p:cNvPr>
          <p:cNvSpPr>
            <a:spLocks xmlns:a="http://schemas.openxmlformats.org/drawingml/2006/main" noGrp="1"/>
          </p:cNvSpPr>
          <p:nvPr/>
        </p:nvSpPr>
        <p:spPr>
          <a:xfrm xmlns:a="http://schemas.openxmlformats.org/drawingml/2006/main">
            <a:off x="10572750" y="3057525"/>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chronological paths</a:t>
            </a:r>
          </a:p>
        </p:txBody>
      </p:sp>
      <p:sp>
        <p:nvSpPr>
          <p:cNvPr id="49" name="trace-metric-rule-1">
            <a:extLst xmlns:a="http://schemas.openxmlformats.org/drawingml/2006/main">
              <a:ext uri="{FF2B5EF4-FFF2-40B4-BE49-F238E27FC236}">
                <a16:creationId xmlns:a16="http://schemas.microsoft.com/office/drawing/2014/main" id="{AB55ADF4-6AB1-4D03-B0A3-2BB3A4B19E82}"/>
              </a:ext>
            </a:extLst>
          </p:cNvPr>
          <p:cNvSpPr>
            <a:spLocks xmlns:a="http://schemas.openxmlformats.org/drawingml/2006/main" noGrp="1"/>
          </p:cNvSpPr>
          <p:nvPr/>
        </p:nvSpPr>
        <p:spPr>
          <a:xfrm xmlns:a="http://schemas.openxmlformats.org/drawingml/2006/main">
            <a:off x="10134600" y="347662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0" name="trace-metric-2">
            <a:extLst xmlns:a="http://schemas.openxmlformats.org/drawingml/2006/main">
              <a:ext uri="{FF2B5EF4-FFF2-40B4-BE49-F238E27FC236}">
                <a16:creationId xmlns:a16="http://schemas.microsoft.com/office/drawing/2014/main" id="{786618EF-2916-4BA1-9EC1-CE719871A56E}"/>
              </a:ext>
            </a:extLst>
          </p:cNvPr>
          <p:cNvSpPr>
            <a:spLocks xmlns:a="http://schemas.openxmlformats.org/drawingml/2006/main" noGrp="1"/>
          </p:cNvSpPr>
          <p:nvPr/>
        </p:nvSpPr>
        <p:spPr>
          <a:xfrm xmlns:a="http://schemas.openxmlformats.org/drawingml/2006/main">
            <a:off x="10134600" y="36385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63E0C5"/>
                </a:solidFill>
                <a:latin typeface="Helvetica Neue"/>
                <a:ea typeface="Helvetica Neue"/>
                <a:cs typeface="Helvetica Neue"/>
              </a:defRPr>
            </a:pPr>
            <a:r>
              <a:rPr sz="1725" b="1" i="0">
                <a:solidFill>
                  <a:srgbClr val="63E0C5"/>
                </a:solidFill>
                <a:latin typeface="Helvetica Neue"/>
                <a:ea typeface="Helvetica Neue"/>
                <a:cs typeface="Helvetica Neue"/>
              </a:rPr>
              <a:t>₹18,500</a:t>
            </a:r>
          </a:p>
        </p:txBody>
      </p:sp>
      <p:sp>
        <p:nvSpPr>
          <p:cNvPr id="51" name="trace-metric-2-label">
            <a:extLst xmlns:a="http://schemas.openxmlformats.org/drawingml/2006/main">
              <a:ext uri="{FF2B5EF4-FFF2-40B4-BE49-F238E27FC236}">
                <a16:creationId xmlns:a16="http://schemas.microsoft.com/office/drawing/2014/main" id="{7A7A82B5-9CD2-4C2B-A641-75331340C0A1}"/>
              </a:ext>
            </a:extLst>
          </p:cNvPr>
          <p:cNvSpPr>
            <a:spLocks xmlns:a="http://schemas.openxmlformats.org/drawingml/2006/main" noGrp="1"/>
          </p:cNvSpPr>
          <p:nvPr/>
        </p:nvSpPr>
        <p:spPr>
          <a:xfrm xmlns:a="http://schemas.openxmlformats.org/drawingml/2006/main">
            <a:off x="10134600" y="399097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observed bottleneck</a:t>
            </a:r>
          </a:p>
        </p:txBody>
      </p:sp>
      <p:sp>
        <p:nvSpPr>
          <p:cNvPr id="52" name="trace-metric-rule-2">
            <a:extLst xmlns:a="http://schemas.openxmlformats.org/drawingml/2006/main">
              <a:ext uri="{FF2B5EF4-FFF2-40B4-BE49-F238E27FC236}">
                <a16:creationId xmlns:a16="http://schemas.microsoft.com/office/drawing/2014/main" id="{D9685E82-B51D-49FB-9DD1-F02E8A356C5F}"/>
              </a:ext>
            </a:extLst>
          </p:cNvPr>
          <p:cNvSpPr>
            <a:spLocks xmlns:a="http://schemas.openxmlformats.org/drawingml/2006/main" noGrp="1"/>
          </p:cNvSpPr>
          <p:nvPr/>
        </p:nvSpPr>
        <p:spPr>
          <a:xfrm xmlns:a="http://schemas.openxmlformats.org/drawingml/2006/main">
            <a:off x="10134600" y="433387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3" name="trace-metric-3">
            <a:extLst xmlns:a="http://schemas.openxmlformats.org/drawingml/2006/main">
              <a:ext uri="{FF2B5EF4-FFF2-40B4-BE49-F238E27FC236}">
                <a16:creationId xmlns:a16="http://schemas.microsoft.com/office/drawing/2014/main" id="{99D00670-F7F0-4903-A1A2-8FF357AEDE05}"/>
              </a:ext>
            </a:extLst>
          </p:cNvPr>
          <p:cNvSpPr>
            <a:spLocks xmlns:a="http://schemas.openxmlformats.org/drawingml/2006/main" noGrp="1"/>
          </p:cNvSpPr>
          <p:nvPr/>
        </p:nvSpPr>
        <p:spPr>
          <a:xfrm xmlns:a="http://schemas.openxmlformats.org/drawingml/2006/main">
            <a:off x="10134600" y="44767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F6F9FF"/>
                </a:solidFill>
                <a:latin typeface="Helvetica Neue"/>
                <a:ea typeface="Helvetica Neue"/>
                <a:cs typeface="Helvetica Neue"/>
              </a:defRPr>
            </a:pPr>
            <a:r>
              <a:rPr sz="1875" b="1" i="0">
                <a:solidFill>
                  <a:srgbClr val="F6F9FF"/>
                </a:solidFill>
                <a:latin typeface="Helvetica Neue"/>
                <a:ea typeface="Helvetica Neue"/>
                <a:cs typeface="Helvetica Neue"/>
              </a:rPr>
              <a:t>0</a:t>
            </a:r>
          </a:p>
        </p:txBody>
      </p:sp>
      <p:sp>
        <p:nvSpPr>
          <p:cNvPr id="54" name="trace-metric-3-label">
            <a:extLst xmlns:a="http://schemas.openxmlformats.org/drawingml/2006/main">
              <a:ext uri="{FF2B5EF4-FFF2-40B4-BE49-F238E27FC236}">
                <a16:creationId xmlns:a16="http://schemas.microsoft.com/office/drawing/2014/main" id="{A2E57842-A7C0-44AD-8FF1-3E21FD08C082}"/>
              </a:ext>
            </a:extLst>
          </p:cNvPr>
          <p:cNvSpPr>
            <a:spLocks xmlns:a="http://schemas.openxmlformats.org/drawingml/2006/main" noGrp="1"/>
          </p:cNvSpPr>
          <p:nvPr/>
        </p:nvSpPr>
        <p:spPr>
          <a:xfrm xmlns:a="http://schemas.openxmlformats.org/drawingml/2006/main">
            <a:off x="10572750" y="454342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cycles in this case</a:t>
            </a:r>
          </a:p>
        </p:txBody>
      </p:sp>
      <p:sp>
        <p:nvSpPr>
          <p:cNvPr id="55" name="trace-footnote">
            <a:extLst xmlns:a="http://schemas.openxmlformats.org/drawingml/2006/main">
              <a:ext uri="{FF2B5EF4-FFF2-40B4-BE49-F238E27FC236}">
                <a16:creationId xmlns:a16="http://schemas.microsoft.com/office/drawing/2014/main" id="{59D9A1A0-7E9E-4FBC-B9A5-17FDD8328254}"/>
              </a:ext>
            </a:extLst>
          </p:cNvPr>
          <p:cNvSpPr>
            <a:spLocks xmlns:a="http://schemas.openxmlformats.org/drawingml/2006/main" noGrp="1"/>
          </p:cNvSpPr>
          <p:nvPr/>
        </p:nvSpPr>
        <p:spPr>
          <a:xfrm xmlns:a="http://schemas.openxmlformats.org/drawingml/2006/main">
            <a:off x="742950" y="5657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8EA2BE"/>
                </a:solidFill>
                <a:latin typeface="Helvetica Neue"/>
                <a:ea typeface="Helvetica Neue"/>
                <a:cs typeface="Helvetica Neue"/>
              </a:defRPr>
            </a:pPr>
            <a:r>
              <a:rPr sz="1050" b="1" i="0">
                <a:solidFill>
                  <a:srgbClr val="8EA2BE"/>
                </a:solidFill>
                <a:latin typeface="Helvetica Neue"/>
                <a:ea typeface="Helvetica Neue"/>
                <a:cs typeface="Helvetica Neue"/>
              </a:rPr>
              <a:t>Trace limits: 5 hops / 30-minute total window / 10-minute hop window</a:t>
            </a:r>
          </a:p>
        </p:txBody>
      </p:sp>
      <p:sp>
        <p:nvSpPr>
          <p:cNvPr id="56" name="footer-rule-7">
            <a:extLst xmlns:a="http://schemas.openxmlformats.org/drawingml/2006/main">
              <a:ext uri="{FF2B5EF4-FFF2-40B4-BE49-F238E27FC236}">
                <a16:creationId xmlns:a16="http://schemas.microsoft.com/office/drawing/2014/main" id="{9DA308F9-62BE-49A6-A238-ABFC55B1128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7" name="footer-brand-7">
            <a:extLst xmlns:a="http://schemas.openxmlformats.org/drawingml/2006/main">
              <a:ext uri="{FF2B5EF4-FFF2-40B4-BE49-F238E27FC236}">
                <a16:creationId xmlns:a16="http://schemas.microsoft.com/office/drawing/2014/main" id="{59070446-A457-42F6-8B8E-65B64C9D033A}"/>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58" name="footer-page-7">
            <a:extLst xmlns:a="http://schemas.openxmlformats.org/drawingml/2006/main">
              <a:ext uri="{FF2B5EF4-FFF2-40B4-BE49-F238E27FC236}">
                <a16:creationId xmlns:a16="http://schemas.microsoft.com/office/drawing/2014/main" id="{DCC88AE2-EF6C-4E64-B2B2-9C1F8DDCF6AF}"/>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07 / 13</a:t>
            </a:r>
          </a:p>
        </p:txBody>
      </p:sp>
    </p:spTree>
    <p:extLst>
      <p:ext uri="{BB962C8B-B14F-4D97-AF65-F5344CB8AC3E}">
        <p14:creationId xmlns:p14="http://schemas.microsoft.com/office/powerpoint/2010/main" val="272234075"/>
      </p:ext>
    </p:extLst>
  </p:cSld>
</p:sld>
</file>

<file path=ppt/slides/slide8.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9" name="rules-kicker">
            <a:extLst xmlns:a="http://schemas.openxmlformats.org/drawingml/2006/main">
              <a:ext uri="{FF2B5EF4-FFF2-40B4-BE49-F238E27FC236}">
                <a16:creationId xmlns:a16="http://schemas.microsoft.com/office/drawing/2014/main" id="{C7DD0AB3-C4B1-40C6-85FF-7BA2BFAED0F7}"/>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DETECTION CONTRACT</a:t>
            </a:r>
          </a:p>
        </p:txBody>
      </p:sp>
      <p:sp>
        <p:nvSpPr>
          <p:cNvPr id="2" name="rules-title">
            <a:extLst xmlns:a="http://schemas.openxmlformats.org/drawingml/2006/main">
              <a:ext uri="{FF2B5EF4-FFF2-40B4-BE49-F238E27FC236}">
                <a16:creationId xmlns:a16="http://schemas.microsoft.com/office/drawing/2014/main" id="{8D29B1FD-DDA1-4C2F-87C9-B021A44C15D0}"/>
              </a:ext>
            </a:extLst>
          </p:cNvPr>
          <p:cNvSpPr>
            <a:spLocks xmlns:a="http://schemas.openxmlformats.org/drawingml/2006/main" noGrp="1"/>
          </p:cNvSpPr>
          <p:nvPr/>
        </p:nvSpPr>
        <p:spPr>
          <a:xfrm xmlns:a="http://schemas.openxmlformats.org/drawingml/2006/main">
            <a:off x="609600" y="828675"/>
            <a:ext cx="885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Three rules turn a pattern into review priority</a:t>
            </a:r>
          </a:p>
        </p:txBody>
      </p:sp>
      <p:sp>
        <p:nvSpPr>
          <p:cNvPr id="3" name="rules-subtitle">
            <a:extLst xmlns:a="http://schemas.openxmlformats.org/drawingml/2006/main">
              <a:ext uri="{FF2B5EF4-FFF2-40B4-BE49-F238E27FC236}">
                <a16:creationId xmlns:a16="http://schemas.microsoft.com/office/drawing/2014/main" id="{EA423765-3847-436C-A32B-143E2BFEDADD}"/>
              </a:ext>
            </a:extLst>
          </p:cNvPr>
          <p:cNvSpPr>
            <a:spLocks xmlns:a="http://schemas.openxmlformats.org/drawingml/2006/main" noGrp="1"/>
          </p:cNvSpPr>
          <p:nvPr/>
        </p:nvSpPr>
        <p:spPr>
          <a:xfrm xmlns:a="http://schemas.openxmlformats.org/drawingml/2006/main">
            <a:off x="628650" y="14859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score stays deterministic. The graph pass adds context without changing the core decision ladder.</a:t>
            </a:r>
          </a:p>
        </p:txBody>
      </p:sp>
      <p:sp>
        <p:nvSpPr>
          <p:cNvPr id="4" name="rules-rule">
            <a:extLst xmlns:a="http://schemas.openxmlformats.org/drawingml/2006/main">
              <a:ext uri="{FF2B5EF4-FFF2-40B4-BE49-F238E27FC236}">
                <a16:creationId xmlns:a16="http://schemas.microsoft.com/office/drawing/2014/main" id="{06F0DAE7-FA57-466B-B38A-4E9F8895712D}"/>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rules-row-1">
            <a:extLst xmlns:a="http://schemas.openxmlformats.org/drawingml/2006/main">
              <a:ext uri="{FF2B5EF4-FFF2-40B4-BE49-F238E27FC236}">
                <a16:creationId xmlns:a16="http://schemas.microsoft.com/office/drawing/2014/main" id="{75BDFBAE-C19D-4285-A697-B50467C829DB}"/>
              </a:ext>
            </a:extLst>
          </p:cNvPr>
          <p:cNvSpPr>
            <a:spLocks xmlns:a="http://schemas.openxmlformats.org/drawingml/2006/main" noGrp="1"/>
          </p:cNvSpPr>
          <p:nvPr/>
        </p:nvSpPr>
        <p:spPr>
          <a:xfrm xmlns:a="http://schemas.openxmlformats.org/drawingml/2006/main">
            <a:off x="609600" y="24003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rules-points-1">
            <a:extLst xmlns:a="http://schemas.openxmlformats.org/drawingml/2006/main">
              <a:ext uri="{FF2B5EF4-FFF2-40B4-BE49-F238E27FC236}">
                <a16:creationId xmlns:a16="http://schemas.microsoft.com/office/drawing/2014/main" id="{3138B730-1941-4BF9-9AE9-49F40F72F57D}"/>
              </a:ext>
            </a:extLst>
          </p:cNvPr>
          <p:cNvSpPr>
            <a:spLocks xmlns:a="http://schemas.openxmlformats.org/drawingml/2006/main" noGrp="1"/>
          </p:cNvSpPr>
          <p:nvPr/>
        </p:nvSpPr>
        <p:spPr>
          <a:xfrm xmlns:a="http://schemas.openxmlformats.org/drawingml/2006/main">
            <a:off x="838200" y="25717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2F6FE5"/>
                </a:solidFill>
                <a:latin typeface="Helvetica Neue"/>
                <a:ea typeface="Helvetica Neue"/>
                <a:cs typeface="Helvetica Neue"/>
              </a:defRPr>
            </a:pPr>
            <a:r>
              <a:rPr sz="2175" b="1" i="0">
                <a:solidFill>
                  <a:srgbClr val="2F6FE5"/>
                </a:solidFill>
                <a:latin typeface="Helvetica Neue"/>
                <a:ea typeface="Helvetica Neue"/>
                <a:cs typeface="Helvetica Neue"/>
              </a:rPr>
              <a:t>+30</a:t>
            </a:r>
          </a:p>
        </p:txBody>
      </p:sp>
      <p:sp>
        <p:nvSpPr>
          <p:cNvPr id="7" name="rules-heading-1">
            <a:extLst xmlns:a="http://schemas.openxmlformats.org/drawingml/2006/main">
              <a:ext uri="{FF2B5EF4-FFF2-40B4-BE49-F238E27FC236}">
                <a16:creationId xmlns:a16="http://schemas.microsoft.com/office/drawing/2014/main" id="{D47C8E22-B486-4CA7-8644-ABA0220FCAB6}"/>
              </a:ext>
            </a:extLst>
          </p:cNvPr>
          <p:cNvSpPr>
            <a:spLocks xmlns:a="http://schemas.openxmlformats.org/drawingml/2006/main" noGrp="1"/>
          </p:cNvSpPr>
          <p:nvPr/>
        </p:nvSpPr>
        <p:spPr>
          <a:xfrm xmlns:a="http://schemas.openxmlformats.org/drawingml/2006/main">
            <a:off x="1733550" y="25146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Collection burst</a:t>
            </a:r>
          </a:p>
        </p:txBody>
      </p:sp>
      <p:sp>
        <p:nvSpPr>
          <p:cNvPr id="8" name="rules-body-1">
            <a:extLst xmlns:a="http://schemas.openxmlformats.org/drawingml/2006/main">
              <a:ext uri="{FF2B5EF4-FFF2-40B4-BE49-F238E27FC236}">
                <a16:creationId xmlns:a16="http://schemas.microsoft.com/office/drawing/2014/main" id="{E4FC8CFC-A53C-4D36-9A8B-E0D543DD1476}"/>
              </a:ext>
            </a:extLst>
          </p:cNvPr>
          <p:cNvSpPr>
            <a:spLocks xmlns:a="http://schemas.openxmlformats.org/drawingml/2006/main" noGrp="1"/>
          </p:cNvSpPr>
          <p:nvPr/>
        </p:nvSpPr>
        <p:spPr>
          <a:xfrm xmlns:a="http://schemas.openxmlformats.org/drawingml/2006/main">
            <a:off x="1733550" y="27717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88"/>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At least 6 distinct senders pay the focal account inside 10 minutes.</a:t>
            </a:r>
          </a:p>
        </p:txBody>
      </p:sp>
      <p:sp>
        <p:nvSpPr>
          <p:cNvPr id="9" name="rules-label-1">
            <a:extLst xmlns:a="http://schemas.openxmlformats.org/drawingml/2006/main">
              <a:ext uri="{FF2B5EF4-FFF2-40B4-BE49-F238E27FC236}">
                <a16:creationId xmlns:a16="http://schemas.microsoft.com/office/drawing/2014/main" id="{A2334144-EF4C-4B59-8123-EE6E86B7A36F}"/>
              </a:ext>
            </a:extLst>
          </p:cNvPr>
          <p:cNvSpPr>
            <a:spLocks xmlns:a="http://schemas.openxmlformats.org/drawingml/2006/main" noGrp="1"/>
          </p:cNvSpPr>
          <p:nvPr/>
        </p:nvSpPr>
        <p:spPr>
          <a:xfrm xmlns:a="http://schemas.openxmlformats.org/drawingml/2006/main">
            <a:off x="4286250" y="25336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CANDIDATE STARTS HERE</a:t>
            </a:r>
          </a:p>
        </p:txBody>
      </p:sp>
      <p:sp>
        <p:nvSpPr>
          <p:cNvPr id="10" name="rules-row-2">
            <a:extLst xmlns:a="http://schemas.openxmlformats.org/drawingml/2006/main">
              <a:ext uri="{FF2B5EF4-FFF2-40B4-BE49-F238E27FC236}">
                <a16:creationId xmlns:a16="http://schemas.microsoft.com/office/drawing/2014/main" id="{1EC10D1C-BA9E-48D2-B4C2-EF8675F887C2}"/>
              </a:ext>
            </a:extLst>
          </p:cNvPr>
          <p:cNvSpPr>
            <a:spLocks xmlns:a="http://schemas.openxmlformats.org/drawingml/2006/main" noGrp="1"/>
          </p:cNvSpPr>
          <p:nvPr/>
        </p:nvSpPr>
        <p:spPr>
          <a:xfrm xmlns:a="http://schemas.openxmlformats.org/drawingml/2006/main">
            <a:off x="609600" y="33528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ules-points-2">
            <a:extLst xmlns:a="http://schemas.openxmlformats.org/drawingml/2006/main">
              <a:ext uri="{FF2B5EF4-FFF2-40B4-BE49-F238E27FC236}">
                <a16:creationId xmlns:a16="http://schemas.microsoft.com/office/drawing/2014/main" id="{43D1571C-B154-4B83-8E1E-6E07A477E27F}"/>
              </a:ext>
            </a:extLst>
          </p:cNvPr>
          <p:cNvSpPr>
            <a:spLocks xmlns:a="http://schemas.openxmlformats.org/drawingml/2006/main" noGrp="1"/>
          </p:cNvSpPr>
          <p:nvPr/>
        </p:nvSpPr>
        <p:spPr>
          <a:xfrm xmlns:a="http://schemas.openxmlformats.org/drawingml/2006/main">
            <a:off x="838200" y="35242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5D8EFF"/>
                </a:solidFill>
                <a:latin typeface="Helvetica Neue"/>
                <a:ea typeface="Helvetica Neue"/>
                <a:cs typeface="Helvetica Neue"/>
              </a:defRPr>
            </a:pPr>
            <a:r>
              <a:rPr sz="2175" b="1" i="0">
                <a:solidFill>
                  <a:srgbClr val="5D8EFF"/>
                </a:solidFill>
                <a:latin typeface="Helvetica Neue"/>
                <a:ea typeface="Helvetica Neue"/>
                <a:cs typeface="Helvetica Neue"/>
              </a:rPr>
              <a:t>+40</a:t>
            </a:r>
          </a:p>
        </p:txBody>
      </p:sp>
      <p:sp>
        <p:nvSpPr>
          <p:cNvPr id="12" name="rules-heading-2">
            <a:extLst xmlns:a="http://schemas.openxmlformats.org/drawingml/2006/main">
              <a:ext uri="{FF2B5EF4-FFF2-40B4-BE49-F238E27FC236}">
                <a16:creationId xmlns:a16="http://schemas.microsoft.com/office/drawing/2014/main" id="{CA64756B-E5E2-4E16-806C-F3E971B84179}"/>
              </a:ext>
            </a:extLst>
          </p:cNvPr>
          <p:cNvSpPr>
            <a:spLocks xmlns:a="http://schemas.openxmlformats.org/drawingml/2006/main" noGrp="1"/>
          </p:cNvSpPr>
          <p:nvPr/>
        </p:nvSpPr>
        <p:spPr>
          <a:xfrm xmlns:a="http://schemas.openxmlformats.org/drawingml/2006/main">
            <a:off x="1733550" y="34671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Rapid forwarding</a:t>
            </a:r>
          </a:p>
        </p:txBody>
      </p:sp>
      <p:sp>
        <p:nvSpPr>
          <p:cNvPr id="13" name="rules-body-2">
            <a:extLst xmlns:a="http://schemas.openxmlformats.org/drawingml/2006/main">
              <a:ext uri="{FF2B5EF4-FFF2-40B4-BE49-F238E27FC236}">
                <a16:creationId xmlns:a16="http://schemas.microsoft.com/office/drawing/2014/main" id="{7118168D-5B81-44E1-AA79-66282C412A92}"/>
              </a:ext>
            </a:extLst>
          </p:cNvPr>
          <p:cNvSpPr>
            <a:spLocks xmlns:a="http://schemas.openxmlformats.org/drawingml/2006/main" noGrp="1"/>
          </p:cNvSpPr>
          <p:nvPr/>
        </p:nvSpPr>
        <p:spPr>
          <a:xfrm xmlns:a="http://schemas.openxmlformats.org/drawingml/2006/main">
            <a:off x="1733550" y="37242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852"/>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Observed outward volume reaches at least 80% of collection volume within 5 minutes.</a:t>
            </a:r>
          </a:p>
        </p:txBody>
      </p:sp>
      <p:sp>
        <p:nvSpPr>
          <p:cNvPr id="14" name="rules-label-2">
            <a:extLst xmlns:a="http://schemas.openxmlformats.org/drawingml/2006/main">
              <a:ext uri="{FF2B5EF4-FFF2-40B4-BE49-F238E27FC236}">
                <a16:creationId xmlns:a16="http://schemas.microsoft.com/office/drawing/2014/main" id="{B215EBF2-673B-4FD1-AC72-7B9294920FC1}"/>
              </a:ext>
            </a:extLst>
          </p:cNvPr>
          <p:cNvSpPr>
            <a:spLocks xmlns:a="http://schemas.openxmlformats.org/drawingml/2006/main" noGrp="1"/>
          </p:cNvSpPr>
          <p:nvPr/>
        </p:nvSpPr>
        <p:spPr>
          <a:xfrm xmlns:a="http://schemas.openxmlformats.org/drawingml/2006/main">
            <a:off x="4286250" y="34861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REVIEW THRESHOLD</a:t>
            </a:r>
          </a:p>
        </p:txBody>
      </p:sp>
      <p:sp>
        <p:nvSpPr>
          <p:cNvPr id="15" name="rules-row-3">
            <a:extLst xmlns:a="http://schemas.openxmlformats.org/drawingml/2006/main">
              <a:ext uri="{FF2B5EF4-FFF2-40B4-BE49-F238E27FC236}">
                <a16:creationId xmlns:a16="http://schemas.microsoft.com/office/drawing/2014/main" id="{12034306-19D7-4C64-8F1A-A4090CDC1C9A}"/>
              </a:ext>
            </a:extLst>
          </p:cNvPr>
          <p:cNvSpPr>
            <a:spLocks xmlns:a="http://schemas.openxmlformats.org/drawingml/2006/main" noGrp="1"/>
          </p:cNvSpPr>
          <p:nvPr/>
        </p:nvSpPr>
        <p:spPr>
          <a:xfrm xmlns:a="http://schemas.openxmlformats.org/drawingml/2006/main">
            <a:off x="609600" y="43053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rules-points-3">
            <a:extLst xmlns:a="http://schemas.openxmlformats.org/drawingml/2006/main">
              <a:ext uri="{FF2B5EF4-FFF2-40B4-BE49-F238E27FC236}">
                <a16:creationId xmlns:a16="http://schemas.microsoft.com/office/drawing/2014/main" id="{FEC8BC22-9FE9-4287-9229-BD518BB0F83B}"/>
              </a:ext>
            </a:extLst>
          </p:cNvPr>
          <p:cNvSpPr>
            <a:spLocks xmlns:a="http://schemas.openxmlformats.org/drawingml/2006/main" noGrp="1"/>
          </p:cNvSpPr>
          <p:nvPr/>
        </p:nvSpPr>
        <p:spPr>
          <a:xfrm xmlns:a="http://schemas.openxmlformats.org/drawingml/2006/main">
            <a:off x="838200" y="44767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F2756C"/>
                </a:solidFill>
                <a:latin typeface="Helvetica Neue"/>
                <a:ea typeface="Helvetica Neue"/>
                <a:cs typeface="Helvetica Neue"/>
              </a:defRPr>
            </a:pPr>
            <a:r>
              <a:rPr sz="2175" b="1" i="0">
                <a:solidFill>
                  <a:srgbClr val="F2756C"/>
                </a:solidFill>
                <a:latin typeface="Helvetica Neue"/>
                <a:ea typeface="Helvetica Neue"/>
                <a:cs typeface="Helvetica Neue"/>
              </a:rPr>
              <a:t>+30</a:t>
            </a:r>
          </a:p>
        </p:txBody>
      </p:sp>
      <p:sp>
        <p:nvSpPr>
          <p:cNvPr id="17" name="rules-heading-3">
            <a:extLst xmlns:a="http://schemas.openxmlformats.org/drawingml/2006/main">
              <a:ext uri="{FF2B5EF4-FFF2-40B4-BE49-F238E27FC236}">
                <a16:creationId xmlns:a16="http://schemas.microsoft.com/office/drawing/2014/main" id="{85CA4A5C-C9A3-4071-942D-98D93A31AB1C}"/>
              </a:ext>
            </a:extLst>
          </p:cNvPr>
          <p:cNvSpPr>
            <a:spLocks xmlns:a="http://schemas.openxmlformats.org/drawingml/2006/main" noGrp="1"/>
          </p:cNvSpPr>
          <p:nvPr/>
        </p:nvSpPr>
        <p:spPr>
          <a:xfrm xmlns:a="http://schemas.openxmlformats.org/drawingml/2006/main">
            <a:off x="1733550" y="44196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Split and reconverge</a:t>
            </a:r>
          </a:p>
        </p:txBody>
      </p:sp>
      <p:sp>
        <p:nvSpPr>
          <p:cNvPr id="18" name="rules-body-3">
            <a:extLst xmlns:a="http://schemas.openxmlformats.org/drawingml/2006/main">
              <a:ext uri="{FF2B5EF4-FFF2-40B4-BE49-F238E27FC236}">
                <a16:creationId xmlns:a16="http://schemas.microsoft.com/office/drawing/2014/main" id="{9C02C6D7-5D61-46BA-A674-418C8D934061}"/>
              </a:ext>
            </a:extLst>
          </p:cNvPr>
          <p:cNvSpPr>
            <a:spLocks xmlns:a="http://schemas.openxmlformats.org/drawingml/2006/main" noGrp="1"/>
          </p:cNvSpPr>
          <p:nvPr/>
        </p:nvSpPr>
        <p:spPr>
          <a:xfrm xmlns:a="http://schemas.openxmlformats.org/drawingml/2006/main">
            <a:off x="1733550" y="46767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852"/>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Two distinct first-hop recipients reach one common destination in chronological order.</a:t>
            </a:r>
          </a:p>
        </p:txBody>
      </p:sp>
      <p:sp>
        <p:nvSpPr>
          <p:cNvPr id="19" name="rules-label-3">
            <a:extLst xmlns:a="http://schemas.openxmlformats.org/drawingml/2006/main">
              <a:ext uri="{FF2B5EF4-FFF2-40B4-BE49-F238E27FC236}">
                <a16:creationId xmlns:a16="http://schemas.microsoft.com/office/drawing/2014/main" id="{A02BFE2E-22B6-4FDA-8D8A-E9DFFA27DE49}"/>
              </a:ext>
            </a:extLst>
          </p:cNvPr>
          <p:cNvSpPr>
            <a:spLocks xmlns:a="http://schemas.openxmlformats.org/drawingml/2006/main" noGrp="1"/>
          </p:cNvSpPr>
          <p:nvPr/>
        </p:nvSpPr>
        <p:spPr>
          <a:xfrm xmlns:a="http://schemas.openxmlformats.org/drawingml/2006/main">
            <a:off x="4286250" y="44386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F2756C"/>
                </a:solidFill>
                <a:latin typeface="Helvetica Neue"/>
                <a:ea typeface="Helvetica Neue"/>
                <a:cs typeface="Helvetica Neue"/>
              </a:defRPr>
            </a:pPr>
            <a:r>
              <a:rPr sz="750" b="1" i="0">
                <a:solidFill>
                  <a:srgbClr val="F2756C"/>
                </a:solidFill>
                <a:latin typeface="Helvetica Neue"/>
                <a:ea typeface="Helvetica Neue"/>
                <a:cs typeface="Helvetica Neue"/>
              </a:rPr>
              <a:t>HIGH-PRIORITY WITNESS</a:t>
            </a:r>
          </a:p>
        </p:txBody>
      </p:sp>
      <p:sp>
        <p:nvSpPr>
          <p:cNvPr id="20" name="rules-graph-context">
            <a:extLst xmlns:a="http://schemas.openxmlformats.org/drawingml/2006/main">
              <a:ext uri="{FF2B5EF4-FFF2-40B4-BE49-F238E27FC236}">
                <a16:creationId xmlns:a16="http://schemas.microsoft.com/office/drawing/2014/main" id="{CFBF84CF-628E-42BE-8DE8-64B5C8681F32}"/>
              </a:ext>
            </a:extLst>
          </p:cNvPr>
          <p:cNvSpPr>
            <a:spLocks xmlns:a="http://schemas.openxmlformats.org/drawingml/2006/main" noGrp="1"/>
          </p:cNvSpPr>
          <p:nvPr/>
        </p:nvSpPr>
        <p:spPr>
          <a:xfrm xmlns:a="http://schemas.openxmlformats.org/drawingml/2006/main">
            <a:off x="6591300" y="2400300"/>
            <a:ext cx="4991100" cy="2647950"/>
          </a:xfrm>
          <a:prstGeom xmlns:a="http://schemas.openxmlformats.org/drawingml/2006/main" prst="roundRect">
            <a:avLst>
              <a:gd name="adj" fmla="val 6475"/>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21" name="rules-graph-label">
            <a:extLst xmlns:a="http://schemas.openxmlformats.org/drawingml/2006/main">
              <a:ext uri="{FF2B5EF4-FFF2-40B4-BE49-F238E27FC236}">
                <a16:creationId xmlns:a16="http://schemas.microsoft.com/office/drawing/2014/main" id="{A6D922D0-768F-4DE4-8071-24FBCF1D3215}"/>
              </a:ext>
            </a:extLst>
          </p:cNvPr>
          <p:cNvSpPr>
            <a:spLocks xmlns:a="http://schemas.openxmlformats.org/drawingml/2006/main" noGrp="1"/>
          </p:cNvSpPr>
          <p:nvPr/>
        </p:nvSpPr>
        <p:spPr>
          <a:xfrm xmlns:a="http://schemas.openxmlformats.org/drawingml/2006/main">
            <a:off x="6838950" y="2628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BOUNDED GRAPH CONTEXT</a:t>
            </a:r>
          </a:p>
        </p:txBody>
      </p:sp>
      <p:sp>
        <p:nvSpPr>
          <p:cNvPr id="22" name="rules-graph-title">
            <a:extLst xmlns:a="http://schemas.openxmlformats.org/drawingml/2006/main">
              <a:ext uri="{FF2B5EF4-FFF2-40B4-BE49-F238E27FC236}">
                <a16:creationId xmlns:a16="http://schemas.microsoft.com/office/drawing/2014/main" id="{40D70940-A592-44EC-BED5-208E92F36995}"/>
              </a:ext>
            </a:extLst>
          </p:cNvPr>
          <p:cNvSpPr>
            <a:spLocks xmlns:a="http://schemas.openxmlformats.org/drawingml/2006/main" noGrp="1"/>
          </p:cNvSpPr>
          <p:nvPr/>
        </p:nvSpPr>
        <p:spPr>
          <a:xfrm xmlns:a="http://schemas.openxmlformats.org/drawingml/2006/main">
            <a:off x="6838950" y="2952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fintrace-graph-v2</a:t>
            </a:r>
          </a:p>
        </p:txBody>
      </p:sp>
      <p:sp>
        <p:nvSpPr>
          <p:cNvPr id="23" name="rules-graph-big-1">
            <a:extLst xmlns:a="http://schemas.openxmlformats.org/drawingml/2006/main">
              <a:ext uri="{FF2B5EF4-FFF2-40B4-BE49-F238E27FC236}">
                <a16:creationId xmlns:a16="http://schemas.microsoft.com/office/drawing/2014/main" id="{1A4C4A1C-72AC-42A5-9829-22DE4456FB5D}"/>
              </a:ext>
            </a:extLst>
          </p:cNvPr>
          <p:cNvSpPr>
            <a:spLocks xmlns:a="http://schemas.openxmlformats.org/drawingml/2006/main" noGrp="1"/>
          </p:cNvSpPr>
          <p:nvPr/>
        </p:nvSpPr>
        <p:spPr>
          <a:xfrm xmlns:a="http://schemas.openxmlformats.org/drawingml/2006/main">
            <a:off x="6838950" y="33909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5 hops</a:t>
            </a:r>
          </a:p>
        </p:txBody>
      </p:sp>
      <p:sp>
        <p:nvSpPr>
          <p:cNvPr id="24" name="rules-graph-body-1">
            <a:extLst xmlns:a="http://schemas.openxmlformats.org/drawingml/2006/main">
              <a:ext uri="{FF2B5EF4-FFF2-40B4-BE49-F238E27FC236}">
                <a16:creationId xmlns:a16="http://schemas.microsoft.com/office/drawing/2014/main" id="{96EEFF9B-537E-43C7-88E3-AF2F686DEFBF}"/>
              </a:ext>
            </a:extLst>
          </p:cNvPr>
          <p:cNvSpPr>
            <a:spLocks xmlns:a="http://schemas.openxmlformats.org/drawingml/2006/main" noGrp="1"/>
          </p:cNvSpPr>
          <p:nvPr/>
        </p:nvSpPr>
        <p:spPr>
          <a:xfrm xmlns:a="http://schemas.openxmlformats.org/drawingml/2006/main">
            <a:off x="7867650" y="33909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maximum chronological path depth</a:t>
            </a:r>
          </a:p>
        </p:txBody>
      </p:sp>
      <p:sp>
        <p:nvSpPr>
          <p:cNvPr id="25" name="rules-graph-big-2">
            <a:extLst xmlns:a="http://schemas.openxmlformats.org/drawingml/2006/main">
              <a:ext uri="{FF2B5EF4-FFF2-40B4-BE49-F238E27FC236}">
                <a16:creationId xmlns:a16="http://schemas.microsoft.com/office/drawing/2014/main" id="{0651B304-0413-4C33-BA2B-77814935E391}"/>
              </a:ext>
            </a:extLst>
          </p:cNvPr>
          <p:cNvSpPr>
            <a:spLocks xmlns:a="http://schemas.openxmlformats.org/drawingml/2006/main" noGrp="1"/>
          </p:cNvSpPr>
          <p:nvPr/>
        </p:nvSpPr>
        <p:spPr>
          <a:xfrm xmlns:a="http://schemas.openxmlformats.org/drawingml/2006/main">
            <a:off x="6838950" y="37338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30 min</a:t>
            </a:r>
          </a:p>
        </p:txBody>
      </p:sp>
      <p:sp>
        <p:nvSpPr>
          <p:cNvPr id="26" name="rules-graph-body-2">
            <a:extLst xmlns:a="http://schemas.openxmlformats.org/drawingml/2006/main">
              <a:ext uri="{FF2B5EF4-FFF2-40B4-BE49-F238E27FC236}">
                <a16:creationId xmlns:a16="http://schemas.microsoft.com/office/drawing/2014/main" id="{24F395F2-DB57-494F-AA6D-D6CEB5908C24}"/>
              </a:ext>
            </a:extLst>
          </p:cNvPr>
          <p:cNvSpPr>
            <a:spLocks xmlns:a="http://schemas.openxmlformats.org/drawingml/2006/main" noGrp="1"/>
          </p:cNvSpPr>
          <p:nvPr/>
        </p:nvSpPr>
        <p:spPr>
          <a:xfrm xmlns:a="http://schemas.openxmlformats.org/drawingml/2006/main">
            <a:off x="7867650" y="37338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total trace window</a:t>
            </a:r>
          </a:p>
        </p:txBody>
      </p:sp>
      <p:sp>
        <p:nvSpPr>
          <p:cNvPr id="27" name="rules-graph-big-3">
            <a:extLst xmlns:a="http://schemas.openxmlformats.org/drawingml/2006/main">
              <a:ext uri="{FF2B5EF4-FFF2-40B4-BE49-F238E27FC236}">
                <a16:creationId xmlns:a16="http://schemas.microsoft.com/office/drawing/2014/main" id="{D7251EDC-20D8-4C9C-B13E-BDAD8FEF311B}"/>
              </a:ext>
            </a:extLst>
          </p:cNvPr>
          <p:cNvSpPr>
            <a:spLocks xmlns:a="http://schemas.openxmlformats.org/drawingml/2006/main" noGrp="1"/>
          </p:cNvSpPr>
          <p:nvPr/>
        </p:nvSpPr>
        <p:spPr>
          <a:xfrm xmlns:a="http://schemas.openxmlformats.org/drawingml/2006/main">
            <a:off x="6838950" y="40767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10 min</a:t>
            </a:r>
          </a:p>
        </p:txBody>
      </p:sp>
      <p:sp>
        <p:nvSpPr>
          <p:cNvPr id="28" name="rules-graph-body-3">
            <a:extLst xmlns:a="http://schemas.openxmlformats.org/drawingml/2006/main">
              <a:ext uri="{FF2B5EF4-FFF2-40B4-BE49-F238E27FC236}">
                <a16:creationId xmlns:a16="http://schemas.microsoft.com/office/drawing/2014/main" id="{7ADC1DE4-8C62-4D6B-BD5D-9F670602F64D}"/>
              </a:ext>
            </a:extLst>
          </p:cNvPr>
          <p:cNvSpPr>
            <a:spLocks xmlns:a="http://schemas.openxmlformats.org/drawingml/2006/main" noGrp="1"/>
          </p:cNvSpPr>
          <p:nvPr/>
        </p:nvSpPr>
        <p:spPr>
          <a:xfrm xmlns:a="http://schemas.openxmlformats.org/drawingml/2006/main">
            <a:off x="7867650" y="40767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maximum time between hops</a:t>
            </a:r>
          </a:p>
        </p:txBody>
      </p:sp>
      <p:sp>
        <p:nvSpPr>
          <p:cNvPr id="29" name="rules-graph-big-4">
            <a:extLst xmlns:a="http://schemas.openxmlformats.org/drawingml/2006/main">
              <a:ext uri="{FF2B5EF4-FFF2-40B4-BE49-F238E27FC236}">
                <a16:creationId xmlns:a16="http://schemas.microsoft.com/office/drawing/2014/main" id="{1A6B83DE-19C5-4D37-AF5C-549DA9B4EE52}"/>
              </a:ext>
            </a:extLst>
          </p:cNvPr>
          <p:cNvSpPr>
            <a:spLocks xmlns:a="http://schemas.openxmlformats.org/drawingml/2006/main" noGrp="1"/>
          </p:cNvSpPr>
          <p:nvPr/>
        </p:nvSpPr>
        <p:spPr>
          <a:xfrm xmlns:a="http://schemas.openxmlformats.org/drawingml/2006/main">
            <a:off x="6838950" y="44196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24 / 60</a:t>
            </a:r>
          </a:p>
        </p:txBody>
      </p:sp>
      <p:sp>
        <p:nvSpPr>
          <p:cNvPr id="30" name="rules-graph-body-4">
            <a:extLst xmlns:a="http://schemas.openxmlformats.org/drawingml/2006/main">
              <a:ext uri="{FF2B5EF4-FFF2-40B4-BE49-F238E27FC236}">
                <a16:creationId xmlns:a16="http://schemas.microsoft.com/office/drawing/2014/main" id="{A5FAC7E4-0DE7-4ACD-8B9B-C3C9AB10F559}"/>
              </a:ext>
            </a:extLst>
          </p:cNvPr>
          <p:cNvSpPr>
            <a:spLocks xmlns:a="http://schemas.openxmlformats.org/drawingml/2006/main" noGrp="1"/>
          </p:cNvSpPr>
          <p:nvPr/>
        </p:nvSpPr>
        <p:spPr>
          <a:xfrm xmlns:a="http://schemas.openxmlformats.org/drawingml/2006/main">
            <a:off x="7867650" y="4419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display cap for nodes and edges</a:t>
            </a:r>
          </a:p>
        </p:txBody>
      </p:sp>
      <p:sp>
        <p:nvSpPr>
          <p:cNvPr id="31" name="rules-graph-footnote">
            <a:extLst xmlns:a="http://schemas.openxmlformats.org/drawingml/2006/main">
              <a:ext uri="{FF2B5EF4-FFF2-40B4-BE49-F238E27FC236}">
                <a16:creationId xmlns:a16="http://schemas.microsoft.com/office/drawing/2014/main" id="{947622F5-51BA-4F06-B386-1FF35595E7C7}"/>
              </a:ext>
            </a:extLst>
          </p:cNvPr>
          <p:cNvSpPr>
            <a:spLocks xmlns:a="http://schemas.openxmlformats.org/drawingml/2006/main" noGrp="1"/>
          </p:cNvSpPr>
          <p:nvPr/>
        </p:nvSpPr>
        <p:spPr>
          <a:xfrm xmlns:a="http://schemas.openxmlformats.org/drawingml/2006/main">
            <a:off x="6838950" y="47625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i="1">
                <a:solidFill>
                  <a:srgbClr val="8EA2BE"/>
                </a:solidFill>
                <a:latin typeface="Helvetica Neue"/>
                <a:ea typeface="Helvetica Neue"/>
                <a:cs typeface="Helvetica Neue"/>
              </a:defRPr>
            </a:pPr>
            <a:r>
              <a:rPr sz="900" b="0" i="1">
                <a:solidFill>
                  <a:srgbClr val="8EA2BE"/>
                </a:solidFill>
                <a:latin typeface="Helvetica Neue"/>
                <a:ea typeface="Helvetica Neue"/>
                <a:cs typeface="Helvetica Neue"/>
              </a:rPr>
              <a:t>Display limits are not detection limits.</a:t>
            </a:r>
          </a:p>
        </p:txBody>
      </p:sp>
      <p:sp>
        <p:nvSpPr>
          <p:cNvPr id="32" name="rules-score-band">
            <a:extLst xmlns:a="http://schemas.openxmlformats.org/drawingml/2006/main">
              <a:ext uri="{FF2B5EF4-FFF2-40B4-BE49-F238E27FC236}">
                <a16:creationId xmlns:a16="http://schemas.microsoft.com/office/drawing/2014/main" id="{9745B8F4-E08B-4FAA-AA36-3D123B332C69}"/>
              </a:ext>
            </a:extLst>
          </p:cNvPr>
          <p:cNvSpPr>
            <a:spLocks xmlns:a="http://schemas.openxmlformats.org/drawingml/2006/main" noGrp="1"/>
          </p:cNvSpPr>
          <p:nvPr/>
        </p:nvSpPr>
        <p:spPr>
          <a:xfrm xmlns:a="http://schemas.openxmlformats.org/drawingml/2006/main">
            <a:off x="6591300" y="5257800"/>
            <a:ext cx="49911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rules-score-label">
            <a:extLst xmlns:a="http://schemas.openxmlformats.org/drawingml/2006/main">
              <a:ext uri="{FF2B5EF4-FFF2-40B4-BE49-F238E27FC236}">
                <a16:creationId xmlns:a16="http://schemas.microsoft.com/office/drawing/2014/main" id="{007E2E12-2FF4-494F-BA2E-F80B87505930}"/>
              </a:ext>
            </a:extLst>
          </p:cNvPr>
          <p:cNvSpPr>
            <a:spLocks xmlns:a="http://schemas.openxmlformats.org/drawingml/2006/main" noGrp="1"/>
          </p:cNvSpPr>
          <p:nvPr/>
        </p:nvSpPr>
        <p:spPr>
          <a:xfrm xmlns:a="http://schemas.openxmlformats.org/drawingml/2006/main">
            <a:off x="6838950" y="54102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ONLY THREE CASE SCORES</a:t>
            </a:r>
          </a:p>
        </p:txBody>
      </p:sp>
      <p:sp>
        <p:nvSpPr>
          <p:cNvPr id="34" name="rules-score-values">
            <a:extLst xmlns:a="http://schemas.openxmlformats.org/drawingml/2006/main">
              <a:ext uri="{FF2B5EF4-FFF2-40B4-BE49-F238E27FC236}">
                <a16:creationId xmlns:a16="http://schemas.microsoft.com/office/drawing/2014/main" id="{594B6994-C3D1-4D6C-B8E9-704BAF565FD2}"/>
              </a:ext>
            </a:extLst>
          </p:cNvPr>
          <p:cNvSpPr>
            <a:spLocks xmlns:a="http://schemas.openxmlformats.org/drawingml/2006/main" noGrp="1"/>
          </p:cNvSpPr>
          <p:nvPr/>
        </p:nvSpPr>
        <p:spPr>
          <a:xfrm xmlns:a="http://schemas.openxmlformats.org/drawingml/2006/main">
            <a:off x="6838950" y="56102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30     70     100</a:t>
            </a:r>
          </a:p>
        </p:txBody>
      </p:sp>
      <p:sp>
        <p:nvSpPr>
          <p:cNvPr id="35" name="rules-score-meaning">
            <a:extLst xmlns:a="http://schemas.openxmlformats.org/drawingml/2006/main">
              <a:ext uri="{FF2B5EF4-FFF2-40B4-BE49-F238E27FC236}">
                <a16:creationId xmlns:a16="http://schemas.microsoft.com/office/drawing/2014/main" id="{7B34186A-8C1B-4BC1-9ACE-B56B3EE3FDFB}"/>
              </a:ext>
            </a:extLst>
          </p:cNvPr>
          <p:cNvSpPr>
            <a:spLocks xmlns:a="http://schemas.openxmlformats.org/drawingml/2006/main" noGrp="1"/>
          </p:cNvSpPr>
          <p:nvPr/>
        </p:nvSpPr>
        <p:spPr>
          <a:xfrm xmlns:a="http://schemas.openxmlformats.org/drawingml/2006/main">
            <a:off x="9315450" y="5638800"/>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0" i="0">
                <a:solidFill>
                  <a:srgbClr val="526782"/>
                </a:solidFill>
                <a:latin typeface="Helvetica Neue"/>
                <a:ea typeface="Helvetica Neue"/>
                <a:cs typeface="Helvetica Neue"/>
              </a:defRPr>
            </a:pPr>
            <a:r>
              <a:rPr sz="900" b="0" i="0">
                <a:solidFill>
                  <a:srgbClr val="526782"/>
                </a:solidFill>
                <a:latin typeface="Helvetica Neue"/>
                <a:ea typeface="Helvetica Neue"/>
                <a:cs typeface="Helvetica Neue"/>
              </a:rPr>
              <a:t>Monitor        Review        High priority</a:t>
            </a:r>
          </a:p>
        </p:txBody>
      </p:sp>
      <p:sp>
        <p:nvSpPr>
          <p:cNvPr id="36" name="footer-rule-8">
            <a:extLst xmlns:a="http://schemas.openxmlformats.org/drawingml/2006/main">
              <a:ext uri="{FF2B5EF4-FFF2-40B4-BE49-F238E27FC236}">
                <a16:creationId xmlns:a16="http://schemas.microsoft.com/office/drawing/2014/main" id="{84A11991-0D7B-43D3-B4E0-C8616303F95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7" name="footer-brand-8">
            <a:extLst xmlns:a="http://schemas.openxmlformats.org/drawingml/2006/main">
              <a:ext uri="{FF2B5EF4-FFF2-40B4-BE49-F238E27FC236}">
                <a16:creationId xmlns:a16="http://schemas.microsoft.com/office/drawing/2014/main" id="{12C2A95E-7863-4196-86E8-DFCF0BE41993}"/>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38" name="footer-page-8">
            <a:extLst xmlns:a="http://schemas.openxmlformats.org/drawingml/2006/main">
              <a:ext uri="{FF2B5EF4-FFF2-40B4-BE49-F238E27FC236}">
                <a16:creationId xmlns:a16="http://schemas.microsoft.com/office/drawing/2014/main" id="{738402D0-7008-4675-A1A4-C8F9D2ECEEE2}"/>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08 / 13</a:t>
            </a:r>
          </a:p>
        </p:txBody>
      </p:sp>
    </p:spTree>
    <p:extLst>
      <p:ext uri="{BB962C8B-B14F-4D97-AF65-F5344CB8AC3E}">
        <p14:creationId xmlns:p14="http://schemas.microsoft.com/office/powerpoint/2010/main" val="131212696"/>
      </p:ext>
    </p:extLst>
  </p:cSld>
</p:sld>
</file>

<file path=ppt/slides/slide9.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41" name="boundary-kicker">
            <a:extLst xmlns:a="http://schemas.openxmlformats.org/drawingml/2006/main">
              <a:ext uri="{FF2B5EF4-FFF2-40B4-BE49-F238E27FC236}">
                <a16:creationId xmlns:a16="http://schemas.microsoft.com/office/drawing/2014/main" id="{83A61352-19F6-4F82-BA54-1C93758A01B9}"/>
              </a:ext>
            </a:extLst>
          </p:cNvPr>
          <p:cNvSpPr>
            <a:spLocks xmlns:a="http://schemas.openxmlformats.org/drawingml/2006/main" noGrp="1"/>
          </p:cNvSpPr>
          <p:nvPr/>
        </p:nvSpPr>
        <p:spPr>
          <a:xfrm xmlns:a="http://schemas.openxmlformats.org/drawingml/2006/main">
            <a:off x="609600" y="5143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ACCURACY AT THE EDGES</a:t>
            </a:r>
          </a:p>
        </p:txBody>
      </p:sp>
      <p:sp>
        <p:nvSpPr>
          <p:cNvPr id="2" name="boundary-title">
            <a:extLst xmlns:a="http://schemas.openxmlformats.org/drawingml/2006/main">
              <a:ext uri="{FF2B5EF4-FFF2-40B4-BE49-F238E27FC236}">
                <a16:creationId xmlns:a16="http://schemas.microsoft.com/office/drawing/2014/main" id="{A932DD8B-991D-45A6-8712-757A37E4C7CC}"/>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The detector earns trust at the edges</a:t>
            </a:r>
          </a:p>
        </p:txBody>
      </p:sp>
      <p:sp>
        <p:nvSpPr>
          <p:cNvPr id="3" name="boundary-subtitle">
            <a:extLst xmlns:a="http://schemas.openxmlformats.org/drawingml/2006/main">
              <a:ext uri="{FF2B5EF4-FFF2-40B4-BE49-F238E27FC236}">
                <a16:creationId xmlns:a16="http://schemas.microsoft.com/office/drawing/2014/main" id="{F776EF8E-C503-48E2-BC7C-476B9923F845}"/>
              </a:ext>
            </a:extLst>
          </p:cNvPr>
          <p:cNvSpPr>
            <a:spLocks xmlns:a="http://schemas.openxmlformats.org/drawingml/2006/main" noGrp="1"/>
          </p:cNvSpPr>
          <p:nvPr/>
        </p:nvSpPr>
        <p:spPr>
          <a:xfrm xmlns:a="http://schemas.openxmlformats.org/drawingml/2006/main">
            <a:off x="628650" y="1485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matrix verifies inclusions, exclusions, and replay cutoffs instead of checking only the happy path.</a:t>
            </a:r>
          </a:p>
        </p:txBody>
      </p:sp>
      <p:sp>
        <p:nvSpPr>
          <p:cNvPr id="4" name="boundary-rule">
            <a:extLst xmlns:a="http://schemas.openxmlformats.org/drawingml/2006/main">
              <a:ext uri="{FF2B5EF4-FFF2-40B4-BE49-F238E27FC236}">
                <a16:creationId xmlns:a16="http://schemas.microsoft.com/office/drawing/2014/main" id="{828448DA-6F49-4AAB-BA3B-8A6E73DBB9E4}"/>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boundary-matrix">
            <a:extLst xmlns:a="http://schemas.openxmlformats.org/drawingml/2006/main">
              <a:ext uri="{FF2B5EF4-FFF2-40B4-BE49-F238E27FC236}">
                <a16:creationId xmlns:a16="http://schemas.microsoft.com/office/drawing/2014/main" id="{74B930C4-C9D5-4BD6-969D-ECB87366EBCB}"/>
              </a:ext>
            </a:extLst>
          </p:cNvPr>
          <p:cNvSpPr>
            <a:spLocks xmlns:a="http://schemas.openxmlformats.org/drawingml/2006/main" noGrp="1"/>
          </p:cNvSpPr>
          <p:nvPr/>
        </p:nvSpPr>
        <p:spPr>
          <a:xfrm xmlns:a="http://schemas.openxmlformats.org/drawingml/2006/main">
            <a:off x="609600" y="2476500"/>
            <a:ext cx="2857500" cy="2914650"/>
          </a:xfrm>
          <a:prstGeom xmlns:a="http://schemas.openxmlformats.org/drawingml/2006/main" prst="roundRect">
            <a:avLst>
              <a:gd name="adj" fmla="val 6000"/>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6" name="boundary-matrix-label">
            <a:extLst xmlns:a="http://schemas.openxmlformats.org/drawingml/2006/main">
              <a:ext uri="{FF2B5EF4-FFF2-40B4-BE49-F238E27FC236}">
                <a16:creationId xmlns:a16="http://schemas.microsoft.com/office/drawing/2014/main" id="{B4226733-28D0-4677-B5DF-6E43609824EF}"/>
              </a:ext>
            </a:extLst>
          </p:cNvPr>
          <p:cNvSpPr>
            <a:spLocks xmlns:a="http://schemas.openxmlformats.org/drawingml/2006/main" noGrp="1"/>
          </p:cNvSpPr>
          <p:nvPr/>
        </p:nvSpPr>
        <p:spPr>
          <a:xfrm xmlns:a="http://schemas.openxmlformats.org/drawingml/2006/main">
            <a:off x="85725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25-SCENARIO MATRIX</a:t>
            </a:r>
          </a:p>
        </p:txBody>
      </p:sp>
      <p:sp>
        <p:nvSpPr>
          <p:cNvPr id="7" name="boundary-matrix-number">
            <a:extLst xmlns:a="http://schemas.openxmlformats.org/drawingml/2006/main">
              <a:ext uri="{FF2B5EF4-FFF2-40B4-BE49-F238E27FC236}">
                <a16:creationId xmlns:a16="http://schemas.microsoft.com/office/drawing/2014/main" id="{C724FC83-D73B-4A66-83C5-A1E02458940E}"/>
              </a:ext>
            </a:extLst>
          </p:cNvPr>
          <p:cNvSpPr>
            <a:spLocks xmlns:a="http://schemas.openxmlformats.org/drawingml/2006/main" noGrp="1"/>
          </p:cNvSpPr>
          <p:nvPr/>
        </p:nvSpPr>
        <p:spPr>
          <a:xfrm xmlns:a="http://schemas.openxmlformats.org/drawingml/2006/main">
            <a:off x="857250" y="31242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450" b="1" i="0">
                <a:solidFill>
                  <a:srgbClr val="F6F9FF"/>
                </a:solidFill>
                <a:latin typeface="Helvetica Neue"/>
                <a:ea typeface="Helvetica Neue"/>
                <a:cs typeface="Helvetica Neue"/>
              </a:defRPr>
            </a:pPr>
            <a:r>
              <a:rPr sz="3450" b="1" i="0">
                <a:solidFill>
                  <a:srgbClr val="F6F9FF"/>
                </a:solidFill>
                <a:latin typeface="Helvetica Neue"/>
                <a:ea typeface="Helvetica Neue"/>
                <a:cs typeface="Helvetica Neue"/>
              </a:rPr>
              <a:t>25 / 25</a:t>
            </a:r>
          </a:p>
        </p:txBody>
      </p:sp>
      <p:sp>
        <p:nvSpPr>
          <p:cNvPr id="8" name="boundary-matrix-heading">
            <a:extLst xmlns:a="http://schemas.openxmlformats.org/drawingml/2006/main">
              <a:ext uri="{FF2B5EF4-FFF2-40B4-BE49-F238E27FC236}">
                <a16:creationId xmlns:a16="http://schemas.microsoft.com/office/drawing/2014/main" id="{E28DB29D-4D58-46BC-B739-10EFBED451EB}"/>
              </a:ext>
            </a:extLst>
          </p:cNvPr>
          <p:cNvSpPr>
            <a:spLocks xmlns:a="http://schemas.openxmlformats.org/drawingml/2006/main" noGrp="1"/>
          </p:cNvSpPr>
          <p:nvPr/>
        </p:nvSpPr>
        <p:spPr>
          <a:xfrm xmlns:a="http://schemas.openxmlformats.org/drawingml/2006/main">
            <a:off x="857250" y="3771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63E0C5"/>
                </a:solidFill>
                <a:latin typeface="Helvetica Neue"/>
                <a:ea typeface="Helvetica Neue"/>
                <a:cs typeface="Helvetica Neue"/>
              </a:defRPr>
            </a:pPr>
            <a:r>
              <a:rPr sz="1500" b="1" i="0">
                <a:solidFill>
                  <a:srgbClr val="63E0C5"/>
                </a:solidFill>
                <a:latin typeface="Helvetica Neue"/>
                <a:ea typeface="Helvetica Neue"/>
                <a:cs typeface="Helvetica Neue"/>
              </a:rPr>
              <a:t>boundary cases pass</a:t>
            </a:r>
          </a:p>
        </p:txBody>
      </p:sp>
      <p:sp>
        <p:nvSpPr>
          <p:cNvPr id="9" name="boundary-matrix-copy">
            <a:extLst xmlns:a="http://schemas.openxmlformats.org/drawingml/2006/main">
              <a:ext uri="{FF2B5EF4-FFF2-40B4-BE49-F238E27FC236}">
                <a16:creationId xmlns:a16="http://schemas.microsoft.com/office/drawing/2014/main" id="{3199033D-16D2-48C0-86C6-03F9AC1C210A}"/>
              </a:ext>
            </a:extLst>
          </p:cNvPr>
          <p:cNvSpPr>
            <a:spLocks xmlns:a="http://schemas.openxmlformats.org/drawingml/2006/main" noGrp="1"/>
          </p:cNvSpPr>
          <p:nvPr/>
        </p:nvSpPr>
        <p:spPr>
          <a:xfrm xmlns:a="http://schemas.openxmlformats.org/drawingml/2006/main">
            <a:off x="857250" y="4191000"/>
            <a:ext cx="2247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410"/>
          </a:bodyPr>
          <a:lstStyle xmlns:a="http://schemas.openxmlformats.org/drawingml/2006/main"/>
          <a:p xmlns:a="http://schemas.openxmlformats.org/drawingml/2006/main">
            <a:pPr algn="l">
              <a:lnSpc>
                <a:spcPct val="125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The focused suite calls the same validating /api/analyze handler used by the local UI and the Vercel deployment path.</a:t>
            </a:r>
          </a:p>
        </p:txBody>
      </p:sp>
      <p:sp>
        <p:nvSpPr>
          <p:cNvPr id="10" name="boundary-matrix-rule">
            <a:extLst xmlns:a="http://schemas.openxmlformats.org/drawingml/2006/main">
              <a:ext uri="{FF2B5EF4-FFF2-40B4-BE49-F238E27FC236}">
                <a16:creationId xmlns:a16="http://schemas.microsoft.com/office/drawing/2014/main" id="{EFACEA0B-3ADE-4934-9CAE-495DE79912C6}"/>
              </a:ext>
            </a:extLst>
          </p:cNvPr>
          <p:cNvSpPr>
            <a:spLocks xmlns:a="http://schemas.openxmlformats.org/drawingml/2006/main" noGrp="1"/>
          </p:cNvSpPr>
          <p:nvPr/>
        </p:nvSpPr>
        <p:spPr>
          <a:xfrm xmlns:a="http://schemas.openxmlformats.org/drawingml/2006/main">
            <a:off x="857250" y="5029200"/>
            <a:ext cx="22479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1" name="boundary-matrix-foot">
            <a:extLst xmlns:a="http://schemas.openxmlformats.org/drawingml/2006/main">
              <a:ext uri="{FF2B5EF4-FFF2-40B4-BE49-F238E27FC236}">
                <a16:creationId xmlns:a16="http://schemas.microsoft.com/office/drawing/2014/main" id="{5C2A6F29-F778-411C-8D75-CD7DB0888523}"/>
              </a:ext>
            </a:extLst>
          </p:cNvPr>
          <p:cNvSpPr>
            <a:spLocks xmlns:a="http://schemas.openxmlformats.org/drawingml/2006/main" noGrp="1"/>
          </p:cNvSpPr>
          <p:nvPr/>
        </p:nvSpPr>
        <p:spPr>
          <a:xfrm xmlns:a="http://schemas.openxmlformats.org/drawingml/2006/main">
            <a:off x="857250" y="5181600"/>
            <a:ext cx="2247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2464"/>
          </a:bodyPr>
          <a:lstStyle xmlns:a="http://schemas.openxmlformats.org/drawingml/2006/main"/>
          <a:p xmlns:a="http://schemas.openxmlformats.org/drawingml/2006/main">
            <a:pPr algn="l">
              <a:lnSpc>
                <a:spcPct val="115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No silent rounding. No future leakage. No partial imports.</a:t>
            </a:r>
          </a:p>
        </p:txBody>
      </p:sp>
      <p:sp>
        <p:nvSpPr>
          <p:cNvPr id="12" name="boundary-table-condition">
            <a:extLst xmlns:a="http://schemas.openxmlformats.org/drawingml/2006/main">
              <a:ext uri="{FF2B5EF4-FFF2-40B4-BE49-F238E27FC236}">
                <a16:creationId xmlns:a16="http://schemas.microsoft.com/office/drawing/2014/main" id="{6F1B0E5F-F098-4196-9E22-09796792677F}"/>
              </a:ext>
            </a:extLst>
          </p:cNvPr>
          <p:cNvSpPr>
            <a:spLocks xmlns:a="http://schemas.openxmlformats.org/drawingml/2006/main" noGrp="1"/>
          </p:cNvSpPr>
          <p:nvPr/>
        </p:nvSpPr>
        <p:spPr>
          <a:xfrm xmlns:a="http://schemas.openxmlformats.org/drawingml/2006/main">
            <a:off x="3981450" y="247650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INPUT CONDITION</a:t>
            </a:r>
          </a:p>
        </p:txBody>
      </p:sp>
      <p:sp>
        <p:nvSpPr>
          <p:cNvPr id="13" name="boundary-table-result">
            <a:extLst xmlns:a="http://schemas.openxmlformats.org/drawingml/2006/main">
              <a:ext uri="{FF2B5EF4-FFF2-40B4-BE49-F238E27FC236}">
                <a16:creationId xmlns:a16="http://schemas.microsoft.com/office/drawing/2014/main" id="{079776D3-09EF-4760-AC56-6397EC36BCDF}"/>
              </a:ext>
            </a:extLst>
          </p:cNvPr>
          <p:cNvSpPr>
            <a:spLocks xmlns:a="http://schemas.openxmlformats.org/drawingml/2006/main" noGrp="1"/>
          </p:cNvSpPr>
          <p:nvPr/>
        </p:nvSpPr>
        <p:spPr>
          <a:xfrm xmlns:a="http://schemas.openxmlformats.org/drawingml/2006/main">
            <a:off x="6191250" y="24765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EXPECTED RESULT</a:t>
            </a:r>
          </a:p>
        </p:txBody>
      </p:sp>
      <p:sp>
        <p:nvSpPr>
          <p:cNvPr id="14" name="boundary-table-meaning">
            <a:extLst xmlns:a="http://schemas.openxmlformats.org/drawingml/2006/main">
              <a:ext uri="{FF2B5EF4-FFF2-40B4-BE49-F238E27FC236}">
                <a16:creationId xmlns:a16="http://schemas.microsoft.com/office/drawing/2014/main" id="{E985CCC7-85E7-4FBD-8D96-E5ADFEF3CA63}"/>
              </a:ext>
            </a:extLst>
          </p:cNvPr>
          <p:cNvSpPr>
            <a:spLocks xmlns:a="http://schemas.openxmlformats.org/drawingml/2006/main" noGrp="1"/>
          </p:cNvSpPr>
          <p:nvPr/>
        </p:nvSpPr>
        <p:spPr>
          <a:xfrm xmlns:a="http://schemas.openxmlformats.org/drawingml/2006/main">
            <a:off x="8229600" y="247650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WHY IT MATTERS</a:t>
            </a:r>
          </a:p>
        </p:txBody>
      </p:sp>
      <p:sp>
        <p:nvSpPr>
          <p:cNvPr id="15" name="boundary-row-rule-1">
            <a:extLst xmlns:a="http://schemas.openxmlformats.org/drawingml/2006/main">
              <a:ext uri="{FF2B5EF4-FFF2-40B4-BE49-F238E27FC236}">
                <a16:creationId xmlns:a16="http://schemas.microsoft.com/office/drawing/2014/main" id="{DD3CBC85-255E-40DD-BFB8-27BBF083BB56}"/>
              </a:ext>
            </a:extLst>
          </p:cNvPr>
          <p:cNvSpPr>
            <a:spLocks xmlns:a="http://schemas.openxmlformats.org/drawingml/2006/main" noGrp="1"/>
          </p:cNvSpPr>
          <p:nvPr/>
        </p:nvSpPr>
        <p:spPr>
          <a:xfrm xmlns:a="http://schemas.openxmlformats.org/drawingml/2006/main">
            <a:off x="3981450" y="2743200"/>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6" name="boundary-condition-1">
            <a:extLst xmlns:a="http://schemas.openxmlformats.org/drawingml/2006/main">
              <a:ext uri="{FF2B5EF4-FFF2-40B4-BE49-F238E27FC236}">
                <a16:creationId xmlns:a16="http://schemas.microsoft.com/office/drawing/2014/main" id="{F69F3E47-7C98-4749-A5CA-F88C1D6BF852}"/>
              </a:ext>
            </a:extLst>
          </p:cNvPr>
          <p:cNvSpPr>
            <a:spLocks xmlns:a="http://schemas.openxmlformats.org/drawingml/2006/main" noGrp="1"/>
          </p:cNvSpPr>
          <p:nvPr/>
        </p:nvSpPr>
        <p:spPr>
          <a:xfrm xmlns:a="http://schemas.openxmlformats.org/drawingml/2006/main">
            <a:off x="3981450" y="28956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5 distinct senders</a:t>
            </a:r>
          </a:p>
        </p:txBody>
      </p:sp>
      <p:sp>
        <p:nvSpPr>
          <p:cNvPr id="17" name="boundary-result-1">
            <a:extLst xmlns:a="http://schemas.openxmlformats.org/drawingml/2006/main">
              <a:ext uri="{FF2B5EF4-FFF2-40B4-BE49-F238E27FC236}">
                <a16:creationId xmlns:a16="http://schemas.microsoft.com/office/drawing/2014/main" id="{11A830C1-3CB5-423D-9195-D6336CE21DEB}"/>
              </a:ext>
            </a:extLst>
          </p:cNvPr>
          <p:cNvSpPr>
            <a:spLocks xmlns:a="http://schemas.openxmlformats.org/drawingml/2006/main" noGrp="1"/>
          </p:cNvSpPr>
          <p:nvPr/>
        </p:nvSpPr>
        <p:spPr>
          <a:xfrm xmlns:a="http://schemas.openxmlformats.org/drawingml/2006/main">
            <a:off x="6191250" y="28956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No candidate</a:t>
            </a:r>
          </a:p>
        </p:txBody>
      </p:sp>
      <p:sp>
        <p:nvSpPr>
          <p:cNvPr id="18" name="boundary-meaning-1">
            <a:extLst xmlns:a="http://schemas.openxmlformats.org/drawingml/2006/main">
              <a:ext uri="{FF2B5EF4-FFF2-40B4-BE49-F238E27FC236}">
                <a16:creationId xmlns:a16="http://schemas.microsoft.com/office/drawing/2014/main" id="{4D88DAB2-1DA2-460D-A665-72EE63122AE2}"/>
              </a:ext>
            </a:extLst>
          </p:cNvPr>
          <p:cNvSpPr>
            <a:spLocks xmlns:a="http://schemas.openxmlformats.org/drawingml/2006/main" noGrp="1"/>
          </p:cNvSpPr>
          <p:nvPr/>
        </p:nvSpPr>
        <p:spPr>
          <a:xfrm xmlns:a="http://schemas.openxmlformats.org/drawingml/2006/main">
            <a:off x="8229600" y="28956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collection threshold stays explicit.</a:t>
            </a:r>
          </a:p>
        </p:txBody>
      </p:sp>
      <p:sp>
        <p:nvSpPr>
          <p:cNvPr id="19" name="boundary-row-rule-2">
            <a:extLst xmlns:a="http://schemas.openxmlformats.org/drawingml/2006/main">
              <a:ext uri="{FF2B5EF4-FFF2-40B4-BE49-F238E27FC236}">
                <a16:creationId xmlns:a16="http://schemas.microsoft.com/office/drawing/2014/main" id="{01F948FA-DF6D-44B2-B693-E09DE16F76AA}"/>
              </a:ext>
            </a:extLst>
          </p:cNvPr>
          <p:cNvSpPr>
            <a:spLocks xmlns:a="http://schemas.openxmlformats.org/drawingml/2006/main" noGrp="1"/>
          </p:cNvSpPr>
          <p:nvPr/>
        </p:nvSpPr>
        <p:spPr>
          <a:xfrm xmlns:a="http://schemas.openxmlformats.org/drawingml/2006/main">
            <a:off x="3981450" y="3267075"/>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0" name="boundary-condition-2">
            <a:extLst xmlns:a="http://schemas.openxmlformats.org/drawingml/2006/main">
              <a:ext uri="{FF2B5EF4-FFF2-40B4-BE49-F238E27FC236}">
                <a16:creationId xmlns:a16="http://schemas.microsoft.com/office/drawing/2014/main" id="{8486A22C-0896-4FD2-A438-0BF6D5B03F06}"/>
              </a:ext>
            </a:extLst>
          </p:cNvPr>
          <p:cNvSpPr>
            <a:spLocks xmlns:a="http://schemas.openxmlformats.org/drawingml/2006/main" noGrp="1"/>
          </p:cNvSpPr>
          <p:nvPr/>
        </p:nvSpPr>
        <p:spPr>
          <a:xfrm xmlns:a="http://schemas.openxmlformats.org/drawingml/2006/main">
            <a:off x="3981450" y="3419475"/>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79.99% outward volume</a:t>
            </a:r>
          </a:p>
        </p:txBody>
      </p:sp>
      <p:sp>
        <p:nvSpPr>
          <p:cNvPr id="21" name="boundary-result-2">
            <a:extLst xmlns:a="http://schemas.openxmlformats.org/drawingml/2006/main">
              <a:ext uri="{FF2B5EF4-FFF2-40B4-BE49-F238E27FC236}">
                <a16:creationId xmlns:a16="http://schemas.microsoft.com/office/drawing/2014/main" id="{ED2599D7-A4BF-42AB-9844-BA0965A2FF7E}"/>
              </a:ext>
            </a:extLst>
          </p:cNvPr>
          <p:cNvSpPr>
            <a:spLocks xmlns:a="http://schemas.openxmlformats.org/drawingml/2006/main" noGrp="1"/>
          </p:cNvSpPr>
          <p:nvPr/>
        </p:nvSpPr>
        <p:spPr>
          <a:xfrm xmlns:a="http://schemas.openxmlformats.org/drawingml/2006/main">
            <a:off x="6191250" y="3419475"/>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30 / Monitor</a:t>
            </a:r>
          </a:p>
        </p:txBody>
      </p:sp>
      <p:sp>
        <p:nvSpPr>
          <p:cNvPr id="22" name="boundary-meaning-2">
            <a:extLst xmlns:a="http://schemas.openxmlformats.org/drawingml/2006/main">
              <a:ext uri="{FF2B5EF4-FFF2-40B4-BE49-F238E27FC236}">
                <a16:creationId xmlns:a16="http://schemas.microsoft.com/office/drawing/2014/main" id="{0AFC20C2-CAC4-40B5-919C-170A7305D8DF}"/>
              </a:ext>
            </a:extLst>
          </p:cNvPr>
          <p:cNvSpPr>
            <a:spLocks xmlns:a="http://schemas.openxmlformats.org/drawingml/2006/main" noGrp="1"/>
          </p:cNvSpPr>
          <p:nvPr/>
        </p:nvSpPr>
        <p:spPr>
          <a:xfrm xmlns:a="http://schemas.openxmlformats.org/drawingml/2006/main">
            <a:off x="8229600" y="34194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engine does not round up the threshold.</a:t>
            </a:r>
          </a:p>
        </p:txBody>
      </p:sp>
      <p:sp>
        <p:nvSpPr>
          <p:cNvPr id="23" name="boundary-row-rule-3">
            <a:extLst xmlns:a="http://schemas.openxmlformats.org/drawingml/2006/main">
              <a:ext uri="{FF2B5EF4-FFF2-40B4-BE49-F238E27FC236}">
                <a16:creationId xmlns:a16="http://schemas.microsoft.com/office/drawing/2014/main" id="{ACA07A1F-C0D6-4020-87CD-1E202907868C}"/>
              </a:ext>
            </a:extLst>
          </p:cNvPr>
          <p:cNvSpPr>
            <a:spLocks xmlns:a="http://schemas.openxmlformats.org/drawingml/2006/main" noGrp="1"/>
          </p:cNvSpPr>
          <p:nvPr/>
        </p:nvSpPr>
        <p:spPr>
          <a:xfrm xmlns:a="http://schemas.openxmlformats.org/drawingml/2006/main">
            <a:off x="3981450" y="3790950"/>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4" name="boundary-condition-3">
            <a:extLst xmlns:a="http://schemas.openxmlformats.org/drawingml/2006/main">
              <a:ext uri="{FF2B5EF4-FFF2-40B4-BE49-F238E27FC236}">
                <a16:creationId xmlns:a16="http://schemas.microsoft.com/office/drawing/2014/main" id="{F8E05328-EE9D-4E4A-920C-813FCBF10F90}"/>
              </a:ext>
            </a:extLst>
          </p:cNvPr>
          <p:cNvSpPr>
            <a:spLocks xmlns:a="http://schemas.openxmlformats.org/drawingml/2006/main" noGrp="1"/>
          </p:cNvSpPr>
          <p:nvPr/>
        </p:nvSpPr>
        <p:spPr>
          <a:xfrm xmlns:a="http://schemas.openxmlformats.org/drawingml/2006/main">
            <a:off x="3981450" y="39433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80.00% outward volume</a:t>
            </a:r>
          </a:p>
        </p:txBody>
      </p:sp>
      <p:sp>
        <p:nvSpPr>
          <p:cNvPr id="25" name="boundary-result-3">
            <a:extLst xmlns:a="http://schemas.openxmlformats.org/drawingml/2006/main">
              <a:ext uri="{FF2B5EF4-FFF2-40B4-BE49-F238E27FC236}">
                <a16:creationId xmlns:a16="http://schemas.microsoft.com/office/drawing/2014/main" id="{6526E91F-A59A-4799-BCD1-D0611A015C5E}"/>
              </a:ext>
            </a:extLst>
          </p:cNvPr>
          <p:cNvSpPr>
            <a:spLocks xmlns:a="http://schemas.openxmlformats.org/drawingml/2006/main" noGrp="1"/>
          </p:cNvSpPr>
          <p:nvPr/>
        </p:nvSpPr>
        <p:spPr>
          <a:xfrm xmlns:a="http://schemas.openxmlformats.org/drawingml/2006/main">
            <a:off x="6191250" y="394335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F2756C"/>
                </a:solidFill>
                <a:latin typeface="Helvetica Neue"/>
                <a:ea typeface="Helvetica Neue"/>
                <a:cs typeface="Helvetica Neue"/>
              </a:defRPr>
            </a:pPr>
            <a:r>
              <a:rPr sz="1050" b="1" i="0">
                <a:solidFill>
                  <a:srgbClr val="F2756C"/>
                </a:solidFill>
                <a:latin typeface="Helvetica Neue"/>
                <a:ea typeface="Helvetica Neue"/>
                <a:cs typeface="Helvetica Neue"/>
              </a:rPr>
              <a:t>70 / Review</a:t>
            </a:r>
          </a:p>
        </p:txBody>
      </p:sp>
      <p:sp>
        <p:nvSpPr>
          <p:cNvPr id="26" name="boundary-meaning-3">
            <a:extLst xmlns:a="http://schemas.openxmlformats.org/drawingml/2006/main">
              <a:ext uri="{FF2B5EF4-FFF2-40B4-BE49-F238E27FC236}">
                <a16:creationId xmlns:a16="http://schemas.microsoft.com/office/drawing/2014/main" id="{B1ED542D-BE49-4388-87CB-AB75E64C9B09}"/>
              </a:ext>
            </a:extLst>
          </p:cNvPr>
          <p:cNvSpPr>
            <a:spLocks xmlns:a="http://schemas.openxmlformats.org/drawingml/2006/main" noGrp="1"/>
          </p:cNvSpPr>
          <p:nvPr/>
        </p:nvSpPr>
        <p:spPr>
          <a:xfrm xmlns:a="http://schemas.openxmlformats.org/drawingml/2006/main">
            <a:off x="8229600" y="39433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configured boundary is inclusive.</a:t>
            </a:r>
          </a:p>
        </p:txBody>
      </p:sp>
      <p:sp>
        <p:nvSpPr>
          <p:cNvPr id="27" name="boundary-row-rule-4">
            <a:extLst xmlns:a="http://schemas.openxmlformats.org/drawingml/2006/main">
              <a:ext uri="{FF2B5EF4-FFF2-40B4-BE49-F238E27FC236}">
                <a16:creationId xmlns:a16="http://schemas.microsoft.com/office/drawing/2014/main" id="{DE65CD93-DD41-47CB-AF4C-00D845DD964E}"/>
              </a:ext>
            </a:extLst>
          </p:cNvPr>
          <p:cNvSpPr>
            <a:spLocks xmlns:a="http://schemas.openxmlformats.org/drawingml/2006/main" noGrp="1"/>
          </p:cNvSpPr>
          <p:nvPr/>
        </p:nvSpPr>
        <p:spPr>
          <a:xfrm xmlns:a="http://schemas.openxmlformats.org/drawingml/2006/main">
            <a:off x="3981450" y="4314825"/>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8" name="boundary-condition-4">
            <a:extLst xmlns:a="http://schemas.openxmlformats.org/drawingml/2006/main">
              <a:ext uri="{FF2B5EF4-FFF2-40B4-BE49-F238E27FC236}">
                <a16:creationId xmlns:a16="http://schemas.microsoft.com/office/drawing/2014/main" id="{57C9B855-5F31-4F2B-8220-629DC7F1D646}"/>
              </a:ext>
            </a:extLst>
          </p:cNvPr>
          <p:cNvSpPr>
            <a:spLocks xmlns:a="http://schemas.openxmlformats.org/drawingml/2006/main" noGrp="1"/>
          </p:cNvSpPr>
          <p:nvPr/>
        </p:nvSpPr>
        <p:spPr>
          <a:xfrm xmlns:a="http://schemas.openxmlformats.org/drawingml/2006/main">
            <a:off x="3981450" y="4467225"/>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Future onward transfer</a:t>
            </a:r>
          </a:p>
        </p:txBody>
      </p:sp>
      <p:sp>
        <p:nvSpPr>
          <p:cNvPr id="29" name="boundary-result-4">
            <a:extLst xmlns:a="http://schemas.openxmlformats.org/drawingml/2006/main">
              <a:ext uri="{FF2B5EF4-FFF2-40B4-BE49-F238E27FC236}">
                <a16:creationId xmlns:a16="http://schemas.microsoft.com/office/drawing/2014/main" id="{0ED35506-0ABA-42FC-AFFD-1DDE99EB7616}"/>
              </a:ext>
            </a:extLst>
          </p:cNvPr>
          <p:cNvSpPr>
            <a:spLocks xmlns:a="http://schemas.openxmlformats.org/drawingml/2006/main" noGrp="1"/>
          </p:cNvSpPr>
          <p:nvPr/>
        </p:nvSpPr>
        <p:spPr>
          <a:xfrm xmlns:a="http://schemas.openxmlformats.org/drawingml/2006/main">
            <a:off x="6191250" y="4467225"/>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No witness yet</a:t>
            </a:r>
          </a:p>
        </p:txBody>
      </p:sp>
      <p:sp>
        <p:nvSpPr>
          <p:cNvPr id="30" name="boundary-meaning-4">
            <a:extLst xmlns:a="http://schemas.openxmlformats.org/drawingml/2006/main">
              <a:ext uri="{FF2B5EF4-FFF2-40B4-BE49-F238E27FC236}">
                <a16:creationId xmlns:a16="http://schemas.microsoft.com/office/drawing/2014/main" id="{08E1727E-55AA-4AEC-B4FE-360945CB09DB}"/>
              </a:ext>
            </a:extLst>
          </p:cNvPr>
          <p:cNvSpPr>
            <a:spLocks xmlns:a="http://schemas.openxmlformats.org/drawingml/2006/main" noGrp="1"/>
          </p:cNvSpPr>
          <p:nvPr/>
        </p:nvSpPr>
        <p:spPr>
          <a:xfrm xmlns:a="http://schemas.openxmlformats.org/drawingml/2006/main">
            <a:off x="8229600" y="44672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selected cutoff blocks leakage.</a:t>
            </a:r>
          </a:p>
        </p:txBody>
      </p:sp>
      <p:sp>
        <p:nvSpPr>
          <p:cNvPr id="31" name="boundary-row-rule-5">
            <a:extLst xmlns:a="http://schemas.openxmlformats.org/drawingml/2006/main">
              <a:ext uri="{FF2B5EF4-FFF2-40B4-BE49-F238E27FC236}">
                <a16:creationId xmlns:a16="http://schemas.microsoft.com/office/drawing/2014/main" id="{B7CD3643-0DB4-4875-B389-41EA7220373F}"/>
              </a:ext>
            </a:extLst>
          </p:cNvPr>
          <p:cNvSpPr>
            <a:spLocks xmlns:a="http://schemas.openxmlformats.org/drawingml/2006/main" noGrp="1"/>
          </p:cNvSpPr>
          <p:nvPr/>
        </p:nvSpPr>
        <p:spPr>
          <a:xfrm xmlns:a="http://schemas.openxmlformats.org/drawingml/2006/main">
            <a:off x="3981450" y="4838700"/>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2" name="boundary-condition-5">
            <a:extLst xmlns:a="http://schemas.openxmlformats.org/drawingml/2006/main">
              <a:ext uri="{FF2B5EF4-FFF2-40B4-BE49-F238E27FC236}">
                <a16:creationId xmlns:a16="http://schemas.microsoft.com/office/drawing/2014/main" id="{A6D5B5AE-E2A0-41A6-97B6-748D413263F3}"/>
              </a:ext>
            </a:extLst>
          </p:cNvPr>
          <p:cNvSpPr>
            <a:spLocks xmlns:a="http://schemas.openxmlformats.org/drawingml/2006/main" noGrp="1"/>
          </p:cNvSpPr>
          <p:nvPr/>
        </p:nvSpPr>
        <p:spPr>
          <a:xfrm xmlns:a="http://schemas.openxmlformats.org/drawingml/2006/main">
            <a:off x="3981450" y="49911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Equal-time onward hops</a:t>
            </a:r>
          </a:p>
        </p:txBody>
      </p:sp>
      <p:sp>
        <p:nvSpPr>
          <p:cNvPr id="33" name="boundary-result-5">
            <a:extLst xmlns:a="http://schemas.openxmlformats.org/drawingml/2006/main">
              <a:ext uri="{FF2B5EF4-FFF2-40B4-BE49-F238E27FC236}">
                <a16:creationId xmlns:a16="http://schemas.microsoft.com/office/drawing/2014/main" id="{9FD1C524-9D50-4A3B-9496-B8E211CDDA35}"/>
              </a:ext>
            </a:extLst>
          </p:cNvPr>
          <p:cNvSpPr>
            <a:spLocks xmlns:a="http://schemas.openxmlformats.org/drawingml/2006/main" noGrp="1"/>
          </p:cNvSpPr>
          <p:nvPr/>
        </p:nvSpPr>
        <p:spPr>
          <a:xfrm xmlns:a="http://schemas.openxmlformats.org/drawingml/2006/main">
            <a:off x="6191250" y="49911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No reconvergence</a:t>
            </a:r>
          </a:p>
        </p:txBody>
      </p:sp>
      <p:sp>
        <p:nvSpPr>
          <p:cNvPr id="34" name="boundary-meaning-5">
            <a:extLst xmlns:a="http://schemas.openxmlformats.org/drawingml/2006/main">
              <a:ext uri="{FF2B5EF4-FFF2-40B4-BE49-F238E27FC236}">
                <a16:creationId xmlns:a16="http://schemas.microsoft.com/office/drawing/2014/main" id="{5023BE2A-D1C4-4CC6-A973-E8053D3F46DC}"/>
              </a:ext>
            </a:extLst>
          </p:cNvPr>
          <p:cNvSpPr>
            <a:spLocks xmlns:a="http://schemas.openxmlformats.org/drawingml/2006/main" noGrp="1"/>
          </p:cNvSpPr>
          <p:nvPr/>
        </p:nvSpPr>
        <p:spPr>
          <a:xfrm xmlns:a="http://schemas.openxmlformats.org/drawingml/2006/main">
            <a:off x="8229600" y="49911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Chronology requires strict ordering.</a:t>
            </a:r>
          </a:p>
        </p:txBody>
      </p:sp>
      <p:sp>
        <p:nvSpPr>
          <p:cNvPr id="35" name="boundary-last-rule">
            <a:extLst xmlns:a="http://schemas.openxmlformats.org/drawingml/2006/main">
              <a:ext uri="{FF2B5EF4-FFF2-40B4-BE49-F238E27FC236}">
                <a16:creationId xmlns:a16="http://schemas.microsoft.com/office/drawing/2014/main" id="{13770FA6-9AA4-452C-81B0-7B5FFD370948}"/>
              </a:ext>
            </a:extLst>
          </p:cNvPr>
          <p:cNvSpPr>
            <a:spLocks xmlns:a="http://schemas.openxmlformats.org/drawingml/2006/main" noGrp="1"/>
          </p:cNvSpPr>
          <p:nvPr/>
        </p:nvSpPr>
        <p:spPr>
          <a:xfrm xmlns:a="http://schemas.openxmlformats.org/drawingml/2006/main">
            <a:off x="3981450" y="5362575"/>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6" name="boundary-bottom-band">
            <a:extLst xmlns:a="http://schemas.openxmlformats.org/drawingml/2006/main">
              <a:ext uri="{FF2B5EF4-FFF2-40B4-BE49-F238E27FC236}">
                <a16:creationId xmlns:a16="http://schemas.microsoft.com/office/drawing/2014/main" id="{4512B6B8-307F-4F39-8E24-9E1DD8093892}"/>
              </a:ext>
            </a:extLst>
          </p:cNvPr>
          <p:cNvSpPr>
            <a:spLocks xmlns:a="http://schemas.openxmlformats.org/drawingml/2006/main" noGrp="1"/>
          </p:cNvSpPr>
          <p:nvPr/>
        </p:nvSpPr>
        <p:spPr>
          <a:xfrm xmlns:a="http://schemas.openxmlformats.org/drawingml/2006/main">
            <a:off x="609600" y="5695950"/>
            <a:ext cx="10972800" cy="342900"/>
          </a:xfrm>
          <a:prstGeom xmlns:a="http://schemas.openxmlformats.org/drawingml/2006/main" prst="roundRect">
            <a:avLst>
              <a:gd name="adj" fmla="val 27778"/>
            </a:avLst>
          </a:prstGeom>
          <a:solidFill xmlns:a="http://schemas.openxmlformats.org/drawingml/2006/main">
            <a:srgbClr val="071429"/>
          </a:solidFill>
          <a:ln xmlns:a="http://schemas.openxmlformats.org/drawingml/2006/main" w="9525">
            <a:solidFill>
              <a:srgbClr val="17345B"/>
            </a:solidFill>
            <a:prstDash val="solid"/>
          </a:ln>
        </p:spPr>
      </p:sp>
      <p:sp>
        <p:nvSpPr>
          <p:cNvPr id="37" name="boundary-bottom">
            <a:extLst xmlns:a="http://schemas.openxmlformats.org/drawingml/2006/main">
              <a:ext uri="{FF2B5EF4-FFF2-40B4-BE49-F238E27FC236}">
                <a16:creationId xmlns:a16="http://schemas.microsoft.com/office/drawing/2014/main" id="{429B3993-F10A-4883-97E3-27C6DF68A531}"/>
              </a:ext>
            </a:extLst>
          </p:cNvPr>
          <p:cNvSpPr>
            <a:spLocks xmlns:a="http://schemas.openxmlformats.org/drawingml/2006/main" noGrp="1"/>
          </p:cNvSpPr>
          <p:nvPr/>
        </p:nvSpPr>
        <p:spPr>
          <a:xfrm xmlns:a="http://schemas.openxmlformats.org/drawingml/2006/main">
            <a:off x="838200" y="579120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A passing matrix proves the rules behave as designed. It does not claim production fraud accuracy.</a:t>
            </a:r>
          </a:p>
        </p:txBody>
      </p:sp>
      <p:sp>
        <p:nvSpPr>
          <p:cNvPr id="38" name="footer-rule-9">
            <a:extLst xmlns:a="http://schemas.openxmlformats.org/drawingml/2006/main">
              <a:ext uri="{FF2B5EF4-FFF2-40B4-BE49-F238E27FC236}">
                <a16:creationId xmlns:a16="http://schemas.microsoft.com/office/drawing/2014/main" id="{26133310-38D2-4BEA-9823-BF952971CEA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9" name="footer-brand-9">
            <a:extLst xmlns:a="http://schemas.openxmlformats.org/drawingml/2006/main">
              <a:ext uri="{FF2B5EF4-FFF2-40B4-BE49-F238E27FC236}">
                <a16:creationId xmlns:a16="http://schemas.microsoft.com/office/drawing/2014/main" id="{8A5715C3-57BC-4A46-980D-BB3A05F37841}"/>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40" name="footer-page-9">
            <a:extLst xmlns:a="http://schemas.openxmlformats.org/drawingml/2006/main">
              <a:ext uri="{FF2B5EF4-FFF2-40B4-BE49-F238E27FC236}">
                <a16:creationId xmlns:a16="http://schemas.microsoft.com/office/drawing/2014/main" id="{5F54B3BF-7673-4AC1-91FC-C9900A08F83D}"/>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09 / 13</a:t>
            </a:r>
          </a:p>
        </p:txBody>
      </p:sp>
    </p:spTree>
    <p:extLst>
      <p:ext uri="{BB962C8B-B14F-4D97-AF65-F5344CB8AC3E}">
        <p14:creationId xmlns:p14="http://schemas.microsoft.com/office/powerpoint/2010/main" val="2087959766"/>
      </p:ext>
    </p:extLst>
  </p:cSld>
</p:sld>
</file>

<file path=ppt/slides/slide10.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6" name="build-kicker">
            <a:extLst xmlns:a="http://schemas.openxmlformats.org/drawingml/2006/main">
              <a:ext uri="{FF2B5EF4-FFF2-40B4-BE49-F238E27FC236}">
                <a16:creationId xmlns:a16="http://schemas.microsoft.com/office/drawing/2014/main" id="{749ACB90-E08E-42BF-B109-BA1C63ED13B8}"/>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BUILD AND READINESS</a:t>
            </a:r>
          </a:p>
        </p:txBody>
      </p:sp>
      <p:sp>
        <p:nvSpPr>
          <p:cNvPr id="2" name="build-title">
            <a:extLst xmlns:a="http://schemas.openxmlformats.org/drawingml/2006/main">
              <a:ext uri="{FF2B5EF4-FFF2-40B4-BE49-F238E27FC236}">
                <a16:creationId xmlns:a16="http://schemas.microsoft.com/office/drawing/2014/main" id="{C8D154C6-B4BC-4730-B3DB-B15ECFF852F6}"/>
              </a:ext>
            </a:extLst>
          </p:cNvPr>
          <p:cNvSpPr>
            <a:spLocks xmlns:a="http://schemas.openxmlformats.org/drawingml/2006/main" noGrp="1"/>
          </p:cNvSpPr>
          <p:nvPr/>
        </p:nvSpPr>
        <p:spPr>
          <a:xfrm xmlns:a="http://schemas.openxmlformats.org/drawingml/2006/main">
            <a:off x="609600" y="828675"/>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Ready demo, clear handoff</a:t>
            </a:r>
          </a:p>
        </p:txBody>
      </p:sp>
      <p:sp>
        <p:nvSpPr>
          <p:cNvPr id="3" name="build-subtitle">
            <a:extLst xmlns:a="http://schemas.openxmlformats.org/drawingml/2006/main">
              <a:ext uri="{FF2B5EF4-FFF2-40B4-BE49-F238E27FC236}">
                <a16:creationId xmlns:a16="http://schemas.microsoft.com/office/drawing/2014/main" id="{AC7E2F2D-B38C-425B-B72A-0FB1987ABD58}"/>
              </a:ext>
            </a:extLst>
          </p:cNvPr>
          <p:cNvSpPr>
            <a:spLocks xmlns:a="http://schemas.openxmlformats.org/drawingml/2006/main" noGrp="1"/>
          </p:cNvSpPr>
          <p:nvPr/>
        </p:nvSpPr>
        <p:spPr>
          <a:xfrm xmlns:a="http://schemas.openxmlformats.org/drawingml/2006/main">
            <a:off x="628650" y="148590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core flow works today. The exact configuration for private Vercel workspaces is documented.</a:t>
            </a:r>
          </a:p>
        </p:txBody>
      </p:sp>
      <p:sp>
        <p:nvSpPr>
          <p:cNvPr id="4" name="build-rule">
            <a:extLst xmlns:a="http://schemas.openxmlformats.org/drawingml/2006/main">
              <a:ext uri="{FF2B5EF4-FFF2-40B4-BE49-F238E27FC236}">
                <a16:creationId xmlns:a16="http://schemas.microsoft.com/office/drawing/2014/main" id="{F8A370CF-8668-4ACD-A1C0-4D5E725E1A9E}"/>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build-working-label">
            <a:extLst xmlns:a="http://schemas.openxmlformats.org/drawingml/2006/main">
              <a:ext uri="{FF2B5EF4-FFF2-40B4-BE49-F238E27FC236}">
                <a16:creationId xmlns:a16="http://schemas.microsoft.com/office/drawing/2014/main" id="{476D8DFF-31B1-49D3-A4DC-E3BFD68AF083}"/>
              </a:ext>
            </a:extLst>
          </p:cNvPr>
          <p:cNvSpPr>
            <a:spLocks xmlns:a="http://schemas.openxmlformats.org/drawingml/2006/main" noGrp="1"/>
          </p:cNvSpPr>
          <p:nvPr/>
        </p:nvSpPr>
        <p:spPr>
          <a:xfrm xmlns:a="http://schemas.openxmlformats.org/drawingml/2006/main">
            <a:off x="609600" y="24003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WORKING TODAY</a:t>
            </a:r>
          </a:p>
        </p:txBody>
      </p:sp>
      <p:sp>
        <p:nvSpPr>
          <p:cNvPr id="6" name="build-stat-1">
            <a:extLst xmlns:a="http://schemas.openxmlformats.org/drawingml/2006/main">
              <a:ext uri="{FF2B5EF4-FFF2-40B4-BE49-F238E27FC236}">
                <a16:creationId xmlns:a16="http://schemas.microsoft.com/office/drawing/2014/main" id="{1D338CC0-FCD0-43EC-997C-5DC09FC80B98}"/>
              </a:ext>
            </a:extLst>
          </p:cNvPr>
          <p:cNvSpPr>
            <a:spLocks xmlns:a="http://schemas.openxmlformats.org/drawingml/2006/main" noGrp="1"/>
          </p:cNvSpPr>
          <p:nvPr/>
        </p:nvSpPr>
        <p:spPr>
          <a:xfrm xmlns:a="http://schemas.openxmlformats.org/drawingml/2006/main">
            <a:off x="609600" y="27813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25/25</a:t>
            </a:r>
          </a:p>
        </p:txBody>
      </p:sp>
      <p:sp>
        <p:nvSpPr>
          <p:cNvPr id="7" name="build-stat-heading-1">
            <a:extLst xmlns:a="http://schemas.openxmlformats.org/drawingml/2006/main">
              <a:ext uri="{FF2B5EF4-FFF2-40B4-BE49-F238E27FC236}">
                <a16:creationId xmlns:a16="http://schemas.microsoft.com/office/drawing/2014/main" id="{26AAFD94-BBE0-48E9-976E-3E1F5BA4A0D4}"/>
              </a:ext>
            </a:extLst>
          </p:cNvPr>
          <p:cNvSpPr>
            <a:spLocks xmlns:a="http://schemas.openxmlformats.org/drawingml/2006/main" noGrp="1"/>
          </p:cNvSpPr>
          <p:nvPr/>
        </p:nvSpPr>
        <p:spPr>
          <a:xfrm xmlns:a="http://schemas.openxmlformats.org/drawingml/2006/main">
            <a:off x="1885950" y="28003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accuracy scenarios</a:t>
            </a:r>
          </a:p>
        </p:txBody>
      </p:sp>
      <p:sp>
        <p:nvSpPr>
          <p:cNvPr id="8" name="build-stat-body-1">
            <a:extLst xmlns:a="http://schemas.openxmlformats.org/drawingml/2006/main">
              <a:ext uri="{FF2B5EF4-FFF2-40B4-BE49-F238E27FC236}">
                <a16:creationId xmlns:a16="http://schemas.microsoft.com/office/drawing/2014/main" id="{2C524B20-1AC8-420A-A8C6-54557A13D1AF}"/>
              </a:ext>
            </a:extLst>
          </p:cNvPr>
          <p:cNvSpPr>
            <a:spLocks xmlns:a="http://schemas.openxmlformats.org/drawingml/2006/main" noGrp="1"/>
          </p:cNvSpPr>
          <p:nvPr/>
        </p:nvSpPr>
        <p:spPr>
          <a:xfrm xmlns:a="http://schemas.openxmlformats.org/drawingml/2006/main">
            <a:off x="1885950" y="30575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Boundary checks across collection, forwarding, reconvergence, cycles, velocity, cutoff, and depth.</a:t>
            </a:r>
          </a:p>
        </p:txBody>
      </p:sp>
      <p:sp>
        <p:nvSpPr>
          <p:cNvPr id="9" name="build-stat-2">
            <a:extLst xmlns:a="http://schemas.openxmlformats.org/drawingml/2006/main">
              <a:ext uri="{FF2B5EF4-FFF2-40B4-BE49-F238E27FC236}">
                <a16:creationId xmlns:a16="http://schemas.microsoft.com/office/drawing/2014/main" id="{09E68F27-0B48-474B-93BF-09239342C751}"/>
              </a:ext>
            </a:extLst>
          </p:cNvPr>
          <p:cNvSpPr>
            <a:spLocks xmlns:a="http://schemas.openxmlformats.org/drawingml/2006/main" noGrp="1"/>
          </p:cNvSpPr>
          <p:nvPr/>
        </p:nvSpPr>
        <p:spPr>
          <a:xfrm xmlns:a="http://schemas.openxmlformats.org/drawingml/2006/main">
            <a:off x="609600" y="36195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58</a:t>
            </a:r>
          </a:p>
        </p:txBody>
      </p:sp>
      <p:sp>
        <p:nvSpPr>
          <p:cNvPr id="10" name="build-stat-heading-2">
            <a:extLst xmlns:a="http://schemas.openxmlformats.org/drawingml/2006/main">
              <a:ext uri="{FF2B5EF4-FFF2-40B4-BE49-F238E27FC236}">
                <a16:creationId xmlns:a16="http://schemas.microsoft.com/office/drawing/2014/main" id="{48BDB081-0EF6-4DA1-9FC8-8F14AB111C3F}"/>
              </a:ext>
            </a:extLst>
          </p:cNvPr>
          <p:cNvSpPr>
            <a:spLocks xmlns:a="http://schemas.openxmlformats.org/drawingml/2006/main" noGrp="1"/>
          </p:cNvSpPr>
          <p:nvPr/>
        </p:nvSpPr>
        <p:spPr>
          <a:xfrm xmlns:a="http://schemas.openxmlformats.org/drawingml/2006/main">
            <a:off x="1885950" y="36385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full tests passing</a:t>
            </a:r>
          </a:p>
        </p:txBody>
      </p:sp>
      <p:sp>
        <p:nvSpPr>
          <p:cNvPr id="11" name="build-stat-body-2">
            <a:extLst xmlns:a="http://schemas.openxmlformats.org/drawingml/2006/main">
              <a:ext uri="{FF2B5EF4-FFF2-40B4-BE49-F238E27FC236}">
                <a16:creationId xmlns:a16="http://schemas.microsoft.com/office/drawing/2014/main" id="{F964EDE9-2FE6-4B90-B311-67631E7D5639}"/>
              </a:ext>
            </a:extLst>
          </p:cNvPr>
          <p:cNvSpPr>
            <a:spLocks xmlns:a="http://schemas.openxmlformats.org/drawingml/2006/main" noGrp="1"/>
          </p:cNvSpPr>
          <p:nvPr/>
        </p:nvSpPr>
        <p:spPr>
          <a:xfrm xmlns:a="http://schemas.openxmlformats.org/drawingml/2006/main">
            <a:off x="1885950" y="38957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Engine, API, replay, validation, export, and intelligence coverage.</a:t>
            </a:r>
          </a:p>
        </p:txBody>
      </p:sp>
      <p:sp>
        <p:nvSpPr>
          <p:cNvPr id="12" name="build-stat-3">
            <a:extLst xmlns:a="http://schemas.openxmlformats.org/drawingml/2006/main">
              <a:ext uri="{FF2B5EF4-FFF2-40B4-BE49-F238E27FC236}">
                <a16:creationId xmlns:a16="http://schemas.microsoft.com/office/drawing/2014/main" id="{8D06E022-CE75-4F89-97E4-339616601ACE}"/>
              </a:ext>
            </a:extLst>
          </p:cNvPr>
          <p:cNvSpPr>
            <a:spLocks xmlns:a="http://schemas.openxmlformats.org/drawingml/2006/main" noGrp="1"/>
          </p:cNvSpPr>
          <p:nvPr/>
        </p:nvSpPr>
        <p:spPr>
          <a:xfrm xmlns:a="http://schemas.openxmlformats.org/drawingml/2006/main">
            <a:off x="609600" y="44577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69C77"/>
                </a:solidFill>
                <a:latin typeface="Helvetica Neue"/>
                <a:ea typeface="Helvetica Neue"/>
                <a:cs typeface="Helvetica Neue"/>
              </a:defRPr>
            </a:pPr>
            <a:r>
              <a:rPr sz="2250" b="1" i="0">
                <a:solidFill>
                  <a:srgbClr val="269C77"/>
                </a:solidFill>
                <a:latin typeface="Helvetica Neue"/>
                <a:ea typeface="Helvetica Neue"/>
                <a:cs typeface="Helvetica Neue"/>
              </a:rPr>
              <a:t>0</a:t>
            </a:r>
          </a:p>
        </p:txBody>
      </p:sp>
      <p:sp>
        <p:nvSpPr>
          <p:cNvPr id="13" name="build-stat-heading-3">
            <a:extLst xmlns:a="http://schemas.openxmlformats.org/drawingml/2006/main">
              <a:ext uri="{FF2B5EF4-FFF2-40B4-BE49-F238E27FC236}">
                <a16:creationId xmlns:a16="http://schemas.microsoft.com/office/drawing/2014/main" id="{74FA27D4-8B62-41D3-BA28-A95DFB9334D5}"/>
              </a:ext>
            </a:extLst>
          </p:cNvPr>
          <p:cNvSpPr>
            <a:spLocks xmlns:a="http://schemas.openxmlformats.org/drawingml/2006/main" noGrp="1"/>
          </p:cNvSpPr>
          <p:nvPr/>
        </p:nvSpPr>
        <p:spPr>
          <a:xfrm xmlns:a="http://schemas.openxmlformats.org/drawingml/2006/main">
            <a:off x="1885950" y="44767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local build blockers</a:t>
            </a:r>
          </a:p>
        </p:txBody>
      </p:sp>
      <p:sp>
        <p:nvSpPr>
          <p:cNvPr id="14" name="build-stat-body-3">
            <a:extLst xmlns:a="http://schemas.openxmlformats.org/drawingml/2006/main">
              <a:ext uri="{FF2B5EF4-FFF2-40B4-BE49-F238E27FC236}">
                <a16:creationId xmlns:a16="http://schemas.microsoft.com/office/drawing/2014/main" id="{673244BF-1BBD-4E1F-8EE9-A1DBDCC734E6}"/>
              </a:ext>
            </a:extLst>
          </p:cNvPr>
          <p:cNvSpPr>
            <a:spLocks xmlns:a="http://schemas.openxmlformats.org/drawingml/2006/main" noGrp="1"/>
          </p:cNvSpPr>
          <p:nvPr/>
        </p:nvSpPr>
        <p:spPr>
          <a:xfrm xmlns:a="http://schemas.openxmlformats.org/drawingml/2006/main">
            <a:off x="1885950" y="47339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Typecheck, lint, and Vite build pass on the current codebase.</a:t>
            </a:r>
          </a:p>
        </p:txBody>
      </p:sp>
      <p:sp>
        <p:nvSpPr>
          <p:cNvPr id="15" name="build-stack-label">
            <a:extLst xmlns:a="http://schemas.openxmlformats.org/drawingml/2006/main">
              <a:ext uri="{FF2B5EF4-FFF2-40B4-BE49-F238E27FC236}">
                <a16:creationId xmlns:a16="http://schemas.microsoft.com/office/drawing/2014/main" id="{630E591B-CE8C-49B6-80E1-6283BC52A529}"/>
              </a:ext>
            </a:extLst>
          </p:cNvPr>
          <p:cNvSpPr>
            <a:spLocks xmlns:a="http://schemas.openxmlformats.org/drawingml/2006/main" noGrp="1"/>
          </p:cNvSpPr>
          <p:nvPr/>
        </p:nvSpPr>
        <p:spPr>
          <a:xfrm xmlns:a="http://schemas.openxmlformats.org/drawingml/2006/main">
            <a:off x="659130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STACK AND HANDOFF</a:t>
            </a:r>
          </a:p>
        </p:txBody>
      </p:sp>
      <p:sp>
        <p:nvSpPr>
          <p:cNvPr id="16" name="build-stack-box-1">
            <a:extLst xmlns:a="http://schemas.openxmlformats.org/drawingml/2006/main">
              <a:ext uri="{FF2B5EF4-FFF2-40B4-BE49-F238E27FC236}">
                <a16:creationId xmlns:a16="http://schemas.microsoft.com/office/drawing/2014/main" id="{DE972005-D40D-4CA9-A602-308379F3D0E6}"/>
              </a:ext>
            </a:extLst>
          </p:cNvPr>
          <p:cNvSpPr>
            <a:spLocks xmlns:a="http://schemas.openxmlformats.org/drawingml/2006/main" noGrp="1"/>
          </p:cNvSpPr>
          <p:nvPr/>
        </p:nvSpPr>
        <p:spPr>
          <a:xfrm xmlns:a="http://schemas.openxmlformats.org/drawingml/2006/main">
            <a:off x="6591300" y="2781300"/>
            <a:ext cx="4991100" cy="476250"/>
          </a:xfrm>
          <a:prstGeom xmlns:a="http://schemas.openxmlformats.org/drawingml/2006/main" prst="roundRect">
            <a:avLst>
              <a:gd name="adj" fmla="val 20000"/>
            </a:avLst>
          </a:prstGeom>
          <a:solidFill xmlns:a="http://schemas.openxmlformats.org/drawingml/2006/main">
            <a:srgbClr val="EAF2FF"/>
          </a:solidFill>
          <a:ln xmlns:a="http://schemas.openxmlformats.org/drawingml/2006/main" w="9525">
            <a:solidFill>
              <a:srgbClr val="EAF2FF"/>
            </a:solidFill>
            <a:prstDash val="solid"/>
          </a:ln>
        </p:spPr>
      </p:sp>
      <p:sp>
        <p:nvSpPr>
          <p:cNvPr id="17" name="build-stack-heading-1">
            <a:extLst xmlns:a="http://schemas.openxmlformats.org/drawingml/2006/main">
              <a:ext uri="{FF2B5EF4-FFF2-40B4-BE49-F238E27FC236}">
                <a16:creationId xmlns:a16="http://schemas.microsoft.com/office/drawing/2014/main" id="{62B56E25-BA3E-4E43-96C7-1DAF2D09FBDF}"/>
              </a:ext>
            </a:extLst>
          </p:cNvPr>
          <p:cNvSpPr>
            <a:spLocks xmlns:a="http://schemas.openxmlformats.org/drawingml/2006/main" noGrp="1"/>
          </p:cNvSpPr>
          <p:nvPr/>
        </p:nvSpPr>
        <p:spPr>
          <a:xfrm xmlns:a="http://schemas.openxmlformats.org/drawingml/2006/main">
            <a:off x="6762750" y="28670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Frontend</a:t>
            </a:r>
          </a:p>
        </p:txBody>
      </p:sp>
      <p:sp>
        <p:nvSpPr>
          <p:cNvPr id="18" name="build-stack-body-1">
            <a:extLst xmlns:a="http://schemas.openxmlformats.org/drawingml/2006/main">
              <a:ext uri="{FF2B5EF4-FFF2-40B4-BE49-F238E27FC236}">
                <a16:creationId xmlns:a16="http://schemas.microsoft.com/office/drawing/2014/main" id="{8C1CC2BA-9EC8-4B11-9D67-E71EFCA08C23}"/>
              </a:ext>
            </a:extLst>
          </p:cNvPr>
          <p:cNvSpPr>
            <a:spLocks xmlns:a="http://schemas.openxmlformats.org/drawingml/2006/main" noGrp="1"/>
          </p:cNvSpPr>
          <p:nvPr/>
        </p:nvSpPr>
        <p:spPr>
          <a:xfrm xmlns:a="http://schemas.openxmlformats.org/drawingml/2006/main">
            <a:off x="7905750" y="28670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React + Vite + TypeScript</a:t>
            </a:r>
          </a:p>
        </p:txBody>
      </p:sp>
      <p:sp>
        <p:nvSpPr>
          <p:cNvPr id="19" name="build-stack-box-2">
            <a:extLst xmlns:a="http://schemas.openxmlformats.org/drawingml/2006/main">
              <a:ext uri="{FF2B5EF4-FFF2-40B4-BE49-F238E27FC236}">
                <a16:creationId xmlns:a16="http://schemas.microsoft.com/office/drawing/2014/main" id="{75C28F71-92A1-413F-A5D1-C9617B38D3E7}"/>
              </a:ext>
            </a:extLst>
          </p:cNvPr>
          <p:cNvSpPr>
            <a:spLocks xmlns:a="http://schemas.openxmlformats.org/drawingml/2006/main" noGrp="1"/>
          </p:cNvSpPr>
          <p:nvPr/>
        </p:nvSpPr>
        <p:spPr>
          <a:xfrm xmlns:a="http://schemas.openxmlformats.org/drawingml/2006/main">
            <a:off x="6591300" y="3409950"/>
            <a:ext cx="4991100" cy="476250"/>
          </a:xfrm>
          <a:prstGeom xmlns:a="http://schemas.openxmlformats.org/drawingml/2006/main" prst="roundRect">
            <a:avLst>
              <a:gd name="adj" fmla="val 20000"/>
            </a:avLst>
          </a:prstGeom>
          <a:solidFill xmlns:a="http://schemas.openxmlformats.org/drawingml/2006/main">
            <a:srgbClr val="EDF5FF"/>
          </a:solidFill>
          <a:ln xmlns:a="http://schemas.openxmlformats.org/drawingml/2006/main" w="9525">
            <a:solidFill>
              <a:srgbClr val="EDF5FF"/>
            </a:solidFill>
            <a:prstDash val="solid"/>
          </a:ln>
        </p:spPr>
      </p:sp>
      <p:sp>
        <p:nvSpPr>
          <p:cNvPr id="20" name="build-stack-heading-2">
            <a:extLst xmlns:a="http://schemas.openxmlformats.org/drawingml/2006/main">
              <a:ext uri="{FF2B5EF4-FFF2-40B4-BE49-F238E27FC236}">
                <a16:creationId xmlns:a16="http://schemas.microsoft.com/office/drawing/2014/main" id="{6154604D-A914-4459-8C60-893FB34C7E9D}"/>
              </a:ext>
            </a:extLst>
          </p:cNvPr>
          <p:cNvSpPr>
            <a:spLocks xmlns:a="http://schemas.openxmlformats.org/drawingml/2006/main" noGrp="1"/>
          </p:cNvSpPr>
          <p:nvPr/>
        </p:nvSpPr>
        <p:spPr>
          <a:xfrm xmlns:a="http://schemas.openxmlformats.org/drawingml/2006/main">
            <a:off x="6762750" y="3495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Analysis</a:t>
            </a:r>
          </a:p>
        </p:txBody>
      </p:sp>
      <p:sp>
        <p:nvSpPr>
          <p:cNvPr id="21" name="build-stack-body-2">
            <a:extLst xmlns:a="http://schemas.openxmlformats.org/drawingml/2006/main">
              <a:ext uri="{FF2B5EF4-FFF2-40B4-BE49-F238E27FC236}">
                <a16:creationId xmlns:a16="http://schemas.microsoft.com/office/drawing/2014/main" id="{6CB9ED2B-5D9C-4B5A-8965-BAEF84B70356}"/>
              </a:ext>
            </a:extLst>
          </p:cNvPr>
          <p:cNvSpPr>
            <a:spLocks xmlns:a="http://schemas.openxmlformats.org/drawingml/2006/main" noGrp="1"/>
          </p:cNvSpPr>
          <p:nvPr/>
        </p:nvSpPr>
        <p:spPr>
          <a:xfrm xmlns:a="http://schemas.openxmlformats.org/drawingml/2006/main">
            <a:off x="7905750" y="34956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Vercel Function with local fallback</a:t>
            </a:r>
          </a:p>
        </p:txBody>
      </p:sp>
      <p:sp>
        <p:nvSpPr>
          <p:cNvPr id="22" name="build-stack-box-3">
            <a:extLst xmlns:a="http://schemas.openxmlformats.org/drawingml/2006/main">
              <a:ext uri="{FF2B5EF4-FFF2-40B4-BE49-F238E27FC236}">
                <a16:creationId xmlns:a16="http://schemas.microsoft.com/office/drawing/2014/main" id="{1CE0CBE4-A9B5-4FEF-8CB0-2C130865839D}"/>
              </a:ext>
            </a:extLst>
          </p:cNvPr>
          <p:cNvSpPr>
            <a:spLocks xmlns:a="http://schemas.openxmlformats.org/drawingml/2006/main" noGrp="1"/>
          </p:cNvSpPr>
          <p:nvPr/>
        </p:nvSpPr>
        <p:spPr>
          <a:xfrm xmlns:a="http://schemas.openxmlformats.org/drawingml/2006/main">
            <a:off x="6591300" y="4038600"/>
            <a:ext cx="4991100" cy="476250"/>
          </a:xfrm>
          <a:prstGeom xmlns:a="http://schemas.openxmlformats.org/drawingml/2006/main" prst="roundRect">
            <a:avLst>
              <a:gd name="adj" fmla="val 20000"/>
            </a:avLst>
          </a:prstGeom>
          <a:solidFill xmlns:a="http://schemas.openxmlformats.org/drawingml/2006/main">
            <a:srgbClr val="E9FBF6"/>
          </a:solidFill>
          <a:ln xmlns:a="http://schemas.openxmlformats.org/drawingml/2006/main" w="9525">
            <a:solidFill>
              <a:srgbClr val="E9FBF6"/>
            </a:solidFill>
            <a:prstDash val="solid"/>
          </a:ln>
        </p:spPr>
      </p:sp>
      <p:sp>
        <p:nvSpPr>
          <p:cNvPr id="23" name="build-stack-heading-3">
            <a:extLst xmlns:a="http://schemas.openxmlformats.org/drawingml/2006/main">
              <a:ext uri="{FF2B5EF4-FFF2-40B4-BE49-F238E27FC236}">
                <a16:creationId xmlns:a16="http://schemas.microsoft.com/office/drawing/2014/main" id="{A2BC477C-4FC6-48DE-8077-8160999842EF}"/>
              </a:ext>
            </a:extLst>
          </p:cNvPr>
          <p:cNvSpPr>
            <a:spLocks xmlns:a="http://schemas.openxmlformats.org/drawingml/2006/main" noGrp="1"/>
          </p:cNvSpPr>
          <p:nvPr/>
        </p:nvSpPr>
        <p:spPr>
          <a:xfrm xmlns:a="http://schemas.openxmlformats.org/drawingml/2006/main">
            <a:off x="6762750" y="41243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48C73"/>
                </a:solidFill>
                <a:latin typeface="Helvetica Neue"/>
                <a:ea typeface="Helvetica Neue"/>
                <a:cs typeface="Helvetica Neue"/>
              </a:defRPr>
            </a:pPr>
            <a:r>
              <a:rPr sz="975" b="1" i="0">
                <a:solidFill>
                  <a:srgbClr val="248C73"/>
                </a:solidFill>
                <a:latin typeface="Helvetica Neue"/>
                <a:ea typeface="Helvetica Neue"/>
                <a:cs typeface="Helvetica Neue"/>
              </a:rPr>
              <a:t>Persistence</a:t>
            </a:r>
          </a:p>
        </p:txBody>
      </p:sp>
      <p:sp>
        <p:nvSpPr>
          <p:cNvPr id="24" name="build-stack-body-3">
            <a:extLst xmlns:a="http://schemas.openxmlformats.org/drawingml/2006/main">
              <a:ext uri="{FF2B5EF4-FFF2-40B4-BE49-F238E27FC236}">
                <a16:creationId xmlns:a16="http://schemas.microsoft.com/office/drawing/2014/main" id="{6337BEBF-F60B-4309-8447-6A8FE2FD275A}"/>
              </a:ext>
            </a:extLst>
          </p:cNvPr>
          <p:cNvSpPr>
            <a:spLocks xmlns:a="http://schemas.openxmlformats.org/drawingml/2006/main" noGrp="1"/>
          </p:cNvSpPr>
          <p:nvPr/>
        </p:nvSpPr>
        <p:spPr>
          <a:xfrm xmlns:a="http://schemas.openxmlformats.org/drawingml/2006/main">
            <a:off x="7905750" y="41243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Supabase Auth + Postgres RLS</a:t>
            </a:r>
          </a:p>
        </p:txBody>
      </p:sp>
      <p:sp>
        <p:nvSpPr>
          <p:cNvPr id="25" name="build-stack-box-4">
            <a:extLst xmlns:a="http://schemas.openxmlformats.org/drawingml/2006/main">
              <a:ext uri="{FF2B5EF4-FFF2-40B4-BE49-F238E27FC236}">
                <a16:creationId xmlns:a16="http://schemas.microsoft.com/office/drawing/2014/main" id="{25E230E2-0560-4AC4-9492-61B6919D99BA}"/>
              </a:ext>
            </a:extLst>
          </p:cNvPr>
          <p:cNvSpPr>
            <a:spLocks xmlns:a="http://schemas.openxmlformats.org/drawingml/2006/main" noGrp="1"/>
          </p:cNvSpPr>
          <p:nvPr/>
        </p:nvSpPr>
        <p:spPr>
          <a:xfrm xmlns:a="http://schemas.openxmlformats.org/drawingml/2006/main">
            <a:off x="6591300" y="4667250"/>
            <a:ext cx="4991100" cy="476250"/>
          </a:xfrm>
          <a:prstGeom xmlns:a="http://schemas.openxmlformats.org/drawingml/2006/main" prst="roundRect">
            <a:avLst>
              <a:gd name="adj" fmla="val 20000"/>
            </a:avLst>
          </a:prstGeom>
          <a:solidFill xmlns:a="http://schemas.openxmlformats.org/drawingml/2006/main">
            <a:srgbClr val="FFF0EE"/>
          </a:solidFill>
          <a:ln xmlns:a="http://schemas.openxmlformats.org/drawingml/2006/main" w="9525">
            <a:solidFill>
              <a:srgbClr val="FFF0EE"/>
            </a:solidFill>
            <a:prstDash val="solid"/>
          </a:ln>
        </p:spPr>
      </p:sp>
      <p:sp>
        <p:nvSpPr>
          <p:cNvPr id="26" name="build-stack-heading-4">
            <a:extLst xmlns:a="http://schemas.openxmlformats.org/drawingml/2006/main">
              <a:ext uri="{FF2B5EF4-FFF2-40B4-BE49-F238E27FC236}">
                <a16:creationId xmlns:a16="http://schemas.microsoft.com/office/drawing/2014/main" id="{B573F80C-EE42-4F42-947C-55AC6AAAD27E}"/>
              </a:ext>
            </a:extLst>
          </p:cNvPr>
          <p:cNvSpPr>
            <a:spLocks xmlns:a="http://schemas.openxmlformats.org/drawingml/2006/main" noGrp="1"/>
          </p:cNvSpPr>
          <p:nvPr/>
        </p:nvSpPr>
        <p:spPr>
          <a:xfrm xmlns:a="http://schemas.openxmlformats.org/drawingml/2006/main">
            <a:off x="6762750" y="47529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B84D49"/>
                </a:solidFill>
                <a:latin typeface="Helvetica Neue"/>
                <a:ea typeface="Helvetica Neue"/>
                <a:cs typeface="Helvetica Neue"/>
              </a:defRPr>
            </a:pPr>
            <a:r>
              <a:rPr sz="975" b="1" i="0">
                <a:solidFill>
                  <a:srgbClr val="B84D49"/>
                </a:solidFill>
                <a:latin typeface="Helvetica Neue"/>
                <a:ea typeface="Helvetica Neue"/>
                <a:cs typeface="Helvetica Neue"/>
              </a:rPr>
              <a:t>Verification</a:t>
            </a:r>
          </a:p>
        </p:txBody>
      </p:sp>
      <p:sp>
        <p:nvSpPr>
          <p:cNvPr id="27" name="build-stack-body-4">
            <a:extLst xmlns:a="http://schemas.openxmlformats.org/drawingml/2006/main">
              <a:ext uri="{FF2B5EF4-FFF2-40B4-BE49-F238E27FC236}">
                <a16:creationId xmlns:a16="http://schemas.microsoft.com/office/drawing/2014/main" id="{1B7E43B2-F077-4DD5-829F-DB732257BA56}"/>
              </a:ext>
            </a:extLst>
          </p:cNvPr>
          <p:cNvSpPr>
            <a:spLocks xmlns:a="http://schemas.openxmlformats.org/drawingml/2006/main" noGrp="1"/>
          </p:cNvSpPr>
          <p:nvPr/>
        </p:nvSpPr>
        <p:spPr>
          <a:xfrm xmlns:a="http://schemas.openxmlformats.org/drawingml/2006/main">
            <a:off x="7905750" y="47529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Vitest matrix + headed Playwright flow</a:t>
            </a:r>
          </a:p>
        </p:txBody>
      </p:sp>
      <p:sp>
        <p:nvSpPr>
          <p:cNvPr id="28" name="build-team-label">
            <a:extLst xmlns:a="http://schemas.openxmlformats.org/drawingml/2006/main">
              <a:ext uri="{FF2B5EF4-FFF2-40B4-BE49-F238E27FC236}">
                <a16:creationId xmlns:a16="http://schemas.microsoft.com/office/drawing/2014/main" id="{F0A2E535-974A-4B01-A92C-59658A35BF6A}"/>
              </a:ext>
            </a:extLst>
          </p:cNvPr>
          <p:cNvSpPr>
            <a:spLocks xmlns:a="http://schemas.openxmlformats.org/drawingml/2006/main" noGrp="1"/>
          </p:cNvSpPr>
          <p:nvPr/>
        </p:nvSpPr>
        <p:spPr>
          <a:xfrm xmlns:a="http://schemas.openxmlformats.org/drawingml/2006/main">
            <a:off x="609600" y="5219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TWO-MEMBER HANDOFF</a:t>
            </a:r>
          </a:p>
        </p:txBody>
      </p:sp>
      <p:sp>
        <p:nvSpPr>
          <p:cNvPr id="29" name="build-bottom-band">
            <a:extLst xmlns:a="http://schemas.openxmlformats.org/drawingml/2006/main">
              <a:ext uri="{FF2B5EF4-FFF2-40B4-BE49-F238E27FC236}">
                <a16:creationId xmlns:a16="http://schemas.microsoft.com/office/drawing/2014/main" id="{6741965F-FCF2-492B-BACF-72586E9D8775}"/>
              </a:ext>
            </a:extLst>
          </p:cNvPr>
          <p:cNvSpPr>
            <a:spLocks xmlns:a="http://schemas.openxmlformats.org/drawingml/2006/main" noGrp="1"/>
          </p:cNvSpPr>
          <p:nvPr/>
        </p:nvSpPr>
        <p:spPr>
          <a:xfrm xmlns:a="http://schemas.openxmlformats.org/drawingml/2006/main">
            <a:off x="609600" y="5429250"/>
            <a:ext cx="10972800" cy="609600"/>
          </a:xfrm>
          <a:prstGeom xmlns:a="http://schemas.openxmlformats.org/drawingml/2006/main" prst="roundRect">
            <a:avLst>
              <a:gd name="adj" fmla="val 18750"/>
            </a:avLst>
          </a:prstGeom>
          <a:solidFill xmlns:a="http://schemas.openxmlformats.org/drawingml/2006/main">
            <a:srgbClr val="071429"/>
          </a:solidFill>
          <a:ln xmlns:a="http://schemas.openxmlformats.org/drawingml/2006/main" w="9525">
            <a:solidFill>
              <a:srgbClr val="17345B"/>
            </a:solidFill>
            <a:prstDash val="solid"/>
          </a:ln>
        </p:spPr>
      </p:sp>
      <p:sp>
        <p:nvSpPr>
          <p:cNvPr id="30" name="build-member-one">
            <a:extLst xmlns:a="http://schemas.openxmlformats.org/drawingml/2006/main">
              <a:ext uri="{FF2B5EF4-FFF2-40B4-BE49-F238E27FC236}">
                <a16:creationId xmlns:a16="http://schemas.microsoft.com/office/drawing/2014/main" id="{F915ADC9-617F-448E-B893-72F1A8A80023}"/>
              </a:ext>
            </a:extLst>
          </p:cNvPr>
          <p:cNvSpPr>
            <a:spLocks xmlns:a="http://schemas.openxmlformats.org/drawingml/2006/main" noGrp="1"/>
          </p:cNvSpPr>
          <p:nvPr/>
        </p:nvSpPr>
        <p:spPr>
          <a:xfrm xmlns:a="http://schemas.openxmlformats.org/drawingml/2006/main">
            <a:off x="838200" y="55626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MEMBER 1</a:t>
            </a:r>
          </a:p>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Engine, API, rules, test matrix</a:t>
            </a:r>
          </a:p>
        </p:txBody>
      </p:sp>
      <p:sp>
        <p:nvSpPr>
          <p:cNvPr id="31" name="build-member-two">
            <a:extLst xmlns:a="http://schemas.openxmlformats.org/drawingml/2006/main">
              <a:ext uri="{FF2B5EF4-FFF2-40B4-BE49-F238E27FC236}">
                <a16:creationId xmlns:a16="http://schemas.microsoft.com/office/drawing/2014/main" id="{11648936-4A31-4E51-AA25-A54AE8182442}"/>
              </a:ext>
            </a:extLst>
          </p:cNvPr>
          <p:cNvSpPr>
            <a:spLocks xmlns:a="http://schemas.openxmlformats.org/drawingml/2006/main" noGrp="1"/>
          </p:cNvSpPr>
          <p:nvPr/>
        </p:nvSpPr>
        <p:spPr>
          <a:xfrm xmlns:a="http://schemas.openxmlformats.org/drawingml/2006/main">
            <a:off x="4095750" y="55626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MEMBER 2</a:t>
            </a:r>
          </a:p>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UI, graph, auth, demo flow</a:t>
            </a:r>
          </a:p>
        </p:txBody>
      </p:sp>
      <p:sp>
        <p:nvSpPr>
          <p:cNvPr id="32" name="build-shared-handoff">
            <a:extLst xmlns:a="http://schemas.openxmlformats.org/drawingml/2006/main">
              <a:ext uri="{FF2B5EF4-FFF2-40B4-BE49-F238E27FC236}">
                <a16:creationId xmlns:a16="http://schemas.microsoft.com/office/drawing/2014/main" id="{E685A43D-F818-4792-84F4-4922A5030D46}"/>
              </a:ext>
            </a:extLst>
          </p:cNvPr>
          <p:cNvSpPr>
            <a:spLocks xmlns:a="http://schemas.openxmlformats.org/drawingml/2006/main" noGrp="1"/>
          </p:cNvSpPr>
          <p:nvPr/>
        </p:nvSpPr>
        <p:spPr>
          <a:xfrm xmlns:a="http://schemas.openxmlformats.org/drawingml/2006/main">
            <a:off x="7353300" y="556260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63E0C5"/>
                </a:solidFill>
                <a:latin typeface="Helvetica Neue"/>
                <a:ea typeface="Helvetica Neue"/>
                <a:cs typeface="Helvetica Neue"/>
              </a:defRPr>
            </a:pPr>
            <a:r>
              <a:rPr sz="1050" b="1" i="0">
                <a:solidFill>
                  <a:srgbClr val="63E0C5"/>
                </a:solidFill>
                <a:latin typeface="Helvetica Neue"/>
                <a:ea typeface="Helvetica Neue"/>
                <a:cs typeface="Helvetica Neue"/>
              </a:rPr>
              <a:t>SHARED</a:t>
            </a:r>
          </a:p>
          <a:p xmlns:a="http://schemas.openxmlformats.org/drawingml/2006/main">
            <a:pPr algn="l">
              <a:lnSpc>
                <a:spcPct val="118000"/>
              </a:lnSpc>
              <a:buNone/>
              <a:defRPr sz="1050" b="1" i="0">
                <a:solidFill>
                  <a:srgbClr val="63E0C5"/>
                </a:solidFill>
                <a:latin typeface="Helvetica Neue"/>
                <a:ea typeface="Helvetica Neue"/>
                <a:cs typeface="Helvetica Neue"/>
              </a:defRPr>
            </a:pPr>
            <a:r>
              <a:rPr sz="1050" b="1" i="0">
                <a:solidFill>
                  <a:srgbClr val="63E0C5"/>
                </a:solidFill>
                <a:latin typeface="Helvetica Neue"/>
                <a:ea typeface="Helvetica Neue"/>
                <a:cs typeface="Helvetica Neue"/>
              </a:rPr>
              <a:t>Browser QA, pitch, Vercel setup</a:t>
            </a:r>
          </a:p>
        </p:txBody>
      </p:sp>
      <p:sp>
        <p:nvSpPr>
          <p:cNvPr id="33" name="footer-rule-10">
            <a:extLst xmlns:a="http://schemas.openxmlformats.org/drawingml/2006/main">
              <a:ext uri="{FF2B5EF4-FFF2-40B4-BE49-F238E27FC236}">
                <a16:creationId xmlns:a16="http://schemas.microsoft.com/office/drawing/2014/main" id="{61609A82-A235-48D2-8B1D-9FEAE18C870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4" name="footer-brand-10">
            <a:extLst xmlns:a="http://schemas.openxmlformats.org/drawingml/2006/main">
              <a:ext uri="{FF2B5EF4-FFF2-40B4-BE49-F238E27FC236}">
                <a16:creationId xmlns:a16="http://schemas.microsoft.com/office/drawing/2014/main" id="{35EAE501-D74F-46EF-AFC1-8CF5A6A3FF4D}"/>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35" name="footer-page-10">
            <a:extLst xmlns:a="http://schemas.openxmlformats.org/drawingml/2006/main">
              <a:ext uri="{FF2B5EF4-FFF2-40B4-BE49-F238E27FC236}">
                <a16:creationId xmlns:a16="http://schemas.microsoft.com/office/drawing/2014/main" id="{16D82BBD-EBCC-41A1-A306-97FF72FA5EB4}"/>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10 / 13</a:t>
            </a:r>
          </a:p>
        </p:txBody>
      </p:sp>
    </p:spTree>
    <p:extLst>
      <p:ext uri="{BB962C8B-B14F-4D97-AF65-F5344CB8AC3E}">
        <p14:creationId xmlns:p14="http://schemas.microsoft.com/office/powerpoint/2010/main" val="800823719"/>
      </p:ext>
    </p:extLst>
  </p:cSld>
</p:sld>
</file>

<file path=ppt/slides/slide11.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51" name="data-kicker">
            <a:extLst xmlns:a="http://schemas.openxmlformats.org/drawingml/2006/main">
              <a:ext uri="{FF2B5EF4-FFF2-40B4-BE49-F238E27FC236}">
                <a16:creationId xmlns:a16="http://schemas.microsoft.com/office/drawing/2014/main" id="{F8F1706B-EC26-4925-9FE8-35C3C2A0923E}"/>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DATA AND ACCESS</a:t>
            </a:r>
          </a:p>
        </p:txBody>
      </p:sp>
      <p:sp>
        <p:nvSpPr>
          <p:cNvPr id="2" name="data-title">
            <a:extLst xmlns:a="http://schemas.openxmlformats.org/drawingml/2006/main">
              <a:ext uri="{FF2B5EF4-FFF2-40B4-BE49-F238E27FC236}">
                <a16:creationId xmlns:a16="http://schemas.microsoft.com/office/drawing/2014/main" id="{1CA7ED06-44B0-49D2-B0AB-A7C1E576158E}"/>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The prototype has a clear data contract</a:t>
            </a:r>
          </a:p>
        </p:txBody>
      </p:sp>
      <p:sp>
        <p:nvSpPr>
          <p:cNvPr id="3" name="data-subtitle">
            <a:extLst xmlns:a="http://schemas.openxmlformats.org/drawingml/2006/main">
              <a:ext uri="{FF2B5EF4-FFF2-40B4-BE49-F238E27FC236}">
                <a16:creationId xmlns:a16="http://schemas.microsoft.com/office/drawing/2014/main" id="{137CEA52-8953-40A6-B510-83AF3F63EBB4}"/>
              </a:ext>
            </a:extLst>
          </p:cNvPr>
          <p:cNvSpPr>
            <a:spLocks xmlns:a="http://schemas.openxmlformats.org/drawingml/2006/main" noGrp="1"/>
          </p:cNvSpPr>
          <p:nvPr/>
        </p:nvSpPr>
        <p:spPr>
          <a:xfrm xmlns:a="http://schemas.openxmlformats.org/drawingml/2006/main">
            <a:off x="628650" y="1485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Strict intake protects the reasoning layer. Auth and row-level security protect saved cases when configured.</a:t>
            </a:r>
          </a:p>
        </p:txBody>
      </p:sp>
      <p:sp>
        <p:nvSpPr>
          <p:cNvPr id="4" name="data-rule">
            <a:extLst xmlns:a="http://schemas.openxmlformats.org/drawingml/2006/main">
              <a:ext uri="{FF2B5EF4-FFF2-40B4-BE49-F238E27FC236}">
                <a16:creationId xmlns:a16="http://schemas.microsoft.com/office/drawing/2014/main" id="{576635E8-C2C8-46D2-84FF-5D16C99B8293}"/>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data-contract">
            <a:extLst xmlns:a="http://schemas.openxmlformats.org/drawingml/2006/main">
              <a:ext uri="{FF2B5EF4-FFF2-40B4-BE49-F238E27FC236}">
                <a16:creationId xmlns:a16="http://schemas.microsoft.com/office/drawing/2014/main" id="{8EF99424-EBCA-429D-999F-4CB057892F5A}"/>
              </a:ext>
            </a:extLst>
          </p:cNvPr>
          <p:cNvSpPr>
            <a:spLocks xmlns:a="http://schemas.openxmlformats.org/drawingml/2006/main" noGrp="1"/>
          </p:cNvSpPr>
          <p:nvPr/>
        </p:nvSpPr>
        <p:spPr>
          <a:xfrm xmlns:a="http://schemas.openxmlformats.org/drawingml/2006/main">
            <a:off x="609600" y="2438400"/>
            <a:ext cx="4953000" cy="2971800"/>
          </a:xfrm>
          <a:prstGeom xmlns:a="http://schemas.openxmlformats.org/drawingml/2006/main" prst="roundRect">
            <a:avLst>
              <a:gd name="adj" fmla="val 5769"/>
            </a:avLst>
          </a:prstGeom>
          <a:solidFill xmlns:a="http://schemas.openxmlformats.org/drawingml/2006/main">
            <a:srgbClr val="0B1D38"/>
          </a:solidFill>
          <a:ln xmlns:a="http://schemas.openxmlformats.org/drawingml/2006/main" w="9525">
            <a:solidFill>
              <a:srgbClr val="244B77"/>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6" name="data-contract-label">
            <a:extLst xmlns:a="http://schemas.openxmlformats.org/drawingml/2006/main">
              <a:ext uri="{FF2B5EF4-FFF2-40B4-BE49-F238E27FC236}">
                <a16:creationId xmlns:a16="http://schemas.microsoft.com/office/drawing/2014/main" id="{95B54869-7252-4B0E-8B06-731C3974D7BD}"/>
              </a:ext>
            </a:extLst>
          </p:cNvPr>
          <p:cNvSpPr>
            <a:spLocks xmlns:a="http://schemas.openxmlformats.org/drawingml/2006/main" noGrp="1"/>
          </p:cNvSpPr>
          <p:nvPr/>
        </p:nvSpPr>
        <p:spPr>
          <a:xfrm xmlns:a="http://schemas.openxmlformats.org/drawingml/2006/main">
            <a:off x="857250" y="26670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5D8EFF"/>
                </a:solidFill>
                <a:latin typeface="Helvetica Neue"/>
                <a:ea typeface="Helvetica Neue"/>
                <a:cs typeface="Helvetica Neue"/>
              </a:defRPr>
            </a:pPr>
            <a:r>
              <a:rPr sz="825" b="1" i="0">
                <a:solidFill>
                  <a:srgbClr val="5D8EFF"/>
                </a:solidFill>
                <a:latin typeface="Helvetica Neue"/>
                <a:ea typeface="Helvetica Neue"/>
                <a:cs typeface="Helvetica Neue"/>
              </a:rPr>
              <a:t>INPUT CONTRACT</a:t>
            </a:r>
          </a:p>
        </p:txBody>
      </p:sp>
      <p:sp>
        <p:nvSpPr>
          <p:cNvPr id="7" name="data-contract-title">
            <a:extLst xmlns:a="http://schemas.openxmlformats.org/drawingml/2006/main">
              <a:ext uri="{FF2B5EF4-FFF2-40B4-BE49-F238E27FC236}">
                <a16:creationId xmlns:a16="http://schemas.microsoft.com/office/drawing/2014/main" id="{AAEB8A20-507B-47B9-851C-971DB1C85CD6}"/>
              </a:ext>
            </a:extLst>
          </p:cNvPr>
          <p:cNvSpPr>
            <a:spLocks xmlns:a="http://schemas.openxmlformats.org/drawingml/2006/main" noGrp="1"/>
          </p:cNvSpPr>
          <p:nvPr/>
        </p:nvSpPr>
        <p:spPr>
          <a:xfrm xmlns:a="http://schemas.openxmlformats.org/drawingml/2006/main">
            <a:off x="857250" y="2990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Safe enough to reason over</a:t>
            </a:r>
          </a:p>
        </p:txBody>
      </p:sp>
      <p:sp>
        <p:nvSpPr>
          <p:cNvPr id="8" name="data-contract-limit">
            <a:extLst xmlns:a="http://schemas.openxmlformats.org/drawingml/2006/main">
              <a:ext uri="{FF2B5EF4-FFF2-40B4-BE49-F238E27FC236}">
                <a16:creationId xmlns:a16="http://schemas.microsoft.com/office/drawing/2014/main" id="{32BBE4DD-60C4-411C-8C15-3A00BA3700DE}"/>
              </a:ext>
            </a:extLst>
          </p:cNvPr>
          <p:cNvSpPr>
            <a:spLocks xmlns:a="http://schemas.openxmlformats.org/drawingml/2006/main" noGrp="1"/>
          </p:cNvSpPr>
          <p:nvPr/>
        </p:nvSpPr>
        <p:spPr>
          <a:xfrm xmlns:a="http://schemas.openxmlformats.org/drawingml/2006/main">
            <a:off x="857250" y="34290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63E0C5"/>
                </a:solidFill>
                <a:latin typeface="Helvetica Neue"/>
                <a:ea typeface="Helvetica Neue"/>
                <a:cs typeface="Helvetica Neue"/>
              </a:defRPr>
            </a:pPr>
            <a:r>
              <a:rPr sz="1875" b="1" i="0">
                <a:solidFill>
                  <a:srgbClr val="63E0C5"/>
                </a:solidFill>
                <a:latin typeface="Helvetica Neue"/>
                <a:ea typeface="Helvetica Neue"/>
                <a:cs typeface="Helvetica Neue"/>
              </a:rPr>
              <a:t>2 MiB  /  2,000 rows</a:t>
            </a:r>
          </a:p>
        </p:txBody>
      </p:sp>
      <p:sp>
        <p:nvSpPr>
          <p:cNvPr id="9" name="data-contract-rule-1">
            <a:extLst xmlns:a="http://schemas.openxmlformats.org/drawingml/2006/main">
              <a:ext uri="{FF2B5EF4-FFF2-40B4-BE49-F238E27FC236}">
                <a16:creationId xmlns:a16="http://schemas.microsoft.com/office/drawing/2014/main" id="{E733F6EA-B167-43A9-872D-121C5A336496}"/>
              </a:ext>
            </a:extLst>
          </p:cNvPr>
          <p:cNvSpPr>
            <a:spLocks xmlns:a="http://schemas.openxmlformats.org/drawingml/2006/main" noGrp="1"/>
          </p:cNvSpPr>
          <p:nvPr/>
        </p:nvSpPr>
        <p:spPr>
          <a:xfrm xmlns:a="http://schemas.openxmlformats.org/drawingml/2006/main">
            <a:off x="857250" y="38957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0" name="data-contract-heading-1">
            <a:extLst xmlns:a="http://schemas.openxmlformats.org/drawingml/2006/main">
              <a:ext uri="{FF2B5EF4-FFF2-40B4-BE49-F238E27FC236}">
                <a16:creationId xmlns:a16="http://schemas.microsoft.com/office/drawing/2014/main" id="{995F5068-E75D-40DC-9687-8F6F28B2C3AD}"/>
              </a:ext>
            </a:extLst>
          </p:cNvPr>
          <p:cNvSpPr>
            <a:spLocks xmlns:a="http://schemas.openxmlformats.org/drawingml/2006/main" noGrp="1"/>
          </p:cNvSpPr>
          <p:nvPr/>
        </p:nvSpPr>
        <p:spPr>
          <a:xfrm xmlns:a="http://schemas.openxmlformats.org/drawingml/2006/main">
            <a:off x="857250" y="39624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INR only</a:t>
            </a:r>
          </a:p>
        </p:txBody>
      </p:sp>
      <p:sp>
        <p:nvSpPr>
          <p:cNvPr id="11" name="data-contract-body-1">
            <a:extLst xmlns:a="http://schemas.openxmlformats.org/drawingml/2006/main">
              <a:ext uri="{FF2B5EF4-FFF2-40B4-BE49-F238E27FC236}">
                <a16:creationId xmlns:a16="http://schemas.microsoft.com/office/drawing/2014/main" id="{8B9EB314-4D7F-4AB2-8326-10E1EF1761CD}"/>
              </a:ext>
            </a:extLst>
          </p:cNvPr>
          <p:cNvSpPr>
            <a:spLocks xmlns:a="http://schemas.openxmlformats.org/drawingml/2006/main" noGrp="1"/>
          </p:cNvSpPr>
          <p:nvPr/>
        </p:nvSpPr>
        <p:spPr>
          <a:xfrm xmlns:a="http://schemas.openxmlformats.org/drawingml/2006/main">
            <a:off x="2057400" y="39624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reject mixed currencies</a:t>
            </a:r>
          </a:p>
        </p:txBody>
      </p:sp>
      <p:sp>
        <p:nvSpPr>
          <p:cNvPr id="12" name="data-contract-rule-2">
            <a:extLst xmlns:a="http://schemas.openxmlformats.org/drawingml/2006/main">
              <a:ext uri="{FF2B5EF4-FFF2-40B4-BE49-F238E27FC236}">
                <a16:creationId xmlns:a16="http://schemas.microsoft.com/office/drawing/2014/main" id="{7DC8FD95-389F-4316-8270-880E7F4DB1DA}"/>
              </a:ext>
            </a:extLst>
          </p:cNvPr>
          <p:cNvSpPr>
            <a:spLocks xmlns:a="http://schemas.openxmlformats.org/drawingml/2006/main" noGrp="1"/>
          </p:cNvSpPr>
          <p:nvPr/>
        </p:nvSpPr>
        <p:spPr>
          <a:xfrm xmlns:a="http://schemas.openxmlformats.org/drawingml/2006/main">
            <a:off x="857250" y="42005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3" name="data-contract-heading-2">
            <a:extLst xmlns:a="http://schemas.openxmlformats.org/drawingml/2006/main">
              <a:ext uri="{FF2B5EF4-FFF2-40B4-BE49-F238E27FC236}">
                <a16:creationId xmlns:a16="http://schemas.microsoft.com/office/drawing/2014/main" id="{87C7CE03-4C63-4D31-A7E1-157CE2E3D64D}"/>
              </a:ext>
            </a:extLst>
          </p:cNvPr>
          <p:cNvSpPr>
            <a:spLocks xmlns:a="http://schemas.openxmlformats.org/drawingml/2006/main" noGrp="1"/>
          </p:cNvSpPr>
          <p:nvPr/>
        </p:nvSpPr>
        <p:spPr>
          <a:xfrm xmlns:a="http://schemas.openxmlformats.org/drawingml/2006/main">
            <a:off x="857250" y="42672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Explicit time</a:t>
            </a:r>
          </a:p>
        </p:txBody>
      </p:sp>
      <p:sp>
        <p:nvSpPr>
          <p:cNvPr id="14" name="data-contract-body-2">
            <a:extLst xmlns:a="http://schemas.openxmlformats.org/drawingml/2006/main">
              <a:ext uri="{FF2B5EF4-FFF2-40B4-BE49-F238E27FC236}">
                <a16:creationId xmlns:a16="http://schemas.microsoft.com/office/drawing/2014/main" id="{53D798AB-EC11-4B19-BA3F-1E40F4504494}"/>
              </a:ext>
            </a:extLst>
          </p:cNvPr>
          <p:cNvSpPr>
            <a:spLocks xmlns:a="http://schemas.openxmlformats.org/drawingml/2006/main" noGrp="1"/>
          </p:cNvSpPr>
          <p:nvPr/>
        </p:nvSpPr>
        <p:spPr>
          <a:xfrm xmlns:a="http://schemas.openxmlformats.org/drawingml/2006/main">
            <a:off x="2057400" y="42672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ISO 8601 with offset</a:t>
            </a:r>
          </a:p>
        </p:txBody>
      </p:sp>
      <p:sp>
        <p:nvSpPr>
          <p:cNvPr id="15" name="data-contract-rule-3">
            <a:extLst xmlns:a="http://schemas.openxmlformats.org/drawingml/2006/main">
              <a:ext uri="{FF2B5EF4-FFF2-40B4-BE49-F238E27FC236}">
                <a16:creationId xmlns:a16="http://schemas.microsoft.com/office/drawing/2014/main" id="{491B6312-6CF1-41F4-87DE-1E8381D62B66}"/>
              </a:ext>
            </a:extLst>
          </p:cNvPr>
          <p:cNvSpPr>
            <a:spLocks xmlns:a="http://schemas.openxmlformats.org/drawingml/2006/main" noGrp="1"/>
          </p:cNvSpPr>
          <p:nvPr/>
        </p:nvSpPr>
        <p:spPr>
          <a:xfrm xmlns:a="http://schemas.openxmlformats.org/drawingml/2006/main">
            <a:off x="857250" y="45053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6" name="data-contract-heading-3">
            <a:extLst xmlns:a="http://schemas.openxmlformats.org/drawingml/2006/main">
              <a:ext uri="{FF2B5EF4-FFF2-40B4-BE49-F238E27FC236}">
                <a16:creationId xmlns:a16="http://schemas.microsoft.com/office/drawing/2014/main" id="{77AA77A2-516E-4E79-BE06-8F55421C4663}"/>
              </a:ext>
            </a:extLst>
          </p:cNvPr>
          <p:cNvSpPr>
            <a:spLocks xmlns:a="http://schemas.openxmlformats.org/drawingml/2006/main" noGrp="1"/>
          </p:cNvSpPr>
          <p:nvPr/>
        </p:nvSpPr>
        <p:spPr>
          <a:xfrm xmlns:a="http://schemas.openxmlformats.org/drawingml/2006/main">
            <a:off x="857250" y="45720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Exact amounts</a:t>
            </a:r>
          </a:p>
        </p:txBody>
      </p:sp>
      <p:sp>
        <p:nvSpPr>
          <p:cNvPr id="17" name="data-contract-body-3">
            <a:extLst xmlns:a="http://schemas.openxmlformats.org/drawingml/2006/main">
              <a:ext uri="{FF2B5EF4-FFF2-40B4-BE49-F238E27FC236}">
                <a16:creationId xmlns:a16="http://schemas.microsoft.com/office/drawing/2014/main" id="{7CE2B74F-3F28-4854-9DFF-48D96E4C18B9}"/>
              </a:ext>
            </a:extLst>
          </p:cNvPr>
          <p:cNvSpPr>
            <a:spLocks xmlns:a="http://schemas.openxmlformats.org/drawingml/2006/main" noGrp="1"/>
          </p:cNvSpPr>
          <p:nvPr/>
        </p:nvSpPr>
        <p:spPr>
          <a:xfrm xmlns:a="http://schemas.openxmlformats.org/drawingml/2006/main">
            <a:off x="2057400" y="45720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rupees to integer paise</a:t>
            </a:r>
          </a:p>
        </p:txBody>
      </p:sp>
      <p:sp>
        <p:nvSpPr>
          <p:cNvPr id="18" name="data-contract-rule-4">
            <a:extLst xmlns:a="http://schemas.openxmlformats.org/drawingml/2006/main">
              <a:ext uri="{FF2B5EF4-FFF2-40B4-BE49-F238E27FC236}">
                <a16:creationId xmlns:a16="http://schemas.microsoft.com/office/drawing/2014/main" id="{C92630F1-66BA-44D2-A30D-C217E1F66CAB}"/>
              </a:ext>
            </a:extLst>
          </p:cNvPr>
          <p:cNvSpPr>
            <a:spLocks xmlns:a="http://schemas.openxmlformats.org/drawingml/2006/main" noGrp="1"/>
          </p:cNvSpPr>
          <p:nvPr/>
        </p:nvSpPr>
        <p:spPr>
          <a:xfrm xmlns:a="http://schemas.openxmlformats.org/drawingml/2006/main">
            <a:off x="857250" y="48101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9" name="data-contract-heading-4">
            <a:extLst xmlns:a="http://schemas.openxmlformats.org/drawingml/2006/main">
              <a:ext uri="{FF2B5EF4-FFF2-40B4-BE49-F238E27FC236}">
                <a16:creationId xmlns:a16="http://schemas.microsoft.com/office/drawing/2014/main" id="{AFD0CC3E-9360-43D7-9208-32449B3E7E3D}"/>
              </a:ext>
            </a:extLst>
          </p:cNvPr>
          <p:cNvSpPr>
            <a:spLocks xmlns:a="http://schemas.openxmlformats.org/drawingml/2006/main" noGrp="1"/>
          </p:cNvSpPr>
          <p:nvPr/>
        </p:nvSpPr>
        <p:spPr>
          <a:xfrm xmlns:a="http://schemas.openxmlformats.org/drawingml/2006/main">
            <a:off x="857250" y="48768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All or nothing</a:t>
            </a:r>
          </a:p>
        </p:txBody>
      </p:sp>
      <p:sp>
        <p:nvSpPr>
          <p:cNvPr id="20" name="data-contract-body-4">
            <a:extLst xmlns:a="http://schemas.openxmlformats.org/drawingml/2006/main">
              <a:ext uri="{FF2B5EF4-FFF2-40B4-BE49-F238E27FC236}">
                <a16:creationId xmlns:a16="http://schemas.microsoft.com/office/drawing/2014/main" id="{93A5ABC4-5282-4BFF-8F0D-90269F513A4C}"/>
              </a:ext>
            </a:extLst>
          </p:cNvPr>
          <p:cNvSpPr>
            <a:spLocks xmlns:a="http://schemas.openxmlformats.org/drawingml/2006/main" noGrp="1"/>
          </p:cNvSpPr>
          <p:nvPr/>
        </p:nvSpPr>
        <p:spPr>
          <a:xfrm xmlns:a="http://schemas.openxmlformats.org/drawingml/2006/main">
            <a:off x="2057400" y="48768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invalid import cannot replace the active dataset</a:t>
            </a:r>
          </a:p>
        </p:txBody>
      </p:sp>
      <p:sp>
        <p:nvSpPr>
          <p:cNvPr id="21" name="data-path-label">
            <a:extLst xmlns:a="http://schemas.openxmlformats.org/drawingml/2006/main">
              <a:ext uri="{FF2B5EF4-FFF2-40B4-BE49-F238E27FC236}">
                <a16:creationId xmlns:a16="http://schemas.microsoft.com/office/drawing/2014/main" id="{EB9E251A-1D4C-47DA-A6B6-8A934A0DD458}"/>
              </a:ext>
            </a:extLst>
          </p:cNvPr>
          <p:cNvSpPr>
            <a:spLocks xmlns:a="http://schemas.openxmlformats.org/drawingml/2006/main" noGrp="1"/>
          </p:cNvSpPr>
          <p:nvPr/>
        </p:nvSpPr>
        <p:spPr>
          <a:xfrm xmlns:a="http://schemas.openxmlformats.org/drawingml/2006/main">
            <a:off x="6191250" y="24384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PRODUCTION PATH</a:t>
            </a:r>
          </a:p>
        </p:txBody>
      </p:sp>
      <p:sp>
        <p:nvSpPr>
          <p:cNvPr id="22" name="data-browser">
            <a:extLst xmlns:a="http://schemas.openxmlformats.org/drawingml/2006/main">
              <a:ext uri="{FF2B5EF4-FFF2-40B4-BE49-F238E27FC236}">
                <a16:creationId xmlns:a16="http://schemas.microsoft.com/office/drawing/2014/main" id="{FE5B82C0-ACC6-4BA4-877A-FFD1549EF6EF}"/>
              </a:ext>
            </a:extLst>
          </p:cNvPr>
          <p:cNvSpPr>
            <a:spLocks xmlns:a="http://schemas.openxmlformats.org/drawingml/2006/main" noGrp="1"/>
          </p:cNvSpPr>
          <p:nvPr/>
        </p:nvSpPr>
        <p:spPr>
          <a:xfrm xmlns:a="http://schemas.openxmlformats.org/drawingml/2006/main">
            <a:off x="6191250" y="3009900"/>
            <a:ext cx="1524000" cy="800100"/>
          </a:xfrm>
          <a:prstGeom xmlns:a="http://schemas.openxmlformats.org/drawingml/2006/main" prst="roundRect">
            <a:avLst>
              <a:gd name="adj" fmla="val 16667"/>
            </a:avLst>
          </a:prstGeom>
          <a:solidFill xmlns:a="http://schemas.openxmlformats.org/drawingml/2006/main">
            <a:srgbClr val="153251"/>
          </a:solidFill>
          <a:ln xmlns:a="http://schemas.openxmlformats.org/drawingml/2006/main" w="9525">
            <a:solidFill>
              <a:srgbClr val="31537D"/>
            </a:solidFill>
            <a:prstDash val="solid"/>
          </a:ln>
        </p:spPr>
      </p:sp>
      <p:sp>
        <p:nvSpPr>
          <p:cNvPr id="23" name="data-browser-title">
            <a:extLst xmlns:a="http://schemas.openxmlformats.org/drawingml/2006/main">
              <a:ext uri="{FF2B5EF4-FFF2-40B4-BE49-F238E27FC236}">
                <a16:creationId xmlns:a16="http://schemas.microsoft.com/office/drawing/2014/main" id="{A48EF136-6591-4B5E-9142-7F918A500703}"/>
              </a:ext>
            </a:extLst>
          </p:cNvPr>
          <p:cNvSpPr>
            <a:spLocks xmlns:a="http://schemas.openxmlformats.org/drawingml/2006/main" noGrp="1"/>
          </p:cNvSpPr>
          <p:nvPr/>
        </p:nvSpPr>
        <p:spPr>
          <a:xfrm xmlns:a="http://schemas.openxmlformats.org/drawingml/2006/main">
            <a:off x="6324600" y="31242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Browser</a:t>
            </a:r>
          </a:p>
        </p:txBody>
      </p:sp>
      <p:sp>
        <p:nvSpPr>
          <p:cNvPr id="24" name="data-browser-body">
            <a:extLst xmlns:a="http://schemas.openxmlformats.org/drawingml/2006/main">
              <a:ext uri="{FF2B5EF4-FFF2-40B4-BE49-F238E27FC236}">
                <a16:creationId xmlns:a16="http://schemas.microsoft.com/office/drawing/2014/main" id="{382B8CA1-F96E-41C4-9D40-1379A76F6BFC}"/>
              </a:ext>
            </a:extLst>
          </p:cNvPr>
          <p:cNvSpPr>
            <a:spLocks xmlns:a="http://schemas.openxmlformats.org/drawingml/2006/main" noGrp="1"/>
          </p:cNvSpPr>
          <p:nvPr/>
        </p:nvSpPr>
        <p:spPr>
          <a:xfrm xmlns:a="http://schemas.openxmlformats.org/drawingml/2006/main">
            <a:off x="6324600" y="339090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3C2D8"/>
                </a:solidFill>
                <a:latin typeface="Helvetica Neue"/>
                <a:ea typeface="Helvetica Neue"/>
                <a:cs typeface="Helvetica Neue"/>
              </a:defRPr>
            </a:pPr>
            <a:r>
              <a:rPr sz="900" b="0" i="0">
                <a:solidFill>
                  <a:srgbClr val="B3C2D8"/>
                </a:solidFill>
                <a:latin typeface="Helvetica Neue"/>
                <a:ea typeface="Helvetica Neue"/>
                <a:cs typeface="Helvetica Neue"/>
              </a:rPr>
              <a:t>demo or upload</a:t>
            </a:r>
          </a:p>
        </p:txBody>
      </p:sp>
      <p:sp>
        <p:nvSpPr>
          <p:cNvPr id="25" name="data-vercel">
            <a:extLst xmlns:a="http://schemas.openxmlformats.org/drawingml/2006/main">
              <a:ext uri="{FF2B5EF4-FFF2-40B4-BE49-F238E27FC236}">
                <a16:creationId xmlns:a16="http://schemas.microsoft.com/office/drawing/2014/main" id="{F7BF01DC-9A4E-438F-8D04-A8614CC0C5E8}"/>
              </a:ext>
            </a:extLst>
          </p:cNvPr>
          <p:cNvSpPr>
            <a:spLocks xmlns:a="http://schemas.openxmlformats.org/drawingml/2006/main" noGrp="1"/>
          </p:cNvSpPr>
          <p:nvPr/>
        </p:nvSpPr>
        <p:spPr>
          <a:xfrm xmlns:a="http://schemas.openxmlformats.org/drawingml/2006/main">
            <a:off x="8172450" y="3009900"/>
            <a:ext cx="1524000" cy="800100"/>
          </a:xfrm>
          <a:prstGeom xmlns:a="http://schemas.openxmlformats.org/drawingml/2006/main" prst="roundRect">
            <a:avLst>
              <a:gd name="adj" fmla="val 16667"/>
            </a:avLst>
          </a:prstGeom>
          <a:solidFill xmlns:a="http://schemas.openxmlformats.org/drawingml/2006/main">
            <a:srgbClr val="173A4A"/>
          </a:solidFill>
          <a:ln xmlns:a="http://schemas.openxmlformats.org/drawingml/2006/main" w="9525">
            <a:solidFill>
              <a:srgbClr val="3B8F84"/>
            </a:solidFill>
            <a:prstDash val="solid"/>
          </a:ln>
        </p:spPr>
      </p:sp>
      <p:sp>
        <p:nvSpPr>
          <p:cNvPr id="26" name="data-vercel-title">
            <a:extLst xmlns:a="http://schemas.openxmlformats.org/drawingml/2006/main">
              <a:ext uri="{FF2B5EF4-FFF2-40B4-BE49-F238E27FC236}">
                <a16:creationId xmlns:a16="http://schemas.microsoft.com/office/drawing/2014/main" id="{3255210B-92D1-4292-9C80-C3B3CE021125}"/>
              </a:ext>
            </a:extLst>
          </p:cNvPr>
          <p:cNvSpPr>
            <a:spLocks xmlns:a="http://schemas.openxmlformats.org/drawingml/2006/main" noGrp="1"/>
          </p:cNvSpPr>
          <p:nvPr/>
        </p:nvSpPr>
        <p:spPr>
          <a:xfrm xmlns:a="http://schemas.openxmlformats.org/drawingml/2006/main">
            <a:off x="8305800" y="31242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63E0C5"/>
                </a:solidFill>
                <a:latin typeface="Helvetica Neue"/>
                <a:ea typeface="Helvetica Neue"/>
                <a:cs typeface="Helvetica Neue"/>
              </a:defRPr>
            </a:pPr>
            <a:r>
              <a:rPr sz="1500" b="1" i="0">
                <a:solidFill>
                  <a:srgbClr val="63E0C5"/>
                </a:solidFill>
                <a:latin typeface="Helvetica Neue"/>
                <a:ea typeface="Helvetica Neue"/>
                <a:cs typeface="Helvetica Neue"/>
              </a:rPr>
              <a:t>Vercel</a:t>
            </a:r>
          </a:p>
        </p:txBody>
      </p:sp>
      <p:sp>
        <p:nvSpPr>
          <p:cNvPr id="27" name="data-vercel-body">
            <a:extLst xmlns:a="http://schemas.openxmlformats.org/drawingml/2006/main">
              <a:ext uri="{FF2B5EF4-FFF2-40B4-BE49-F238E27FC236}">
                <a16:creationId xmlns:a16="http://schemas.microsoft.com/office/drawing/2014/main" id="{1B95535A-96DF-426B-9453-C0785F9E1F40}"/>
              </a:ext>
            </a:extLst>
          </p:cNvPr>
          <p:cNvSpPr>
            <a:spLocks xmlns:a="http://schemas.openxmlformats.org/drawingml/2006/main" noGrp="1"/>
          </p:cNvSpPr>
          <p:nvPr/>
        </p:nvSpPr>
        <p:spPr>
          <a:xfrm xmlns:a="http://schemas.openxmlformats.org/drawingml/2006/main">
            <a:off x="8305800" y="339090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9E8DF"/>
                </a:solidFill>
                <a:latin typeface="Helvetica Neue"/>
                <a:ea typeface="Helvetica Neue"/>
                <a:cs typeface="Helvetica Neue"/>
              </a:defRPr>
            </a:pPr>
            <a:r>
              <a:rPr sz="900" b="0" i="0">
                <a:solidFill>
                  <a:srgbClr val="B9E8DF"/>
                </a:solidFill>
                <a:latin typeface="Helvetica Neue"/>
                <a:ea typeface="Helvetica Neue"/>
                <a:cs typeface="Helvetica Neue"/>
              </a:rPr>
              <a:t>stateless analysis</a:t>
            </a:r>
          </a:p>
        </p:txBody>
      </p:sp>
      <p:sp>
        <p:nvSpPr>
          <p:cNvPr id="28" name="data-supabase">
            <a:extLst xmlns:a="http://schemas.openxmlformats.org/drawingml/2006/main">
              <a:ext uri="{FF2B5EF4-FFF2-40B4-BE49-F238E27FC236}">
                <a16:creationId xmlns:a16="http://schemas.microsoft.com/office/drawing/2014/main" id="{7983B0BE-A819-42BB-BC75-F73C5F796BA6}"/>
              </a:ext>
            </a:extLst>
          </p:cNvPr>
          <p:cNvSpPr>
            <a:spLocks xmlns:a="http://schemas.openxmlformats.org/drawingml/2006/main" noGrp="1"/>
          </p:cNvSpPr>
          <p:nvPr/>
        </p:nvSpPr>
        <p:spPr>
          <a:xfrm xmlns:a="http://schemas.openxmlformats.org/drawingml/2006/main">
            <a:off x="10153650" y="3009900"/>
            <a:ext cx="1428750" cy="800100"/>
          </a:xfrm>
          <a:prstGeom xmlns:a="http://schemas.openxmlformats.org/drawingml/2006/main" prst="roundRect">
            <a:avLst>
              <a:gd name="adj" fmla="val 16667"/>
            </a:avLst>
          </a:prstGeom>
          <a:solidFill xmlns:a="http://schemas.openxmlformats.org/drawingml/2006/main">
            <a:srgbClr val="20354C"/>
          </a:solidFill>
          <a:ln xmlns:a="http://schemas.openxmlformats.org/drawingml/2006/main" w="9525">
            <a:solidFill>
              <a:srgbClr val="5679A7"/>
            </a:solidFill>
            <a:prstDash val="solid"/>
          </a:ln>
        </p:spPr>
      </p:sp>
      <p:sp>
        <p:nvSpPr>
          <p:cNvPr id="29" name="data-supabase-title">
            <a:extLst xmlns:a="http://schemas.openxmlformats.org/drawingml/2006/main">
              <a:ext uri="{FF2B5EF4-FFF2-40B4-BE49-F238E27FC236}">
                <a16:creationId xmlns:a16="http://schemas.microsoft.com/office/drawing/2014/main" id="{714F70C0-7D1D-47C2-8F27-64667673BD17}"/>
              </a:ext>
            </a:extLst>
          </p:cNvPr>
          <p:cNvSpPr>
            <a:spLocks xmlns:a="http://schemas.openxmlformats.org/drawingml/2006/main" noGrp="1"/>
          </p:cNvSpPr>
          <p:nvPr/>
        </p:nvSpPr>
        <p:spPr>
          <a:xfrm xmlns:a="http://schemas.openxmlformats.org/drawingml/2006/main">
            <a:off x="10287000" y="31242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Supabase</a:t>
            </a:r>
          </a:p>
        </p:txBody>
      </p:sp>
      <p:sp>
        <p:nvSpPr>
          <p:cNvPr id="30" name="data-supabase-body">
            <a:extLst xmlns:a="http://schemas.openxmlformats.org/drawingml/2006/main">
              <a:ext uri="{FF2B5EF4-FFF2-40B4-BE49-F238E27FC236}">
                <a16:creationId xmlns:a16="http://schemas.microsoft.com/office/drawing/2014/main" id="{72F989E2-7EDF-4B4F-80E7-DD936C760BC4}"/>
              </a:ext>
            </a:extLst>
          </p:cNvPr>
          <p:cNvSpPr>
            <a:spLocks xmlns:a="http://schemas.openxmlformats.org/drawingml/2006/main" noGrp="1"/>
          </p:cNvSpPr>
          <p:nvPr/>
        </p:nvSpPr>
        <p:spPr>
          <a:xfrm xmlns:a="http://schemas.openxmlformats.org/drawingml/2006/main">
            <a:off x="10287000" y="33909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3C2D8"/>
                </a:solidFill>
                <a:latin typeface="Helvetica Neue"/>
                <a:ea typeface="Helvetica Neue"/>
                <a:cs typeface="Helvetica Neue"/>
              </a:defRPr>
            </a:pPr>
            <a:r>
              <a:rPr sz="900" b="0" i="0">
                <a:solidFill>
                  <a:srgbClr val="B3C2D8"/>
                </a:solidFill>
                <a:latin typeface="Helvetica Neue"/>
                <a:ea typeface="Helvetica Neue"/>
                <a:cs typeface="Helvetica Neue"/>
              </a:rPr>
              <a:t>Auth + RLS</a:t>
            </a:r>
          </a:p>
        </p:txBody>
      </p:sp>
      <p:cxnSp>
        <p:nvCxnSpPr>
          <p:cNvPr id="81" name=""/>
          <p:cNvCxnSpPr>
            <a:stCxn xmlns:a="http://schemas.openxmlformats.org/drawingml/2006/main" id="22" idx="3"/>
            <a:endCxn xmlns:a="http://schemas.openxmlformats.org/drawingml/2006/main" id="25" idx="1"/>
          </p:cNvCxnSpPr>
          <p:nvPr/>
        </p:nvCxnSpPr>
        <p:spPr>
          <a:xfrm xmlns:a="http://schemas.openxmlformats.org/drawingml/2006/main">
            <a:off x="7715250" y="3409950"/>
            <a:ext cx="457200" cy="0"/>
          </a:xfrm>
          <a:prstGeom xmlns:a="http://schemas.openxmlformats.org/drawingml/2006/main" prst="straightConnector1">
            <a:avLst/>
          </a:prstGeom>
          <a:ln xmlns:a="http://schemas.openxmlformats.org/drawingml/2006/main" w="20955">
            <a:solidFill>
              <a:srgbClr val="5D8EFF"/>
            </a:solidFill>
            <a:prstDash val="solid"/>
            <a:tailEnd type="triangle" w="sm" len="sm"/>
          </a:ln>
        </p:spPr>
      </p:cxnSp>
      <p:cxnSp>
        <p:nvCxnSpPr>
          <p:cNvPr id="82" name=""/>
          <p:cNvCxnSpPr>
            <a:stCxn xmlns:a="http://schemas.openxmlformats.org/drawingml/2006/main" id="25" idx="3"/>
            <a:endCxn xmlns:a="http://schemas.openxmlformats.org/drawingml/2006/main" id="28" idx="1"/>
          </p:cNvCxnSpPr>
          <p:nvPr/>
        </p:nvCxnSpPr>
        <p:spPr>
          <a:xfrm xmlns:a="http://schemas.openxmlformats.org/drawingml/2006/main">
            <a:off x="9696450" y="3409950"/>
            <a:ext cx="457200" cy="0"/>
          </a:xfrm>
          <a:prstGeom xmlns:a="http://schemas.openxmlformats.org/drawingml/2006/main" prst="straightConnector1">
            <a:avLst/>
          </a:prstGeom>
          <a:ln xmlns:a="http://schemas.openxmlformats.org/drawingml/2006/main" w="20955">
            <a:solidFill>
              <a:srgbClr val="63E0C5"/>
            </a:solidFill>
            <a:prstDash val="solid"/>
            <a:tailEnd type="triangle" w="sm" len="sm"/>
          </a:ln>
        </p:spPr>
      </p:cxnSp>
      <p:sp>
        <p:nvSpPr>
          <p:cNvPr id="33" name="data-path-copy">
            <a:extLst xmlns:a="http://schemas.openxmlformats.org/drawingml/2006/main">
              <a:ext uri="{FF2B5EF4-FFF2-40B4-BE49-F238E27FC236}">
                <a16:creationId xmlns:a16="http://schemas.microsoft.com/office/drawing/2014/main" id="{7328F7B5-5E73-45C9-927D-59EECE5B51E2}"/>
              </a:ext>
            </a:extLst>
          </p:cNvPr>
          <p:cNvSpPr>
            <a:spLocks xmlns:a="http://schemas.openxmlformats.org/drawingml/2006/main" noGrp="1"/>
          </p:cNvSpPr>
          <p:nvPr/>
        </p:nvSpPr>
        <p:spPr>
          <a:xfrm xmlns:a="http://schemas.openxmlformats.org/drawingml/2006/main">
            <a:off x="6191250" y="415290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Analysis does not require a database. Supabase is the private persistence path for authenticated investigation snapshots.</a:t>
            </a:r>
          </a:p>
        </p:txBody>
      </p:sp>
      <p:sp>
        <p:nvSpPr>
          <p:cNvPr id="34" name="data-guardrail-1">
            <a:extLst xmlns:a="http://schemas.openxmlformats.org/drawingml/2006/main">
              <a:ext uri="{FF2B5EF4-FFF2-40B4-BE49-F238E27FC236}">
                <a16:creationId xmlns:a16="http://schemas.microsoft.com/office/drawing/2014/main" id="{1BEC37B5-4234-4CCB-A664-406D57AB436D}"/>
              </a:ext>
            </a:extLst>
          </p:cNvPr>
          <p:cNvSpPr>
            <a:spLocks xmlns:a="http://schemas.openxmlformats.org/drawingml/2006/main" noGrp="1"/>
          </p:cNvSpPr>
          <p:nvPr/>
        </p:nvSpPr>
        <p:spPr>
          <a:xfrm xmlns:a="http://schemas.openxmlformats.org/drawingml/2006/main">
            <a:off x="61912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35" name="data-guardrail-mark-1">
            <a:extLst xmlns:a="http://schemas.openxmlformats.org/drawingml/2006/main">
              <a:ext uri="{FF2B5EF4-FFF2-40B4-BE49-F238E27FC236}">
                <a16:creationId xmlns:a16="http://schemas.microsoft.com/office/drawing/2014/main" id="{9E4EC25C-0A2D-4CD7-ADF3-555ACDC4D53D}"/>
              </a:ext>
            </a:extLst>
          </p:cNvPr>
          <p:cNvSpPr>
            <a:spLocks xmlns:a="http://schemas.openxmlformats.org/drawingml/2006/main" noGrp="1"/>
          </p:cNvSpPr>
          <p:nvPr/>
        </p:nvSpPr>
        <p:spPr>
          <a:xfrm xmlns:a="http://schemas.openxmlformats.org/drawingml/2006/main">
            <a:off x="63436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5D8EFF"/>
                </a:solidFill>
                <a:latin typeface="Helvetica Neue"/>
                <a:ea typeface="Helvetica Neue"/>
                <a:cs typeface="Helvetica Neue"/>
              </a:defRPr>
            </a:pPr>
            <a:r>
              <a:rPr sz="1200" b="1" i="0">
                <a:solidFill>
                  <a:srgbClr val="5D8EFF"/>
                </a:solidFill>
                <a:latin typeface="Helvetica Neue"/>
                <a:ea typeface="Helvetica Neue"/>
                <a:cs typeface="Helvetica Neue"/>
              </a:rPr>
              <a:t>•</a:t>
            </a:r>
          </a:p>
        </p:txBody>
      </p:sp>
      <p:sp>
        <p:nvSpPr>
          <p:cNvPr id="36" name="data-guardrail-heading-1">
            <a:extLst xmlns:a="http://schemas.openxmlformats.org/drawingml/2006/main">
              <a:ext uri="{FF2B5EF4-FFF2-40B4-BE49-F238E27FC236}">
                <a16:creationId xmlns:a16="http://schemas.microsoft.com/office/drawing/2014/main" id="{576597FD-5414-4751-9174-6DD218B57A87}"/>
              </a:ext>
            </a:extLst>
          </p:cNvPr>
          <p:cNvSpPr>
            <a:spLocks xmlns:a="http://schemas.openxmlformats.org/drawingml/2006/main" noGrp="1"/>
          </p:cNvSpPr>
          <p:nvPr/>
        </p:nvSpPr>
        <p:spPr>
          <a:xfrm xmlns:a="http://schemas.openxmlformats.org/drawingml/2006/main">
            <a:off x="65151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Browser key</a:t>
            </a:r>
          </a:p>
        </p:txBody>
      </p:sp>
      <p:sp>
        <p:nvSpPr>
          <p:cNvPr id="37" name="data-guardrail-body-1">
            <a:extLst xmlns:a="http://schemas.openxmlformats.org/drawingml/2006/main">
              <a:ext uri="{FF2B5EF4-FFF2-40B4-BE49-F238E27FC236}">
                <a16:creationId xmlns:a16="http://schemas.microsoft.com/office/drawing/2014/main" id="{AE3298B3-74B4-419C-B8BE-6B4F75D8B06C}"/>
              </a:ext>
            </a:extLst>
          </p:cNvPr>
          <p:cNvSpPr>
            <a:spLocks xmlns:a="http://schemas.openxmlformats.org/drawingml/2006/main" noGrp="1"/>
          </p:cNvSpPr>
          <p:nvPr/>
        </p:nvSpPr>
        <p:spPr>
          <a:xfrm xmlns:a="http://schemas.openxmlformats.org/drawingml/2006/main">
            <a:off x="63436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Publishable key only</a:t>
            </a:r>
          </a:p>
        </p:txBody>
      </p:sp>
      <p:sp>
        <p:nvSpPr>
          <p:cNvPr id="38" name="data-guardrail-2">
            <a:extLst xmlns:a="http://schemas.openxmlformats.org/drawingml/2006/main">
              <a:ext uri="{FF2B5EF4-FFF2-40B4-BE49-F238E27FC236}">
                <a16:creationId xmlns:a16="http://schemas.microsoft.com/office/drawing/2014/main" id="{0BD31AE9-38C5-4A7B-B2D5-1127754CCD74}"/>
              </a:ext>
            </a:extLst>
          </p:cNvPr>
          <p:cNvSpPr>
            <a:spLocks xmlns:a="http://schemas.openxmlformats.org/drawingml/2006/main" noGrp="1"/>
          </p:cNvSpPr>
          <p:nvPr/>
        </p:nvSpPr>
        <p:spPr>
          <a:xfrm xmlns:a="http://schemas.openxmlformats.org/drawingml/2006/main">
            <a:off x="79438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39" name="data-guardrail-mark-2">
            <a:extLst xmlns:a="http://schemas.openxmlformats.org/drawingml/2006/main">
              <a:ext uri="{FF2B5EF4-FFF2-40B4-BE49-F238E27FC236}">
                <a16:creationId xmlns:a16="http://schemas.microsoft.com/office/drawing/2014/main" id="{3B89DA89-744B-4554-860A-2853333402BA}"/>
              </a:ext>
            </a:extLst>
          </p:cNvPr>
          <p:cNvSpPr>
            <a:spLocks xmlns:a="http://schemas.openxmlformats.org/drawingml/2006/main" noGrp="1"/>
          </p:cNvSpPr>
          <p:nvPr/>
        </p:nvSpPr>
        <p:spPr>
          <a:xfrm xmlns:a="http://schemas.openxmlformats.org/drawingml/2006/main">
            <a:off x="80962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63E0C5"/>
                </a:solidFill>
                <a:latin typeface="Helvetica Neue"/>
                <a:ea typeface="Helvetica Neue"/>
                <a:cs typeface="Helvetica Neue"/>
              </a:defRPr>
            </a:pPr>
            <a:r>
              <a:rPr sz="1200" b="1" i="0">
                <a:solidFill>
                  <a:srgbClr val="63E0C5"/>
                </a:solidFill>
                <a:latin typeface="Helvetica Neue"/>
                <a:ea typeface="Helvetica Neue"/>
                <a:cs typeface="Helvetica Neue"/>
              </a:rPr>
              <a:t>•</a:t>
            </a:r>
          </a:p>
        </p:txBody>
      </p:sp>
      <p:sp>
        <p:nvSpPr>
          <p:cNvPr id="40" name="data-guardrail-heading-2">
            <a:extLst xmlns:a="http://schemas.openxmlformats.org/drawingml/2006/main">
              <a:ext uri="{FF2B5EF4-FFF2-40B4-BE49-F238E27FC236}">
                <a16:creationId xmlns:a16="http://schemas.microsoft.com/office/drawing/2014/main" id="{AC76EB2C-81E8-4EA5-8E12-943E36756CED}"/>
              </a:ext>
            </a:extLst>
          </p:cNvPr>
          <p:cNvSpPr>
            <a:spLocks xmlns:a="http://schemas.openxmlformats.org/drawingml/2006/main" noGrp="1"/>
          </p:cNvSpPr>
          <p:nvPr/>
        </p:nvSpPr>
        <p:spPr>
          <a:xfrm xmlns:a="http://schemas.openxmlformats.org/drawingml/2006/main">
            <a:off x="82677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Owner scope</a:t>
            </a:r>
          </a:p>
        </p:txBody>
      </p:sp>
      <p:sp>
        <p:nvSpPr>
          <p:cNvPr id="41" name="data-guardrail-body-2">
            <a:extLst xmlns:a="http://schemas.openxmlformats.org/drawingml/2006/main">
              <a:ext uri="{FF2B5EF4-FFF2-40B4-BE49-F238E27FC236}">
                <a16:creationId xmlns:a16="http://schemas.microsoft.com/office/drawing/2014/main" id="{B1175312-CEB1-444D-A8EE-F678EDA7C2E1}"/>
              </a:ext>
            </a:extLst>
          </p:cNvPr>
          <p:cNvSpPr>
            <a:spLocks xmlns:a="http://schemas.openxmlformats.org/drawingml/2006/main" noGrp="1"/>
          </p:cNvSpPr>
          <p:nvPr/>
        </p:nvSpPr>
        <p:spPr>
          <a:xfrm xmlns:a="http://schemas.openxmlformats.org/drawingml/2006/main">
            <a:off x="80962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79"/>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RLS policies match auth.uid()</a:t>
            </a:r>
          </a:p>
        </p:txBody>
      </p:sp>
      <p:sp>
        <p:nvSpPr>
          <p:cNvPr id="42" name="data-guardrail-3">
            <a:extLst xmlns:a="http://schemas.openxmlformats.org/drawingml/2006/main">
              <a:ext uri="{FF2B5EF4-FFF2-40B4-BE49-F238E27FC236}">
                <a16:creationId xmlns:a16="http://schemas.microsoft.com/office/drawing/2014/main" id="{403E694C-57F1-4A6C-8981-BA8E82D04D0D}"/>
              </a:ext>
            </a:extLst>
          </p:cNvPr>
          <p:cNvSpPr>
            <a:spLocks xmlns:a="http://schemas.openxmlformats.org/drawingml/2006/main" noGrp="1"/>
          </p:cNvSpPr>
          <p:nvPr/>
        </p:nvSpPr>
        <p:spPr>
          <a:xfrm xmlns:a="http://schemas.openxmlformats.org/drawingml/2006/main">
            <a:off x="96964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43" name="data-guardrail-mark-3">
            <a:extLst xmlns:a="http://schemas.openxmlformats.org/drawingml/2006/main">
              <a:ext uri="{FF2B5EF4-FFF2-40B4-BE49-F238E27FC236}">
                <a16:creationId xmlns:a16="http://schemas.microsoft.com/office/drawing/2014/main" id="{B63A0B94-7CF4-4EB9-833B-697308738E05}"/>
              </a:ext>
            </a:extLst>
          </p:cNvPr>
          <p:cNvSpPr>
            <a:spLocks xmlns:a="http://schemas.openxmlformats.org/drawingml/2006/main" noGrp="1"/>
          </p:cNvSpPr>
          <p:nvPr/>
        </p:nvSpPr>
        <p:spPr>
          <a:xfrm xmlns:a="http://schemas.openxmlformats.org/drawingml/2006/main">
            <a:off x="98488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F2756C"/>
                </a:solidFill>
                <a:latin typeface="Helvetica Neue"/>
                <a:ea typeface="Helvetica Neue"/>
                <a:cs typeface="Helvetica Neue"/>
              </a:defRPr>
            </a:pPr>
            <a:r>
              <a:rPr sz="1200" b="1" i="0">
                <a:solidFill>
                  <a:srgbClr val="F2756C"/>
                </a:solidFill>
                <a:latin typeface="Helvetica Neue"/>
                <a:ea typeface="Helvetica Neue"/>
                <a:cs typeface="Helvetica Neue"/>
              </a:rPr>
              <a:t>•</a:t>
            </a:r>
          </a:p>
        </p:txBody>
      </p:sp>
      <p:sp>
        <p:nvSpPr>
          <p:cNvPr id="44" name="data-guardrail-heading-3">
            <a:extLst xmlns:a="http://schemas.openxmlformats.org/drawingml/2006/main">
              <a:ext uri="{FF2B5EF4-FFF2-40B4-BE49-F238E27FC236}">
                <a16:creationId xmlns:a16="http://schemas.microsoft.com/office/drawing/2014/main" id="{184178C7-42BD-4794-BC19-B8B9CB60DDE7}"/>
              </a:ext>
            </a:extLst>
          </p:cNvPr>
          <p:cNvSpPr>
            <a:spLocks xmlns:a="http://schemas.openxmlformats.org/drawingml/2006/main" noGrp="1"/>
          </p:cNvSpPr>
          <p:nvPr/>
        </p:nvSpPr>
        <p:spPr>
          <a:xfrm xmlns:a="http://schemas.openxmlformats.org/drawingml/2006/main">
            <a:off x="100203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Demo mode</a:t>
            </a:r>
          </a:p>
        </p:txBody>
      </p:sp>
      <p:sp>
        <p:nvSpPr>
          <p:cNvPr id="45" name="data-guardrail-body-3">
            <a:extLst xmlns:a="http://schemas.openxmlformats.org/drawingml/2006/main">
              <a:ext uri="{FF2B5EF4-FFF2-40B4-BE49-F238E27FC236}">
                <a16:creationId xmlns:a16="http://schemas.microsoft.com/office/drawing/2014/main" id="{6F546AFD-6F20-4C7A-ADEB-40BFF0BA0411}"/>
              </a:ext>
            </a:extLst>
          </p:cNvPr>
          <p:cNvSpPr>
            <a:spLocks xmlns:a="http://schemas.openxmlformats.org/drawingml/2006/main" noGrp="1"/>
          </p:cNvSpPr>
          <p:nvPr/>
        </p:nvSpPr>
        <p:spPr>
          <a:xfrm xmlns:a="http://schemas.openxmlformats.org/drawingml/2006/main">
            <a:off x="98488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705"/>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Local-only saves until configured</a:t>
            </a:r>
          </a:p>
        </p:txBody>
      </p:sp>
      <p:sp>
        <p:nvSpPr>
          <p:cNvPr id="46" name="data-bottom-band">
            <a:extLst xmlns:a="http://schemas.openxmlformats.org/drawingml/2006/main">
              <a:ext uri="{FF2B5EF4-FFF2-40B4-BE49-F238E27FC236}">
                <a16:creationId xmlns:a16="http://schemas.microsoft.com/office/drawing/2014/main" id="{5F74DF75-5C28-4B2A-8F78-B9FA18AD9D7A}"/>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23810"/>
            </a:avLst>
          </a:prstGeom>
          <a:solidFill xmlns:a="http://schemas.openxmlformats.org/drawingml/2006/main">
            <a:srgbClr val="143253"/>
          </a:solidFill>
          <a:ln xmlns:a="http://schemas.openxmlformats.org/drawingml/2006/main" w="9525">
            <a:solidFill>
              <a:srgbClr val="244B77"/>
            </a:solidFill>
            <a:prstDash val="solid"/>
          </a:ln>
        </p:spPr>
      </p:sp>
      <p:sp>
        <p:nvSpPr>
          <p:cNvPr id="47" name="data-bottom">
            <a:extLst xmlns:a="http://schemas.openxmlformats.org/drawingml/2006/main">
              <a:ext uri="{FF2B5EF4-FFF2-40B4-BE49-F238E27FC236}">
                <a16:creationId xmlns:a16="http://schemas.microsoft.com/office/drawing/2014/main" id="{AA130EDC-CE5F-4398-8520-01EE159E5221}"/>
              </a:ext>
            </a:extLst>
          </p:cNvPr>
          <p:cNvSpPr>
            <a:spLocks xmlns:a="http://schemas.openxmlformats.org/drawingml/2006/main" noGrp="1"/>
          </p:cNvSpPr>
          <p:nvPr/>
        </p:nvSpPr>
        <p:spPr>
          <a:xfrm xmlns:a="http://schemas.openxmlformats.org/drawingml/2006/main">
            <a:off x="838200" y="595312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Real signup and private saves need Supabase values plus the checked-in SQL schema before Vercel deployment.</a:t>
            </a:r>
          </a:p>
        </p:txBody>
      </p:sp>
      <p:sp>
        <p:nvSpPr>
          <p:cNvPr id="48" name="footer-rule-11">
            <a:extLst xmlns:a="http://schemas.openxmlformats.org/drawingml/2006/main">
              <a:ext uri="{FF2B5EF4-FFF2-40B4-BE49-F238E27FC236}">
                <a16:creationId xmlns:a16="http://schemas.microsoft.com/office/drawing/2014/main" id="{58F227B8-5D73-4016-B2A7-B80CAE44BF4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49" name="footer-brand-11">
            <a:extLst xmlns:a="http://schemas.openxmlformats.org/drawingml/2006/main">
              <a:ext uri="{FF2B5EF4-FFF2-40B4-BE49-F238E27FC236}">
                <a16:creationId xmlns:a16="http://schemas.microsoft.com/office/drawing/2014/main" id="{564CB1A4-DABC-4FB7-902E-EB0006A4DE8C}"/>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50" name="footer-page-11">
            <a:extLst xmlns:a="http://schemas.openxmlformats.org/drawingml/2006/main">
              <a:ext uri="{FF2B5EF4-FFF2-40B4-BE49-F238E27FC236}">
                <a16:creationId xmlns:a16="http://schemas.microsoft.com/office/drawing/2014/main" id="{D7BA2A87-5163-4DF2-944A-BF309420FC88}"/>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11 / 13</a:t>
            </a:r>
          </a:p>
        </p:txBody>
      </p:sp>
    </p:spTree>
    <p:extLst>
      <p:ext uri="{BB962C8B-B14F-4D97-AF65-F5344CB8AC3E}">
        <p14:creationId xmlns:p14="http://schemas.microsoft.com/office/powerpoint/2010/main" val="2024194645"/>
      </p:ext>
    </p:extLst>
  </p:cSld>
</p:sld>
</file>

<file path=ppt/slides/slide12.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1" name="trust-kicker">
            <a:extLst xmlns:a="http://schemas.openxmlformats.org/drawingml/2006/main">
              <a:ext uri="{FF2B5EF4-FFF2-40B4-BE49-F238E27FC236}">
                <a16:creationId xmlns:a16="http://schemas.microsoft.com/office/drawing/2014/main" id="{F1DCDB15-C0BC-4EA4-9FB1-78072BB2C0B7}"/>
              </a:ext>
            </a:extLst>
          </p:cNvPr>
          <p:cNvSpPr>
            <a:spLocks xmlns:a="http://schemas.openxmlformats.org/drawingml/2006/main" noGrp="1"/>
          </p:cNvSpPr>
          <p:nvPr/>
        </p:nvSpPr>
        <p:spPr>
          <a:xfrm xmlns:a="http://schemas.openxmlformats.org/drawingml/2006/main">
            <a:off x="609600" y="5143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RESPONSIBLE USE</a:t>
            </a:r>
          </a:p>
        </p:txBody>
      </p:sp>
      <p:sp>
        <p:nvSpPr>
          <p:cNvPr id="2" name="trust-title">
            <a:extLst xmlns:a="http://schemas.openxmlformats.org/drawingml/2006/main">
              <a:ext uri="{FF2B5EF4-FFF2-40B4-BE49-F238E27FC236}">
                <a16:creationId xmlns:a16="http://schemas.microsoft.com/office/drawing/2014/main" id="{490A151F-4D58-47E9-94BB-E3B90C815E24}"/>
              </a:ext>
            </a:extLst>
          </p:cNvPr>
          <p:cNvSpPr>
            <a:spLocks xmlns:a="http://schemas.openxmlformats.org/drawingml/2006/main" noGrp="1"/>
          </p:cNvSpPr>
          <p:nvPr/>
        </p:nvSpPr>
        <p:spPr>
          <a:xfrm xmlns:a="http://schemas.openxmlformats.org/drawingml/2006/main">
            <a:off x="609600" y="828675"/>
            <a:ext cx="685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Trust is part of the product</a:t>
            </a:r>
          </a:p>
        </p:txBody>
      </p:sp>
      <p:sp>
        <p:nvSpPr>
          <p:cNvPr id="3" name="trust-quote">
            <a:extLst xmlns:a="http://schemas.openxmlformats.org/drawingml/2006/main">
              <a:ext uri="{FF2B5EF4-FFF2-40B4-BE49-F238E27FC236}">
                <a16:creationId xmlns:a16="http://schemas.microsoft.com/office/drawing/2014/main" id="{2478565C-69DE-43FB-9610-E3BF20552A90}"/>
              </a:ext>
            </a:extLst>
          </p:cNvPr>
          <p:cNvSpPr>
            <a:spLocks xmlns:a="http://schemas.openxmlformats.org/drawingml/2006/main" noGrp="1"/>
          </p:cNvSpPr>
          <p:nvPr/>
        </p:nvSpPr>
        <p:spPr>
          <a:xfrm xmlns:a="http://schemas.openxmlformats.org/drawingml/2006/main">
            <a:off x="609600" y="1866900"/>
            <a:ext cx="561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925" b="1" i="0">
                <a:solidFill>
                  <a:srgbClr val="63E0C5"/>
                </a:solidFill>
                <a:latin typeface="Helvetica Neue"/>
                <a:ea typeface="Helvetica Neue"/>
                <a:cs typeface="Helvetica Neue"/>
              </a:defRPr>
            </a:pPr>
            <a:r>
              <a:rPr sz="2925" b="1" i="0">
                <a:solidFill>
                  <a:srgbClr val="63E0C5"/>
                </a:solidFill>
                <a:latin typeface="Helvetica Neue"/>
                <a:ea typeface="Helvetica Neue"/>
                <a:cs typeface="Helvetica Neue"/>
              </a:rPr>
              <a:t>Signals support human review.</a:t>
            </a:r>
          </a:p>
        </p:txBody>
      </p:sp>
      <p:sp>
        <p:nvSpPr>
          <p:cNvPr id="4" name="trust-copy">
            <a:extLst xmlns:a="http://schemas.openxmlformats.org/drawingml/2006/main">
              <a:ext uri="{FF2B5EF4-FFF2-40B4-BE49-F238E27FC236}">
                <a16:creationId xmlns:a16="http://schemas.microsoft.com/office/drawing/2014/main" id="{A14B7066-6B34-4B1C-A798-C24D420C9897}"/>
              </a:ext>
            </a:extLst>
          </p:cNvPr>
          <p:cNvSpPr>
            <a:spLocks xmlns:a="http://schemas.openxmlformats.org/drawingml/2006/main" noGrp="1"/>
          </p:cNvSpPr>
          <p:nvPr/>
        </p:nvSpPr>
        <p:spPr>
          <a:xfrm xmlns:a="http://schemas.openxmlformats.org/drawingml/2006/main">
            <a:off x="628650" y="28003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35000"/>
              </a:lnSpc>
              <a:buNone/>
              <a:defRPr sz="1500" b="0" i="0">
                <a:solidFill>
                  <a:srgbClr val="B3C2D8"/>
                </a:solidFill>
                <a:latin typeface="Helvetica Neue"/>
                <a:ea typeface="Helvetica Neue"/>
                <a:cs typeface="Helvetica Neue"/>
              </a:defRPr>
            </a:pPr>
            <a:r>
              <a:rPr sz="1500" b="0" i="0">
                <a:solidFill>
                  <a:srgbClr val="B3C2D8"/>
                </a:solidFill>
                <a:latin typeface="Helvetica Neue"/>
                <a:ea typeface="Helvetica Neue"/>
                <a:cs typeface="Helvetica Neue"/>
              </a:rPr>
              <a:t>FINTRACE describes the evidence in the supplied records. It does not decide what happened outside the observed data.</a:t>
            </a:r>
          </a:p>
        </p:txBody>
      </p:sp>
      <p:sp>
        <p:nvSpPr>
          <p:cNvPr id="5" name="trust-divider">
            <a:extLst xmlns:a="http://schemas.openxmlformats.org/drawingml/2006/main">
              <a:ext uri="{FF2B5EF4-FFF2-40B4-BE49-F238E27FC236}">
                <a16:creationId xmlns:a16="http://schemas.microsoft.com/office/drawing/2014/main" id="{94699E5B-02E2-4256-B84B-0F79823707B4}"/>
              </a:ext>
            </a:extLst>
          </p:cNvPr>
          <p:cNvSpPr>
            <a:spLocks xmlns:a="http://schemas.openxmlformats.org/drawingml/2006/main" noGrp="1"/>
          </p:cNvSpPr>
          <p:nvPr/>
        </p:nvSpPr>
        <p:spPr>
          <a:xfrm xmlns:a="http://schemas.openxmlformats.org/drawingml/2006/main">
            <a:off x="6591300" y="1790700"/>
            <a:ext cx="9525"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6" name="trust-mark-1">
            <a:extLst xmlns:a="http://schemas.openxmlformats.org/drawingml/2006/main">
              <a:ext uri="{FF2B5EF4-FFF2-40B4-BE49-F238E27FC236}">
                <a16:creationId xmlns:a16="http://schemas.microsoft.com/office/drawing/2014/main" id="{3575C596-CCE0-480F-B380-0140599FB1E3}"/>
              </a:ext>
            </a:extLst>
          </p:cNvPr>
          <p:cNvSpPr>
            <a:spLocks xmlns:a="http://schemas.openxmlformats.org/drawingml/2006/main" noGrp="1"/>
          </p:cNvSpPr>
          <p:nvPr/>
        </p:nvSpPr>
        <p:spPr>
          <a:xfrm xmlns:a="http://schemas.openxmlformats.org/drawingml/2006/main">
            <a:off x="7105650" y="1905000"/>
            <a:ext cx="95250" cy="533400"/>
          </a:xfrm>
          <a:prstGeom xmlns:a="http://schemas.openxmlformats.org/drawingml/2006/main" prst="roundRect">
            <a:avLst>
              <a:gd name="adj" fmla="val 50000"/>
            </a:avLst>
          </a:prstGeom>
          <a:solidFill xmlns:a="http://schemas.openxmlformats.org/drawingml/2006/main">
            <a:srgbClr val="5D8EFF"/>
          </a:solidFill>
          <a:ln xmlns:a="http://schemas.openxmlformats.org/drawingml/2006/main" w="9525">
            <a:solidFill>
              <a:srgbClr val="5D8EFF"/>
            </a:solidFill>
            <a:prstDash val="solid"/>
          </a:ln>
        </p:spPr>
      </p:sp>
      <p:sp>
        <p:nvSpPr>
          <p:cNvPr id="7" name="trust-heading-1">
            <a:extLst xmlns:a="http://schemas.openxmlformats.org/drawingml/2006/main">
              <a:ext uri="{FF2B5EF4-FFF2-40B4-BE49-F238E27FC236}">
                <a16:creationId xmlns:a16="http://schemas.microsoft.com/office/drawing/2014/main" id="{46F7B88D-1EDD-4A42-929D-3FB5AE16D196}"/>
              </a:ext>
            </a:extLst>
          </p:cNvPr>
          <p:cNvSpPr>
            <a:spLocks xmlns:a="http://schemas.openxmlformats.org/drawingml/2006/main" noGrp="1"/>
          </p:cNvSpPr>
          <p:nvPr/>
        </p:nvSpPr>
        <p:spPr>
          <a:xfrm xmlns:a="http://schemas.openxmlformats.org/drawingml/2006/main">
            <a:off x="7429500" y="18669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Observed records only</a:t>
            </a:r>
          </a:p>
        </p:txBody>
      </p:sp>
      <p:sp>
        <p:nvSpPr>
          <p:cNvPr id="8" name="trust-body-1">
            <a:extLst xmlns:a="http://schemas.openxmlformats.org/drawingml/2006/main">
              <a:ext uri="{FF2B5EF4-FFF2-40B4-BE49-F238E27FC236}">
                <a16:creationId xmlns:a16="http://schemas.microsoft.com/office/drawing/2014/main" id="{DA5697B7-7820-4FEB-B0B7-7DC4E4FB95CB}"/>
              </a:ext>
            </a:extLst>
          </p:cNvPr>
          <p:cNvSpPr>
            <a:spLocks xmlns:a="http://schemas.openxmlformats.org/drawingml/2006/main" noGrp="1"/>
          </p:cNvSpPr>
          <p:nvPr/>
        </p:nvSpPr>
        <p:spPr>
          <a:xfrm xmlns:a="http://schemas.openxmlformats.org/drawingml/2006/main">
            <a:off x="7429500" y="21907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No balances, beneficial ownership, or off-platform activity.</a:t>
            </a:r>
          </a:p>
        </p:txBody>
      </p:sp>
      <p:sp>
        <p:nvSpPr>
          <p:cNvPr id="9" name="trust-mark-2">
            <a:extLst xmlns:a="http://schemas.openxmlformats.org/drawingml/2006/main">
              <a:ext uri="{FF2B5EF4-FFF2-40B4-BE49-F238E27FC236}">
                <a16:creationId xmlns:a16="http://schemas.microsoft.com/office/drawing/2014/main" id="{E79BBCEA-AB1E-42D9-81F6-ECD9831494F9}"/>
              </a:ext>
            </a:extLst>
          </p:cNvPr>
          <p:cNvSpPr>
            <a:spLocks xmlns:a="http://schemas.openxmlformats.org/drawingml/2006/main" noGrp="1"/>
          </p:cNvSpPr>
          <p:nvPr/>
        </p:nvSpPr>
        <p:spPr>
          <a:xfrm xmlns:a="http://schemas.openxmlformats.org/drawingml/2006/main">
            <a:off x="7105650" y="3105150"/>
            <a:ext cx="95250" cy="533400"/>
          </a:xfrm>
          <a:prstGeom xmlns:a="http://schemas.openxmlformats.org/drawingml/2006/main" prst="roundRect">
            <a:avLst>
              <a:gd name="adj" fmla="val 50000"/>
            </a:avLst>
          </a:prstGeom>
          <a:solidFill xmlns:a="http://schemas.openxmlformats.org/drawingml/2006/main">
            <a:srgbClr val="63E0C5"/>
          </a:solidFill>
          <a:ln xmlns:a="http://schemas.openxmlformats.org/drawingml/2006/main" w="9525">
            <a:solidFill>
              <a:srgbClr val="63E0C5"/>
            </a:solidFill>
            <a:prstDash val="solid"/>
          </a:ln>
        </p:spPr>
      </p:sp>
      <p:sp>
        <p:nvSpPr>
          <p:cNvPr id="10" name="trust-heading-2">
            <a:extLst xmlns:a="http://schemas.openxmlformats.org/drawingml/2006/main">
              <a:ext uri="{FF2B5EF4-FFF2-40B4-BE49-F238E27FC236}">
                <a16:creationId xmlns:a16="http://schemas.microsoft.com/office/drawing/2014/main" id="{8884CB78-2ED3-4C51-AC1D-C19EA948C290}"/>
              </a:ext>
            </a:extLst>
          </p:cNvPr>
          <p:cNvSpPr>
            <a:spLocks xmlns:a="http://schemas.openxmlformats.org/drawingml/2006/main" noGrp="1"/>
          </p:cNvSpPr>
          <p:nvPr/>
        </p:nvSpPr>
        <p:spPr>
          <a:xfrm xmlns:a="http://schemas.openxmlformats.org/drawingml/2006/main">
            <a:off x="7429500" y="30670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Volume comparison only</a:t>
            </a:r>
          </a:p>
        </p:txBody>
      </p:sp>
      <p:sp>
        <p:nvSpPr>
          <p:cNvPr id="11" name="trust-body-2">
            <a:extLst xmlns:a="http://schemas.openxmlformats.org/drawingml/2006/main">
              <a:ext uri="{FF2B5EF4-FFF2-40B4-BE49-F238E27FC236}">
                <a16:creationId xmlns:a16="http://schemas.microsoft.com/office/drawing/2014/main" id="{62681D50-DA47-483D-9D97-4F8C0552CC2F}"/>
              </a:ext>
            </a:extLst>
          </p:cNvPr>
          <p:cNvSpPr>
            <a:spLocks xmlns:a="http://schemas.openxmlformats.org/drawingml/2006/main" noGrp="1"/>
          </p:cNvSpPr>
          <p:nvPr/>
        </p:nvSpPr>
        <p:spPr>
          <a:xfrm xmlns:a="http://schemas.openxmlformats.org/drawingml/2006/main">
            <a:off x="7429500" y="33909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The graph shows observed movement, not an exact stolen-money allocation.</a:t>
            </a:r>
          </a:p>
        </p:txBody>
      </p:sp>
      <p:sp>
        <p:nvSpPr>
          <p:cNvPr id="12" name="trust-mark-3">
            <a:extLst xmlns:a="http://schemas.openxmlformats.org/drawingml/2006/main">
              <a:ext uri="{FF2B5EF4-FFF2-40B4-BE49-F238E27FC236}">
                <a16:creationId xmlns:a16="http://schemas.microsoft.com/office/drawing/2014/main" id="{229807E7-C348-4D5D-8A2F-1BAEFB7D2139}"/>
              </a:ext>
            </a:extLst>
          </p:cNvPr>
          <p:cNvSpPr>
            <a:spLocks xmlns:a="http://schemas.openxmlformats.org/drawingml/2006/main" noGrp="1"/>
          </p:cNvSpPr>
          <p:nvPr/>
        </p:nvSpPr>
        <p:spPr>
          <a:xfrm xmlns:a="http://schemas.openxmlformats.org/drawingml/2006/main">
            <a:off x="7105650" y="4305300"/>
            <a:ext cx="95250" cy="533400"/>
          </a:xfrm>
          <a:prstGeom xmlns:a="http://schemas.openxmlformats.org/drawingml/2006/main" prst="roundRect">
            <a:avLst>
              <a:gd name="adj" fmla="val 50000"/>
            </a:avLst>
          </a:prstGeom>
          <a:solidFill xmlns:a="http://schemas.openxmlformats.org/drawingml/2006/main">
            <a:srgbClr val="F2756C"/>
          </a:solidFill>
          <a:ln xmlns:a="http://schemas.openxmlformats.org/drawingml/2006/main" w="9525">
            <a:solidFill>
              <a:srgbClr val="F2756C"/>
            </a:solidFill>
            <a:prstDash val="solid"/>
          </a:ln>
        </p:spPr>
      </p:sp>
      <p:sp>
        <p:nvSpPr>
          <p:cNvPr id="13" name="trust-heading-3">
            <a:extLst xmlns:a="http://schemas.openxmlformats.org/drawingml/2006/main">
              <a:ext uri="{FF2B5EF4-FFF2-40B4-BE49-F238E27FC236}">
                <a16:creationId xmlns:a16="http://schemas.microsoft.com/office/drawing/2014/main" id="{6580ECA2-D1B2-4604-8CE6-293237C87A4A}"/>
              </a:ext>
            </a:extLst>
          </p:cNvPr>
          <p:cNvSpPr>
            <a:spLocks xmlns:a="http://schemas.openxmlformats.org/drawingml/2006/main" noGrp="1"/>
          </p:cNvSpPr>
          <p:nvPr/>
        </p:nvSpPr>
        <p:spPr>
          <a:xfrm xmlns:a="http://schemas.openxmlformats.org/drawingml/2006/main">
            <a:off x="7429500" y="42672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Synthetic demo evidence</a:t>
            </a:r>
          </a:p>
        </p:txBody>
      </p:sp>
      <p:sp>
        <p:nvSpPr>
          <p:cNvPr id="14" name="trust-body-3">
            <a:extLst xmlns:a="http://schemas.openxmlformats.org/drawingml/2006/main">
              <a:ext uri="{FF2B5EF4-FFF2-40B4-BE49-F238E27FC236}">
                <a16:creationId xmlns:a16="http://schemas.microsoft.com/office/drawing/2014/main" id="{CBB41F07-11A8-4816-A48D-6B990E63F85D}"/>
              </a:ext>
            </a:extLst>
          </p:cNvPr>
          <p:cNvSpPr>
            <a:spLocks xmlns:a="http://schemas.openxmlformats.org/drawingml/2006/main" noGrp="1"/>
          </p:cNvSpPr>
          <p:nvPr/>
        </p:nvSpPr>
        <p:spPr>
          <a:xfrm xmlns:a="http://schemas.openxmlformats.org/drawingml/2006/main">
            <a:off x="7429500" y="45910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A passing matrix proves the rules behave as designed, not production accuracy.</a:t>
            </a:r>
          </a:p>
        </p:txBody>
      </p:sp>
      <p:sp>
        <p:nvSpPr>
          <p:cNvPr id="15" name="trust-bottom">
            <a:extLst xmlns:a="http://schemas.openxmlformats.org/drawingml/2006/main">
              <a:ext uri="{FF2B5EF4-FFF2-40B4-BE49-F238E27FC236}">
                <a16:creationId xmlns:a16="http://schemas.microsoft.com/office/drawing/2014/main" id="{A0471216-99A2-4638-A1D0-94287FC3830C}"/>
              </a:ext>
            </a:extLst>
          </p:cNvPr>
          <p:cNvSpPr>
            <a:spLocks xmlns:a="http://schemas.openxmlformats.org/drawingml/2006/main" noGrp="1"/>
          </p:cNvSpPr>
          <p:nvPr/>
        </p:nvSpPr>
        <p:spPr>
          <a:xfrm xmlns:a="http://schemas.openxmlformats.org/drawingml/2006/main">
            <a:off x="609600" y="5162550"/>
            <a:ext cx="10972800" cy="666750"/>
          </a:xfrm>
          <a:prstGeom xmlns:a="http://schemas.openxmlformats.org/drawingml/2006/main" prst="roundRect">
            <a:avLst>
              <a:gd name="adj" fmla="val 22857"/>
            </a:avLst>
          </a:prstGeom>
          <a:solidFill xmlns:a="http://schemas.openxmlformats.org/drawingml/2006/main">
            <a:srgbClr val="102746"/>
          </a:solidFill>
          <a:ln xmlns:a="http://schemas.openxmlformats.org/drawingml/2006/main" w="9525">
            <a:solidFill>
              <a:srgbClr val="244B77"/>
            </a:solidFill>
            <a:prstDash val="solid"/>
          </a:ln>
        </p:spPr>
      </p:sp>
      <p:sp>
        <p:nvSpPr>
          <p:cNvPr id="16" name="trust-bottom-title">
            <a:extLst xmlns:a="http://schemas.openxmlformats.org/drawingml/2006/main">
              <a:ext uri="{FF2B5EF4-FFF2-40B4-BE49-F238E27FC236}">
                <a16:creationId xmlns:a16="http://schemas.microsoft.com/office/drawing/2014/main" id="{34E6F823-D9DA-41BE-96C8-94865880A293}"/>
              </a:ext>
            </a:extLst>
          </p:cNvPr>
          <p:cNvSpPr>
            <a:spLocks xmlns:a="http://schemas.openxmlformats.org/drawingml/2006/main" noGrp="1"/>
          </p:cNvSpPr>
          <p:nvPr/>
        </p:nvSpPr>
        <p:spPr>
          <a:xfrm xmlns:a="http://schemas.openxmlformats.org/drawingml/2006/main">
            <a:off x="838200" y="53340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The analyst stays in control.</a:t>
            </a:r>
          </a:p>
        </p:txBody>
      </p:sp>
      <p:sp>
        <p:nvSpPr>
          <p:cNvPr id="17" name="trust-bottom-copy">
            <a:extLst xmlns:a="http://schemas.openxmlformats.org/drawingml/2006/main">
              <a:ext uri="{FF2B5EF4-FFF2-40B4-BE49-F238E27FC236}">
                <a16:creationId xmlns:a16="http://schemas.microsoft.com/office/drawing/2014/main" id="{643C8017-2E02-40F9-8D90-3DDA16A6B66B}"/>
              </a:ext>
            </a:extLst>
          </p:cNvPr>
          <p:cNvSpPr>
            <a:spLocks xmlns:a="http://schemas.openxmlformats.org/drawingml/2006/main" noGrp="1"/>
          </p:cNvSpPr>
          <p:nvPr/>
        </p:nvSpPr>
        <p:spPr>
          <a:xfrm xmlns:a="http://schemas.openxmlformats.org/drawingml/2006/main">
            <a:off x="4057650" y="5314950"/>
            <a:ext cx="714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403"/>
          </a:bodyPr>
          <a:lstStyle xmlns:a="http://schemas.openxmlformats.org/drawingml/2006/main"/>
          <a:p xmlns:a="http://schemas.openxmlformats.org/drawingml/2006/main">
            <a:pPr algn="l">
              <a:lnSpc>
                <a:spcPct val="12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product makes the trail easier to inspect, the limits easier to explain, and the next review step easier to defend.</a:t>
            </a:r>
          </a:p>
        </p:txBody>
      </p:sp>
      <p:sp>
        <p:nvSpPr>
          <p:cNvPr id="18" name="footer-rule-12">
            <a:extLst xmlns:a="http://schemas.openxmlformats.org/drawingml/2006/main">
              <a:ext uri="{FF2B5EF4-FFF2-40B4-BE49-F238E27FC236}">
                <a16:creationId xmlns:a16="http://schemas.microsoft.com/office/drawing/2014/main" id="{D7BCC60B-7F08-4035-966B-6A36AD4B03F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9" name="footer-brand-12">
            <a:extLst xmlns:a="http://schemas.openxmlformats.org/drawingml/2006/main">
              <a:ext uri="{FF2B5EF4-FFF2-40B4-BE49-F238E27FC236}">
                <a16:creationId xmlns:a16="http://schemas.microsoft.com/office/drawing/2014/main" id="{D6B781E1-A893-4FA6-8FEA-026ACAC02678}"/>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0" name="footer-page-12">
            <a:extLst xmlns:a="http://schemas.openxmlformats.org/drawingml/2006/main">
              <a:ext uri="{FF2B5EF4-FFF2-40B4-BE49-F238E27FC236}">
                <a16:creationId xmlns:a16="http://schemas.microsoft.com/office/drawing/2014/main" id="{B157A444-43B2-4345-A2C3-F4B6134EC200}"/>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12 / 13</a:t>
            </a:r>
          </a:p>
        </p:txBody>
      </p:sp>
    </p:spTree>
    <p:extLst>
      <p:ext uri="{BB962C8B-B14F-4D97-AF65-F5344CB8AC3E}">
        <p14:creationId xmlns:p14="http://schemas.microsoft.com/office/powerpoint/2010/main" val="2099978323"/>
      </p:ext>
    </p:extLst>
  </p:cSld>
</p:sld>
</file>

<file path=ppt/slides/slide13.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0" name="close-accent">
            <a:extLst xmlns:a="http://schemas.openxmlformats.org/drawingml/2006/main">
              <a:ext uri="{FF2B5EF4-FFF2-40B4-BE49-F238E27FC236}">
                <a16:creationId xmlns:a16="http://schemas.microsoft.com/office/drawing/2014/main" id="{B5DB1773-50D2-4813-91FE-9C3255CE2405}"/>
              </a:ext>
            </a:extLst>
          </p:cNvPr>
          <p:cNvSpPr>
            <a:spLocks xmlns:a="http://schemas.openxmlformats.org/drawingml/2006/main" noGrp="1"/>
          </p:cNvSpPr>
          <p:nvPr/>
        </p:nvSpPr>
        <p:spPr>
          <a:xfrm xmlns:a="http://schemas.openxmlformats.org/drawingml/2006/main">
            <a:off x="609600" y="762000"/>
            <a:ext cx="95250" cy="4572000"/>
          </a:xfrm>
          <a:prstGeom xmlns:a="http://schemas.openxmlformats.org/drawingml/2006/main" prst="roundRect">
            <a:avLst>
              <a:gd name="adj" fmla="val 50000"/>
            </a:avLst>
          </a:prstGeom>
          <a:solidFill xmlns:a="http://schemas.openxmlformats.org/drawingml/2006/main">
            <a:srgbClr val="2F6FE5"/>
          </a:solidFill>
          <a:ln xmlns:a="http://schemas.openxmlformats.org/drawingml/2006/main" w="9525">
            <a:solidFill>
              <a:srgbClr val="2F6FE5"/>
            </a:solidFill>
            <a:prstDash val="solid"/>
          </a:ln>
        </p:spPr>
      </p:sp>
      <p:sp>
        <p:nvSpPr>
          <p:cNvPr id="2" name="close-kicker">
            <a:extLst xmlns:a="http://schemas.openxmlformats.org/drawingml/2006/main">
              <a:ext uri="{FF2B5EF4-FFF2-40B4-BE49-F238E27FC236}">
                <a16:creationId xmlns:a16="http://schemas.microsoft.com/office/drawing/2014/main" id="{34D479A1-486E-4674-92C9-13F33BE40596}"/>
              </a:ext>
            </a:extLst>
          </p:cNvPr>
          <p:cNvSpPr>
            <a:spLocks xmlns:a="http://schemas.openxmlformats.org/drawingml/2006/main" noGrp="1"/>
          </p:cNvSpPr>
          <p:nvPr/>
        </p:nvSpPr>
        <p:spPr>
          <a:xfrm xmlns:a="http://schemas.openxmlformats.org/drawingml/2006/main">
            <a:off x="1066800" y="7810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FINTRACE</a:t>
            </a:r>
          </a:p>
        </p:txBody>
      </p:sp>
      <p:sp>
        <p:nvSpPr>
          <p:cNvPr id="3" name="close-title">
            <a:extLst xmlns:a="http://schemas.openxmlformats.org/drawingml/2006/main">
              <a:ext uri="{FF2B5EF4-FFF2-40B4-BE49-F238E27FC236}">
                <a16:creationId xmlns:a16="http://schemas.microsoft.com/office/drawing/2014/main" id="{8FFE10BB-E9DA-44F0-9605-14F730AB00A8}"/>
              </a:ext>
            </a:extLst>
          </p:cNvPr>
          <p:cNvSpPr>
            <a:spLocks xmlns:a="http://schemas.openxmlformats.org/drawingml/2006/main" noGrp="1"/>
          </p:cNvSpPr>
          <p:nvPr/>
        </p:nvSpPr>
        <p:spPr>
          <a:xfrm xmlns:a="http://schemas.openxmlformats.org/drawingml/2006/main">
            <a:off x="1066800" y="13525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900" b="1" i="0">
                <a:solidFill>
                  <a:srgbClr val="F6F9FF"/>
                </a:solidFill>
                <a:latin typeface="Helvetica Neue"/>
                <a:ea typeface="Helvetica Neue"/>
                <a:cs typeface="Helvetica Neue"/>
              </a:defRPr>
            </a:pPr>
            <a:r>
              <a:rPr sz="3900" b="1" i="0">
                <a:solidFill>
                  <a:srgbClr val="F6F9FF"/>
                </a:solidFill>
                <a:latin typeface="Helvetica Neue"/>
                <a:ea typeface="Helvetica Neue"/>
                <a:cs typeface="Helvetica Neue"/>
              </a:rPr>
              <a:t>A clearer story behind every flag</a:t>
            </a:r>
          </a:p>
        </p:txBody>
      </p:sp>
      <p:sp>
        <p:nvSpPr>
          <p:cNvPr id="4" name="close-subtitle">
            <a:extLst xmlns:a="http://schemas.openxmlformats.org/drawingml/2006/main">
              <a:ext uri="{FF2B5EF4-FFF2-40B4-BE49-F238E27FC236}">
                <a16:creationId xmlns:a16="http://schemas.microsoft.com/office/drawing/2014/main" id="{3C40769C-E992-4391-80CC-3B33BB595601}"/>
              </a:ext>
            </a:extLst>
          </p:cNvPr>
          <p:cNvSpPr>
            <a:spLocks xmlns:a="http://schemas.openxmlformats.org/drawingml/2006/main" noGrp="1"/>
          </p:cNvSpPr>
          <p:nvPr/>
        </p:nvSpPr>
        <p:spPr>
          <a:xfrm xmlns:a="http://schemas.openxmlformats.org/drawingml/2006/main">
            <a:off x="1085850" y="232410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63E0C5"/>
                </a:solidFill>
                <a:latin typeface="Helvetica Neue"/>
                <a:ea typeface="Helvetica Neue"/>
                <a:cs typeface="Helvetica Neue"/>
              </a:defRPr>
            </a:pPr>
            <a:r>
              <a:rPr sz="2100" b="1" i="0">
                <a:solidFill>
                  <a:srgbClr val="63E0C5"/>
                </a:solidFill>
                <a:latin typeface="Helvetica Neue"/>
                <a:ea typeface="Helvetica Neue"/>
                <a:cs typeface="Helvetica Neue"/>
              </a:rPr>
              <a:t>Follow the money. Explain the risk.</a:t>
            </a:r>
          </a:p>
        </p:txBody>
      </p:sp>
      <p:sp>
        <p:nvSpPr>
          <p:cNvPr id="5" name="close-demo-label">
            <a:extLst xmlns:a="http://schemas.openxmlformats.org/drawingml/2006/main">
              <a:ext uri="{FF2B5EF4-FFF2-40B4-BE49-F238E27FC236}">
                <a16:creationId xmlns:a16="http://schemas.microsoft.com/office/drawing/2014/main" id="{9D529269-005A-4364-B24E-859D29C04916}"/>
              </a:ext>
            </a:extLst>
          </p:cNvPr>
          <p:cNvSpPr>
            <a:spLocks xmlns:a="http://schemas.openxmlformats.org/drawingml/2006/main" noGrp="1"/>
          </p:cNvSpPr>
          <p:nvPr/>
        </p:nvSpPr>
        <p:spPr>
          <a:xfrm xmlns:a="http://schemas.openxmlformats.org/drawingml/2006/main">
            <a:off x="1085850" y="34766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5D8EFF"/>
                </a:solidFill>
                <a:latin typeface="Helvetica Neue"/>
                <a:ea typeface="Helvetica Neue"/>
                <a:cs typeface="Helvetica Neue"/>
              </a:defRPr>
            </a:pPr>
            <a:r>
              <a:rPr sz="825" b="1" i="0">
                <a:solidFill>
                  <a:srgbClr val="5D8EFF"/>
                </a:solidFill>
                <a:latin typeface="Helvetica Neue"/>
                <a:ea typeface="Helvetica Neue"/>
                <a:cs typeface="Helvetica Neue"/>
              </a:rPr>
              <a:t>LIVE DEMO PATH</a:t>
            </a:r>
          </a:p>
        </p:txBody>
      </p:sp>
      <p:sp>
        <p:nvSpPr>
          <p:cNvPr id="6" name="close-step-num-1">
            <a:extLst xmlns:a="http://schemas.openxmlformats.org/drawingml/2006/main">
              <a:ext uri="{FF2B5EF4-FFF2-40B4-BE49-F238E27FC236}">
                <a16:creationId xmlns:a16="http://schemas.microsoft.com/office/drawing/2014/main" id="{7DCCF554-1A05-426E-87CE-B29E55889CC3}"/>
              </a:ext>
            </a:extLst>
          </p:cNvPr>
          <p:cNvSpPr>
            <a:spLocks xmlns:a="http://schemas.openxmlformats.org/drawingml/2006/main" noGrp="1"/>
          </p:cNvSpPr>
          <p:nvPr/>
        </p:nvSpPr>
        <p:spPr>
          <a:xfrm xmlns:a="http://schemas.openxmlformats.org/drawingml/2006/main">
            <a:off x="10858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01</a:t>
            </a:r>
          </a:p>
        </p:txBody>
      </p:sp>
      <p:sp>
        <p:nvSpPr>
          <p:cNvPr id="7" name="close-step-text-1">
            <a:extLst xmlns:a="http://schemas.openxmlformats.org/drawingml/2006/main">
              <a:ext uri="{FF2B5EF4-FFF2-40B4-BE49-F238E27FC236}">
                <a16:creationId xmlns:a16="http://schemas.microsoft.com/office/drawing/2014/main" id="{AFE3757C-AA2F-4B59-960D-55BE9D638AA1}"/>
              </a:ext>
            </a:extLst>
          </p:cNvPr>
          <p:cNvSpPr>
            <a:spLocks xmlns:a="http://schemas.openxmlformats.org/drawingml/2006/main" noGrp="1"/>
          </p:cNvSpPr>
          <p:nvPr/>
        </p:nvSpPr>
        <p:spPr>
          <a:xfrm xmlns:a="http://schemas.openxmlformats.org/drawingml/2006/main">
            <a:off x="15049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Load Split and reconverge</a:t>
            </a:r>
          </a:p>
        </p:txBody>
      </p:sp>
      <p:sp>
        <p:nvSpPr>
          <p:cNvPr id="8" name="close-step-rule-1">
            <a:extLst xmlns:a="http://schemas.openxmlformats.org/drawingml/2006/main">
              <a:ext uri="{FF2B5EF4-FFF2-40B4-BE49-F238E27FC236}">
                <a16:creationId xmlns:a16="http://schemas.microsoft.com/office/drawing/2014/main" id="{2F7A62EF-E378-4D41-BDB9-D3E5A378D4BE}"/>
              </a:ext>
            </a:extLst>
          </p:cNvPr>
          <p:cNvSpPr>
            <a:spLocks xmlns:a="http://schemas.openxmlformats.org/drawingml/2006/main" noGrp="1"/>
          </p:cNvSpPr>
          <p:nvPr/>
        </p:nvSpPr>
        <p:spPr>
          <a:xfrm xmlns:a="http://schemas.openxmlformats.org/drawingml/2006/main">
            <a:off x="335280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9" name="close-step-num-2">
            <a:extLst xmlns:a="http://schemas.openxmlformats.org/drawingml/2006/main">
              <a:ext uri="{FF2B5EF4-FFF2-40B4-BE49-F238E27FC236}">
                <a16:creationId xmlns:a16="http://schemas.microsoft.com/office/drawing/2014/main" id="{75125943-DC28-48D9-B0DD-ABFD5961AD6A}"/>
              </a:ext>
            </a:extLst>
          </p:cNvPr>
          <p:cNvSpPr>
            <a:spLocks xmlns:a="http://schemas.openxmlformats.org/drawingml/2006/main" noGrp="1"/>
          </p:cNvSpPr>
          <p:nvPr/>
        </p:nvSpPr>
        <p:spPr>
          <a:xfrm xmlns:a="http://schemas.openxmlformats.org/drawingml/2006/main">
            <a:off x="373380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02</a:t>
            </a:r>
          </a:p>
        </p:txBody>
      </p:sp>
      <p:sp>
        <p:nvSpPr>
          <p:cNvPr id="10" name="close-step-text-2">
            <a:extLst xmlns:a="http://schemas.openxmlformats.org/drawingml/2006/main">
              <a:ext uri="{FF2B5EF4-FFF2-40B4-BE49-F238E27FC236}">
                <a16:creationId xmlns:a16="http://schemas.microsoft.com/office/drawing/2014/main" id="{C50CB3E3-D5F8-4CE2-BC72-D5645C59C010}"/>
              </a:ext>
            </a:extLst>
          </p:cNvPr>
          <p:cNvSpPr>
            <a:spLocks xmlns:a="http://schemas.openxmlformats.org/drawingml/2006/main" noGrp="1"/>
          </p:cNvSpPr>
          <p:nvPr/>
        </p:nvSpPr>
        <p:spPr>
          <a:xfrm xmlns:a="http://schemas.openxmlformats.org/drawingml/2006/main">
            <a:off x="415290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Inspect focal account A101</a:t>
            </a:r>
          </a:p>
        </p:txBody>
      </p:sp>
      <p:sp>
        <p:nvSpPr>
          <p:cNvPr id="11" name="close-step-rule-2">
            <a:extLst xmlns:a="http://schemas.openxmlformats.org/drawingml/2006/main">
              <a:ext uri="{FF2B5EF4-FFF2-40B4-BE49-F238E27FC236}">
                <a16:creationId xmlns:a16="http://schemas.microsoft.com/office/drawing/2014/main" id="{67811333-1161-4FE1-8641-548582ABAB11}"/>
              </a:ext>
            </a:extLst>
          </p:cNvPr>
          <p:cNvSpPr>
            <a:spLocks xmlns:a="http://schemas.openxmlformats.org/drawingml/2006/main" noGrp="1"/>
          </p:cNvSpPr>
          <p:nvPr/>
        </p:nvSpPr>
        <p:spPr>
          <a:xfrm xmlns:a="http://schemas.openxmlformats.org/drawingml/2006/main">
            <a:off x="600075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12" name="close-step-num-3">
            <a:extLst xmlns:a="http://schemas.openxmlformats.org/drawingml/2006/main">
              <a:ext uri="{FF2B5EF4-FFF2-40B4-BE49-F238E27FC236}">
                <a16:creationId xmlns:a16="http://schemas.microsoft.com/office/drawing/2014/main" id="{A4B4FA3B-E101-4711-99C2-9D1E353CC965}"/>
              </a:ext>
            </a:extLst>
          </p:cNvPr>
          <p:cNvSpPr>
            <a:spLocks xmlns:a="http://schemas.openxmlformats.org/drawingml/2006/main" noGrp="1"/>
          </p:cNvSpPr>
          <p:nvPr/>
        </p:nvSpPr>
        <p:spPr>
          <a:xfrm xmlns:a="http://schemas.openxmlformats.org/drawingml/2006/main">
            <a:off x="63817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03</a:t>
            </a:r>
          </a:p>
        </p:txBody>
      </p:sp>
      <p:sp>
        <p:nvSpPr>
          <p:cNvPr id="13" name="close-step-text-3">
            <a:extLst xmlns:a="http://schemas.openxmlformats.org/drawingml/2006/main">
              <a:ext uri="{FF2B5EF4-FFF2-40B4-BE49-F238E27FC236}">
                <a16:creationId xmlns:a16="http://schemas.microsoft.com/office/drawing/2014/main" id="{3EEEAF30-996F-4B71-9606-29A99299B6E3}"/>
              </a:ext>
            </a:extLst>
          </p:cNvPr>
          <p:cNvSpPr>
            <a:spLocks xmlns:a="http://schemas.openxmlformats.org/drawingml/2006/main" noGrp="1"/>
          </p:cNvSpPr>
          <p:nvPr/>
        </p:nvSpPr>
        <p:spPr>
          <a:xfrm xmlns:a="http://schemas.openxmlformats.org/drawingml/2006/main">
            <a:off x="68008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Advance to 10:06:30 IST</a:t>
            </a:r>
          </a:p>
        </p:txBody>
      </p:sp>
      <p:sp>
        <p:nvSpPr>
          <p:cNvPr id="14" name="close-rule">
            <a:extLst xmlns:a="http://schemas.openxmlformats.org/drawingml/2006/main">
              <a:ext uri="{FF2B5EF4-FFF2-40B4-BE49-F238E27FC236}">
                <a16:creationId xmlns:a16="http://schemas.microsoft.com/office/drawing/2014/main" id="{5879FEC2-75C8-49D2-89BA-BEDDF334D130}"/>
              </a:ext>
            </a:extLst>
          </p:cNvPr>
          <p:cNvSpPr>
            <a:spLocks xmlns:a="http://schemas.openxmlformats.org/drawingml/2006/main" noGrp="1"/>
          </p:cNvSpPr>
          <p:nvPr/>
        </p:nvSpPr>
        <p:spPr>
          <a:xfrm xmlns:a="http://schemas.openxmlformats.org/drawingml/2006/main">
            <a:off x="1085850" y="4905375"/>
            <a:ext cx="7239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5" name="close-footer">
            <a:extLst xmlns:a="http://schemas.openxmlformats.org/drawingml/2006/main">
              <a:ext uri="{FF2B5EF4-FFF2-40B4-BE49-F238E27FC236}">
                <a16:creationId xmlns:a16="http://schemas.microsoft.com/office/drawing/2014/main" id="{0418EEA7-7354-4EA6-A682-6BA517C3ACFA}"/>
              </a:ext>
            </a:extLst>
          </p:cNvPr>
          <p:cNvSpPr>
            <a:spLocks xmlns:a="http://schemas.openxmlformats.org/drawingml/2006/main" noGrp="1"/>
          </p:cNvSpPr>
          <p:nvPr/>
        </p:nvSpPr>
        <p:spPr>
          <a:xfrm xmlns:a="http://schemas.openxmlformats.org/drawingml/2006/main">
            <a:off x="1085850" y="5172075"/>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8EA2BE"/>
                </a:solidFill>
                <a:latin typeface="Helvetica Neue"/>
                <a:ea typeface="Helvetica Neue"/>
                <a:cs typeface="Helvetica Neue"/>
              </a:defRPr>
            </a:pPr>
            <a:r>
              <a:rPr sz="975" b="1" i="0">
                <a:solidFill>
                  <a:srgbClr val="8EA2BE"/>
                </a:solidFill>
                <a:latin typeface="Helvetica Neue"/>
                <a:ea typeface="Helvetica Neue"/>
                <a:cs typeface="Helvetica Neue"/>
              </a:rPr>
              <a:t>VENTURE 2026 / 2-member team / React + Vite / Vercel-ready</a:t>
            </a:r>
          </a:p>
        </p:txBody>
      </p:sp>
      <p:sp>
        <p:nvSpPr>
          <p:cNvPr id="16" name="close-thanks">
            <a:extLst xmlns:a="http://schemas.openxmlformats.org/drawingml/2006/main">
              <a:ext uri="{FF2B5EF4-FFF2-40B4-BE49-F238E27FC236}">
                <a16:creationId xmlns:a16="http://schemas.microsoft.com/office/drawing/2014/main" id="{8C9CB56B-60DF-4327-A907-418DF9117120}"/>
              </a:ext>
            </a:extLst>
          </p:cNvPr>
          <p:cNvSpPr>
            <a:spLocks xmlns:a="http://schemas.openxmlformats.org/drawingml/2006/main" noGrp="1"/>
          </p:cNvSpPr>
          <p:nvPr/>
        </p:nvSpPr>
        <p:spPr>
          <a:xfrm xmlns:a="http://schemas.openxmlformats.org/drawingml/2006/main">
            <a:off x="9563100" y="52863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Thank you</a:t>
            </a:r>
          </a:p>
        </p:txBody>
      </p:sp>
      <p:sp>
        <p:nvSpPr>
          <p:cNvPr id="17" name="footer-rule-13">
            <a:extLst xmlns:a="http://schemas.openxmlformats.org/drawingml/2006/main">
              <a:ext uri="{FF2B5EF4-FFF2-40B4-BE49-F238E27FC236}">
                <a16:creationId xmlns:a16="http://schemas.microsoft.com/office/drawing/2014/main" id="{E9584A46-ABCB-4DE0-8ED4-775C17768C4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8" name="footer-brand-13">
            <a:extLst xmlns:a="http://schemas.openxmlformats.org/drawingml/2006/main">
              <a:ext uri="{FF2B5EF4-FFF2-40B4-BE49-F238E27FC236}">
                <a16:creationId xmlns:a16="http://schemas.microsoft.com/office/drawing/2014/main" id="{6AA96970-B03F-44D6-B24B-4288FCEE3CB1}"/>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9" name="footer-page-13">
            <a:extLst xmlns:a="http://schemas.openxmlformats.org/drawingml/2006/main">
              <a:ext uri="{FF2B5EF4-FFF2-40B4-BE49-F238E27FC236}">
                <a16:creationId xmlns:a16="http://schemas.microsoft.com/office/drawing/2014/main" id="{D9FA64A8-C1E2-46BF-B126-0C8BBDB30C0A}"/>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13 / 13</a:t>
            </a:r>
          </a:p>
        </p:txBody>
      </p:sp>
    </p:spTree>
    <p:extLst>
      <p:ext uri="{BB962C8B-B14F-4D97-AF65-F5344CB8AC3E}">
        <p14:creationId xmlns:p14="http://schemas.microsoft.com/office/powerpoint/2010/main" val="1915702510"/>
      </p:ext>
    </p:extLst>
  </p:cSld>
</p:sld>
</file>

<file path=ppt/theme/theme1.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2026-09-16T05:51:34.1610000Z</dcterms:created>
  <dcterms:modified xsi:type="dcterms:W3CDTF">2026-09-16T05:51:34.1610000Z</dcterms:modified>
</coreProperties>
</file>