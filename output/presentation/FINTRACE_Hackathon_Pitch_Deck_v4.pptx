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973720845f4722" /><Relationship Type="http://schemas.openxmlformats.org/officeDocument/2006/relationships/extended-properties" Target="/docProps/app.xml" Id="Rd84d60d5157d44bc" /><Relationship Type="http://schemas.openxmlformats.org/officeDocument/2006/relationships/officeDocument" Target="/ppt/presentation.xml" Id="Reb62ffbc11ed4c9b" /></Relationships>
</file>

<file path=ppt/presentation.xml><?xml version="1.0" encoding="utf-8"?>
<p:presentation xmlns:p="http://schemas.openxmlformats.org/presentationml/2006/main">
  <p:sldMasterIdLst>
    <p:sldMasterId xmlns:r="http://schemas.openxmlformats.org/officeDocument/2006/relationships" id="2147483648" r:id="R1400363e7260497c"/>
  </p:sldMasterIdLst>
  <p:notesMasterIdLst>
    <p:notesMasterId xmlns:r="http://schemas.openxmlformats.org/officeDocument/2006/relationships" r:id="R16615500bd2e4700"/>
  </p:notesMasterIdLst>
  <p:sldIdLst>
    <p:sldId xmlns:r="http://schemas.openxmlformats.org/officeDocument/2006/relationships" id="256" r:id="Re2cb0e4a68d045b8"/>
    <p:sldId xmlns:r="http://schemas.openxmlformats.org/officeDocument/2006/relationships" id="257" r:id="R186fd7334a814e90"/>
    <p:sldId xmlns:r="http://schemas.openxmlformats.org/officeDocument/2006/relationships" id="258" r:id="Rd43b234d57964fc7"/>
    <p:sldId xmlns:r="http://schemas.openxmlformats.org/officeDocument/2006/relationships" id="259" r:id="Rc1604f6da0554dc5"/>
    <p:sldId xmlns:r="http://schemas.openxmlformats.org/officeDocument/2006/relationships" id="260" r:id="R65b6a1ecb6224751"/>
    <p:sldId xmlns:r="http://schemas.openxmlformats.org/officeDocument/2006/relationships" id="261" r:id="Raedc9f4a46804d63"/>
    <p:sldId xmlns:r="http://schemas.openxmlformats.org/officeDocument/2006/relationships" id="262" r:id="R9021f75c22df45b1"/>
    <p:sldId xmlns:r="http://schemas.openxmlformats.org/officeDocument/2006/relationships" id="263" r:id="R41922109e99a4a45"/>
    <p:sldId xmlns:r="http://schemas.openxmlformats.org/officeDocument/2006/relationships" id="264" r:id="Rec8b15a6648f4108"/>
    <p:sldId xmlns:r="http://schemas.openxmlformats.org/officeDocument/2006/relationships" id="265" r:id="R4d88a5bcfd504ca1"/>
    <p:sldId xmlns:r="http://schemas.openxmlformats.org/officeDocument/2006/relationships" id="266" r:id="Rfffee5f5516b47b6"/>
    <p:sldId xmlns:r="http://schemas.openxmlformats.org/officeDocument/2006/relationships" id="267" r:id="R519762e467b045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c44da9c9474893" /><Relationship Type="http://schemas.openxmlformats.org/officeDocument/2006/relationships/slideMaster" Target="/ppt/slideMasters/slideMaster1.xml" Id="R1400363e7260497c" /><Relationship Type="http://schemas.openxmlformats.org/officeDocument/2006/relationships/notesMaster" Target="/ppt/notesMasters/notesMaster1.xml" Id="R16615500bd2e4700" /><Relationship Type="http://schemas.openxmlformats.org/officeDocument/2006/relationships/presProps" Target="/ppt/presProps.xml" Id="R86f8eeb4a48e428f" /><Relationship Type="http://schemas.openxmlformats.org/officeDocument/2006/relationships/tableStyles" Target="/ppt/tableStyles.xml" Id="Rc0515a5fefc84994" /><Relationship Type="http://schemas.openxmlformats.org/officeDocument/2006/relationships/slide" Target="/ppt/slides/slide1.xml" Id="Re2cb0e4a68d045b8" /><Relationship Type="http://schemas.openxmlformats.org/officeDocument/2006/relationships/slide" Target="/ppt/slides/slide2.xml" Id="R186fd7334a814e90" /><Relationship Type="http://schemas.openxmlformats.org/officeDocument/2006/relationships/slide" Target="/ppt/slides/slide3.xml" Id="Rd43b234d57964fc7" /><Relationship Type="http://schemas.openxmlformats.org/officeDocument/2006/relationships/slide" Target="/ppt/slides/slide4.xml" Id="Rc1604f6da0554dc5" /><Relationship Type="http://schemas.openxmlformats.org/officeDocument/2006/relationships/slide" Target="/ppt/slides/slide5.xml" Id="R65b6a1ecb6224751" /><Relationship Type="http://schemas.openxmlformats.org/officeDocument/2006/relationships/slide" Target="/ppt/slides/slide6.xml" Id="Raedc9f4a46804d63" /><Relationship Type="http://schemas.openxmlformats.org/officeDocument/2006/relationships/slide" Target="/ppt/slides/slide7.xml" Id="R9021f75c22df45b1" /><Relationship Type="http://schemas.openxmlformats.org/officeDocument/2006/relationships/slide" Target="/ppt/slides/slide8.xml" Id="R41922109e99a4a45" /><Relationship Type="http://schemas.openxmlformats.org/officeDocument/2006/relationships/slide" Target="/ppt/slides/slide9.xml" Id="Rec8b15a6648f4108" /><Relationship Type="http://schemas.openxmlformats.org/officeDocument/2006/relationships/slide" Target="/ppt/slides/slide10.xml" Id="R4d88a5bcfd504ca1" /><Relationship Type="http://schemas.openxmlformats.org/officeDocument/2006/relationships/slide" Target="/ppt/slides/slide11.xml" Id="Rfffee5f5516b47b6" /><Relationship Type="http://schemas.openxmlformats.org/officeDocument/2006/relationships/slide" Target="/ppt/slides/slide12.xml" Id="R519762e467b045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767c77268441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f826ad828647c7" /><Relationship Type="http://schemas.openxmlformats.org/officeDocument/2006/relationships/notesMaster" Target="/ppt/notesMasters/notesMaster1.xml" Id="R596c2d34bd454b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c3d69ff48c43e0" /><Relationship Type="http://schemas.openxmlformats.org/officeDocument/2006/relationships/notesMaster" Target="/ppt/notesMasters/notesMaster1.xml" Id="R169d2756ab8847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ff7de1a4594d3b" /><Relationship Type="http://schemas.openxmlformats.org/officeDocument/2006/relationships/notesMaster" Target="/ppt/notesMasters/notesMaster1.xml" Id="R434a9b21684c45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57bca213c34c6d" /><Relationship Type="http://schemas.openxmlformats.org/officeDocument/2006/relationships/notesMaster" Target="/ppt/notesMasters/notesMaster1.xml" Id="Rbb77822546f44e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c883c70ace4ed9" /><Relationship Type="http://schemas.openxmlformats.org/officeDocument/2006/relationships/notesMaster" Target="/ppt/notesMasters/notesMaster1.xml" Id="R80cf57dbeb7345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418fd70b0a441c" /><Relationship Type="http://schemas.openxmlformats.org/officeDocument/2006/relationships/notesMaster" Target="/ppt/notesMasters/notesMaster1.xml" Id="R47334a455ab04a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f65268cae7492c" /><Relationship Type="http://schemas.openxmlformats.org/officeDocument/2006/relationships/notesMaster" Target="/ppt/notesMasters/notesMaster1.xml" Id="Rbe224b4cffde49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a4f98f219044cf" /><Relationship Type="http://schemas.openxmlformats.org/officeDocument/2006/relationships/notesMaster" Target="/ppt/notesMasters/notesMaster1.xml" Id="R417a09c1e03c44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bf0c410f3242fb" /><Relationship Type="http://schemas.openxmlformats.org/officeDocument/2006/relationships/notesMaster" Target="/ppt/notesMasters/notesMaster1.xml" Id="R8b5d798aa2d344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261c4a26554a11" /><Relationship Type="http://schemas.openxmlformats.org/officeDocument/2006/relationships/notesMaster" Target="/ppt/notesMasters/notesMaster1.xml" Id="R6888f5c861434b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2b6bc741a742fc" /><Relationship Type="http://schemas.openxmlformats.org/officeDocument/2006/relationships/notesMaster" Target="/ppt/notesMasters/notesMaster1.xml" Id="R4f62492ec6024c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16b58706144fee" /><Relationship Type="http://schemas.openxmlformats.org/officeDocument/2006/relationships/notesMaster" Target="/ppt/notesMasters/notesMaster1.xml" Id="R4b565c1fa53843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FINTRACE separates input validation, cutoff-aware analysis, and analyst-facing surfaces. The browser uses the same analysis contract as the stateless Vercel Function when the endpoint is available, with local analysis as a fallback. Source: README.md, api/analyze.ts, src/services/analysisService.ts, src/hooks/useInvestigation.ts.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contract: the core score is collection plus rapid forwarding plus split-and-reconverge. The score can only be 30, 70, or 100 for a candidate. The graph pass adds bounded context such as fan-out, layering, cycles, velocity, path depth, and bottleneck values. These are review signals, not probabilities. Source: src/config/detector.ts, src/engine/analyze.ts, src/engine/intelligentAnalyze.ts,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access: the importer enforces a 2 MiB and 2,000-row limit, INR-only records, explicit ISO timestamps, exact paise arithmetic, and all-or-nothing validation. The Vercel endpoint is stateless. Supabase Auth and the investigations table are prepared for private saves, with owner-scoped row-level security. Source: README.md CSV, authentication, and Vercel sections, api/analyze.ts, supabase/schema.sql, src/engine/validate.ts.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4b6e2b900048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bcf9c548594f20" /><Relationship Type="http://schemas.openxmlformats.org/officeDocument/2006/relationships/slideLayout" Target="/ppt/slideLayouts/slideLayout1.xml" Id="Rd5a5db3d64cd47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a5db3d64cd47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2c29e5129747b7" /><Relationship Type="http://schemas.openxmlformats.org/officeDocument/2006/relationships/image" Target="/ppt/media/image.png" Id="R319300b8090746be" /><Relationship Type="http://schemas.openxmlformats.org/officeDocument/2006/relationships/notesSlide" Target="/ppt/notesSlides/notesSlide1.xml" Id="R6aa56e01f72f40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069905b32646dd" /><Relationship Type="http://schemas.openxmlformats.org/officeDocument/2006/relationships/notesSlide" Target="/ppt/notesSlides/notesSlide2.xml" Id="R407eddbb2e684f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570fa7288b49ac" /><Relationship Type="http://schemas.openxmlformats.org/officeDocument/2006/relationships/notesSlide" Target="/ppt/notesSlides/notesSlide3.xml" Id="R3f0a7a8e452c48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c4eb968cd0477e" /><Relationship Type="http://schemas.openxmlformats.org/officeDocument/2006/relationships/notesSlide" Target="/ppt/notesSlides/notesSlide4.xml" Id="Rc4c56ca91d8f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58e88161a44941" /><Relationship Type="http://schemas.openxmlformats.org/officeDocument/2006/relationships/image" Target="/ppt/media/image2.png" Id="R78853ecfae59429c" /><Relationship Type="http://schemas.openxmlformats.org/officeDocument/2006/relationships/notesSlide" Target="/ppt/notesSlides/notesSlide5.xml" Id="R5d9f28cf39004e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d1faeb29164c58" /><Relationship Type="http://schemas.openxmlformats.org/officeDocument/2006/relationships/chart" Target="/ppt/slides/charts/chart1.xml" Id="Rbfd5ed04e6de42fc" /><Relationship Type="http://schemas.openxmlformats.org/officeDocument/2006/relationships/notesSlide" Target="/ppt/notesSlides/notesSlide6.xml" Id="Ra34c7adeae48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4bf62530574090" /><Relationship Type="http://schemas.openxmlformats.org/officeDocument/2006/relationships/notesSlide" Target="/ppt/notesSlides/notesSlide7.xml" Id="Rab20fc61c05146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443dfc46e64cfc" /><Relationship Type="http://schemas.openxmlformats.org/officeDocument/2006/relationships/notesSlide" Target="/ppt/notesSlides/notesSlide8.xml" Id="R3c8fc8dc07bc4b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b0b201c04a4ee9" /><Relationship Type="http://schemas.openxmlformats.org/officeDocument/2006/relationships/notesSlide" Target="/ppt/notesSlides/notesSlide9.xml" Id="R460445859a654f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a92bf932cf4199" /><Relationship Type="http://schemas.openxmlformats.org/officeDocument/2006/relationships/notesSlide" Target="/ppt/notesSlides/notesSlide10.xml" Id="Rfc0391f943a944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971367f73a4da9" /><Relationship Type="http://schemas.openxmlformats.org/officeDocument/2006/relationships/notesSlide" Target="/ppt/notesSlides/notesSlide11.xml" Id="R857c518eb26d4c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439e7235144c8c" /><Relationship Type="http://schemas.openxmlformats.org/officeDocument/2006/relationships/notesSlide" Target="/ppt/notesSlides/notesSlide12.xml" Id="R73693a1a5ffc42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cover-accent-field">
            <a:extLst xmlns:a="http://schemas.openxmlformats.org/drawingml/2006/main">
              <a:ext uri="{FF2B5EF4-FFF2-40B4-BE49-F238E27FC236}">
                <a16:creationId xmlns:a16="http://schemas.microsoft.com/office/drawing/2014/main" id="{18436FFC-55C9-4B27-82A7-A47BD868809F}"/>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19300b8090746be"/>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0618C9AF-C9B9-4D4F-9799-E3D79CD30544}"/>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5B96CA12-AE77-41EF-8E1B-362C35F977C9}"/>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9D434173-BF59-41FD-8888-FF912AE53DE1}"/>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647E7335-A170-482F-BE5F-8ABBB525F2A0}"/>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B7BD0700-0313-4BF5-9482-0FEB3FB8FEB3}"/>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7F9C65C8-022D-4887-85F9-0402625875E5}"/>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D0F11512-2648-4746-9945-568F3725E04E}"/>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60B7F843-E2AE-4D22-B0DB-FBC32553894E}"/>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CF8D9A2B-4DFB-47E7-83F9-0201F83E6CA1}"/>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668929A1-A414-499A-ABA7-629FC043E996}"/>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052A50CC-107F-424F-A91D-22D9A18AA93C}"/>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cover-rule">
            <a:extLst xmlns:a="http://schemas.openxmlformats.org/drawingml/2006/main">
              <a:ext uri="{FF2B5EF4-FFF2-40B4-BE49-F238E27FC236}">
                <a16:creationId xmlns:a16="http://schemas.microsoft.com/office/drawing/2014/main" id="{6180F7E1-CD32-40A3-B769-7F75018C49A8}"/>
              </a:ext>
            </a:extLst>
          </p:cNvPr>
          <p:cNvSpPr>
            <a:spLocks xmlns:a="http://schemas.openxmlformats.org/drawingml/2006/main" noGrp="1"/>
          </p:cNvSpPr>
          <p:nvPr/>
        </p:nvSpPr>
        <p:spPr>
          <a:xfrm xmlns:a="http://schemas.openxmlformats.org/drawingml/2006/main">
            <a:off x="647700" y="4905375"/>
            <a:ext cx="4953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over-stack">
            <a:extLst xmlns:a="http://schemas.openxmlformats.org/drawingml/2006/main">
              <a:ext uri="{FF2B5EF4-FFF2-40B4-BE49-F238E27FC236}">
                <a16:creationId xmlns:a16="http://schemas.microsoft.com/office/drawing/2014/main" id="{934AE51E-C418-4FE0-8FD5-0CCA3F2D6162}"/>
              </a:ext>
            </a:extLst>
          </p:cNvPr>
          <p:cNvSpPr>
            <a:spLocks xmlns:a="http://schemas.openxmlformats.org/drawingml/2006/main" noGrp="1"/>
          </p:cNvSpPr>
          <p:nvPr/>
        </p:nvSpPr>
        <p:spPr>
          <a:xfrm xmlns:a="http://schemas.openxmlformats.org/drawingml/2006/main">
            <a:off x="647700" y="5124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REACT + VITE + TYPESCRIPT    /    VERCEL-READY</a:t>
            </a:r>
          </a:p>
        </p:txBody>
      </p:sp>
      <p:sp>
        <p:nvSpPr>
          <p:cNvPr id="16" name="cover-team">
            <a:extLst xmlns:a="http://schemas.openxmlformats.org/drawingml/2006/main">
              <a:ext uri="{FF2B5EF4-FFF2-40B4-BE49-F238E27FC236}">
                <a16:creationId xmlns:a16="http://schemas.microsoft.com/office/drawing/2014/main" id="{FFDC7EBA-69D7-42B1-B4D2-BFD6B53F5023}"/>
              </a:ext>
            </a:extLst>
          </p:cNvPr>
          <p:cNvSpPr>
            <a:spLocks xmlns:a="http://schemas.openxmlformats.org/drawingml/2006/main" noGrp="1"/>
          </p:cNvSpPr>
          <p:nvPr/>
        </p:nvSpPr>
        <p:spPr>
          <a:xfrm xmlns:a="http://schemas.openxmlformats.org/drawingml/2006/main">
            <a:off x="647700" y="55149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2-member hackathon team</a:t>
            </a:r>
          </a:p>
        </p:txBody>
      </p:sp>
      <p:sp>
        <p:nvSpPr>
          <p:cNvPr id="17" name="cover-date">
            <a:extLst xmlns:a="http://schemas.openxmlformats.org/drawingml/2006/main">
              <a:ext uri="{FF2B5EF4-FFF2-40B4-BE49-F238E27FC236}">
                <a16:creationId xmlns:a16="http://schemas.microsoft.com/office/drawing/2014/main" id="{8FBDE7AA-5BD2-4012-A223-6EE8BF56ABE9}"/>
              </a:ext>
            </a:extLst>
          </p:cNvPr>
          <p:cNvSpPr>
            <a:spLocks xmlns:a="http://schemas.openxmlformats.org/drawingml/2006/main" noGrp="1"/>
          </p:cNvSpPr>
          <p:nvPr/>
        </p:nvSpPr>
        <p:spPr>
          <a:xfrm xmlns:a="http://schemas.openxmlformats.org/drawingml/2006/main">
            <a:off x="647700" y="57435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18 SEPTEMBER 2026</a:t>
            </a:r>
          </a:p>
        </p:txBody>
      </p:sp>
      <p:sp>
        <p:nvSpPr>
          <p:cNvPr id="18" name="footer-rule-1">
            <a:extLst xmlns:a="http://schemas.openxmlformats.org/drawingml/2006/main">
              <a:ext uri="{FF2B5EF4-FFF2-40B4-BE49-F238E27FC236}">
                <a16:creationId xmlns:a16="http://schemas.microsoft.com/office/drawing/2014/main" id="{F377BA1D-7D42-4A1F-8B34-6F9D4853159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
            <a:extLst xmlns:a="http://schemas.openxmlformats.org/drawingml/2006/main">
              <a:ext uri="{FF2B5EF4-FFF2-40B4-BE49-F238E27FC236}">
                <a16:creationId xmlns:a16="http://schemas.microsoft.com/office/drawing/2014/main" id="{FF576EC3-EA47-4E20-A99D-CFA429702B19}"/>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
            <a:extLst xmlns:a="http://schemas.openxmlformats.org/drawingml/2006/main">
              <a:ext uri="{FF2B5EF4-FFF2-40B4-BE49-F238E27FC236}">
                <a16:creationId xmlns:a16="http://schemas.microsoft.com/office/drawing/2014/main" id="{DD310CA1-053E-4F22-AA80-0175642B0EF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12</a:t>
            </a:r>
          </a:p>
        </p:txBody>
      </p:sp>
    </p:spTree>
    <p:extLst>
      <p:ext uri="{BB962C8B-B14F-4D97-AF65-F5344CB8AC3E}">
        <p14:creationId xmlns:p14="http://schemas.microsoft.com/office/powerpoint/2010/main" val="674796862"/>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DFD4B78B-B9C6-4177-A482-42ACE77DBCD2}"/>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39F9F415-B352-47CE-ACFC-920C0DDBC63C}"/>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7A496C2C-2180-499E-9DD7-A362EE3CB83D}"/>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80120951-6D92-40A1-801B-3332EC3C4B5C}"/>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AD448A68-DF4D-4BC0-8720-6B1EB7DABFA7}"/>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28BA6F3D-7B3D-484B-8D2E-B7241F03A36E}"/>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F745A802-27A5-4E0B-8730-0DE043D0948C}"/>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F64A8E2E-A33A-4ABF-9C81-CCA9044CBD50}"/>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B0188BFA-E29C-4F58-9F89-A92FEE1B0A0A}"/>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AE0C4760-C053-4C9A-B9CA-17A80EE4693B}"/>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B48DA69C-B326-474A-97F2-93FFF0104947}"/>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8B394F54-EBD7-4D09-9E7A-08A04C0CCB44}"/>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EE6258E4-60EE-416C-9B7C-59577C01F673}"/>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ADD03E80-D2C4-4C04-B6E4-0C31E52360EF}"/>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9F75A13B-C484-4AFF-B510-AD16998DA49E}"/>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F306707E-AC7E-4BC6-992F-DC53A5ABB0CF}"/>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5C45230E-FCA0-4FEC-8F25-1AC5A970F1AF}"/>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738459ED-98CB-4D33-97CD-64860501D1A5}"/>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32DBE9B0-AF82-460B-AEE7-1D9175B2AAF8}"/>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F0CA15A4-438F-481D-B4A3-DD08EAF8134B}"/>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57DEDB10-BA81-4782-B853-E8CE509E82A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177C4232-DE88-4F95-9D01-97FC54E4B3A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932DCA8C-D5FE-4968-A111-DA5BFE0C9B8F}"/>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12</a:t>
            </a:r>
          </a:p>
        </p:txBody>
      </p:sp>
    </p:spTree>
    <p:extLst>
      <p:ext uri="{BB962C8B-B14F-4D97-AF65-F5344CB8AC3E}">
        <p14:creationId xmlns:p14="http://schemas.microsoft.com/office/powerpoint/2010/main" val="179861640"/>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2" name="architecture-kicker">
            <a:extLst xmlns:a="http://schemas.openxmlformats.org/drawingml/2006/main">
              <a:ext uri="{FF2B5EF4-FFF2-40B4-BE49-F238E27FC236}">
                <a16:creationId xmlns:a16="http://schemas.microsoft.com/office/drawing/2014/main" id="{7082BDC0-1844-43DD-8411-BBDF906BFCC7}"/>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SYSTEM ARCHITECTURE</a:t>
            </a:r>
          </a:p>
        </p:txBody>
      </p:sp>
      <p:sp>
        <p:nvSpPr>
          <p:cNvPr id="2" name="architecture-title">
            <a:extLst xmlns:a="http://schemas.openxmlformats.org/drawingml/2006/main">
              <a:ext uri="{FF2B5EF4-FFF2-40B4-BE49-F238E27FC236}">
                <a16:creationId xmlns:a16="http://schemas.microsoft.com/office/drawing/2014/main" id="{CD8C4E0C-39D1-4B1E-AD20-39A7708CDE7D}"/>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engine connects the entire review</a:t>
            </a:r>
          </a:p>
        </p:txBody>
      </p:sp>
      <p:sp>
        <p:nvSpPr>
          <p:cNvPr id="3" name="architecture-subtitle">
            <a:extLst xmlns:a="http://schemas.openxmlformats.org/drawingml/2006/main">
              <a:ext uri="{FF2B5EF4-FFF2-40B4-BE49-F238E27FC236}">
                <a16:creationId xmlns:a16="http://schemas.microsoft.com/office/drawing/2014/main" id="{BE3C4BA7-1EA2-4AB7-BE04-686A786E1250}"/>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Records enter once. A normalized, cutoff-aware snapshot feeds every analyst surface.</a:t>
            </a:r>
          </a:p>
        </p:txBody>
      </p:sp>
      <p:sp>
        <p:nvSpPr>
          <p:cNvPr id="4" name="architecture-rule">
            <a:extLst xmlns:a="http://schemas.openxmlformats.org/drawingml/2006/main">
              <a:ext uri="{FF2B5EF4-FFF2-40B4-BE49-F238E27FC236}">
                <a16:creationId xmlns:a16="http://schemas.microsoft.com/office/drawing/2014/main" id="{6578A5A1-7E28-48A3-8F4C-13021FEAD3AD}"/>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architecture-intake">
            <a:extLst xmlns:a="http://schemas.openxmlformats.org/drawingml/2006/main">
              <a:ext uri="{FF2B5EF4-FFF2-40B4-BE49-F238E27FC236}">
                <a16:creationId xmlns:a16="http://schemas.microsoft.com/office/drawing/2014/main" id="{FF3A6CEC-ACAE-48C1-B011-662B02F59196}"/>
              </a:ext>
            </a:extLst>
          </p:cNvPr>
          <p:cNvSpPr>
            <a:spLocks xmlns:a="http://schemas.openxmlformats.org/drawingml/2006/main" noGrp="1"/>
          </p:cNvSpPr>
          <p:nvPr/>
        </p:nvSpPr>
        <p:spPr>
          <a:xfrm xmlns:a="http://schemas.openxmlformats.org/drawingml/2006/main">
            <a:off x="6096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architecture-intake-label">
            <a:extLst xmlns:a="http://schemas.openxmlformats.org/drawingml/2006/main">
              <a:ext uri="{FF2B5EF4-FFF2-40B4-BE49-F238E27FC236}">
                <a16:creationId xmlns:a16="http://schemas.microsoft.com/office/drawing/2014/main" id="{6F5182F9-2C53-4119-A9D3-DF081B0BBB97}"/>
              </a:ext>
            </a:extLst>
          </p:cNvPr>
          <p:cNvSpPr>
            <a:spLocks xmlns:a="http://schemas.openxmlformats.org/drawingml/2006/main" noGrp="1"/>
          </p:cNvSpPr>
          <p:nvPr/>
        </p:nvSpPr>
        <p:spPr>
          <a:xfrm xmlns:a="http://schemas.openxmlformats.org/drawingml/2006/main">
            <a:off x="8382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01 / INTAKE</a:t>
            </a:r>
          </a:p>
        </p:txBody>
      </p:sp>
      <p:sp>
        <p:nvSpPr>
          <p:cNvPr id="7" name="architecture-intake-title">
            <a:extLst xmlns:a="http://schemas.openxmlformats.org/drawingml/2006/main">
              <a:ext uri="{FF2B5EF4-FFF2-40B4-BE49-F238E27FC236}">
                <a16:creationId xmlns:a16="http://schemas.microsoft.com/office/drawing/2014/main" id="{07F50952-97CE-4B13-8AA9-99B8DDA6149D}"/>
              </a:ext>
            </a:extLst>
          </p:cNvPr>
          <p:cNvSpPr>
            <a:spLocks xmlns:a="http://schemas.openxmlformats.org/drawingml/2006/main" noGrp="1"/>
          </p:cNvSpPr>
          <p:nvPr/>
        </p:nvSpPr>
        <p:spPr>
          <a:xfrm xmlns:a="http://schemas.openxmlformats.org/drawingml/2006/main">
            <a:off x="8382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Authorised records</a:t>
            </a:r>
          </a:p>
        </p:txBody>
      </p:sp>
      <p:sp>
        <p:nvSpPr>
          <p:cNvPr id="8" name="architecture-intake-copy">
            <a:extLst xmlns:a="http://schemas.openxmlformats.org/drawingml/2006/main">
              <a:ext uri="{FF2B5EF4-FFF2-40B4-BE49-F238E27FC236}">
                <a16:creationId xmlns:a16="http://schemas.microsoft.com/office/drawing/2014/main" id="{4C15B10E-7D0F-451A-98FD-091CC00C8342}"/>
              </a:ext>
            </a:extLst>
          </p:cNvPr>
          <p:cNvSpPr>
            <a:spLocks xmlns:a="http://schemas.openxmlformats.org/drawingml/2006/main" noGrp="1"/>
          </p:cNvSpPr>
          <p:nvPr/>
        </p:nvSpPr>
        <p:spPr>
          <a:xfrm xmlns:a="http://schemas.openxmlformats.org/drawingml/2006/main">
            <a:off x="8382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Demo fixture or validated CSV enters a single normalized contract.</a:t>
            </a:r>
          </a:p>
        </p:txBody>
      </p:sp>
      <p:sp>
        <p:nvSpPr>
          <p:cNvPr id="9" name="architecture-intake-rule-1">
            <a:extLst xmlns:a="http://schemas.openxmlformats.org/drawingml/2006/main">
              <a:ext uri="{FF2B5EF4-FFF2-40B4-BE49-F238E27FC236}">
                <a16:creationId xmlns:a16="http://schemas.microsoft.com/office/drawing/2014/main" id="{4922382E-C59B-4F16-BCB1-A79363133945}"/>
              </a:ext>
            </a:extLst>
          </p:cNvPr>
          <p:cNvSpPr>
            <a:spLocks xmlns:a="http://schemas.openxmlformats.org/drawingml/2006/main" noGrp="1"/>
          </p:cNvSpPr>
          <p:nvPr/>
        </p:nvSpPr>
        <p:spPr>
          <a:xfrm xmlns:a="http://schemas.openxmlformats.org/drawingml/2006/main">
            <a:off x="8382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0" name="architecture-intake-heading-1">
            <a:extLst xmlns:a="http://schemas.openxmlformats.org/drawingml/2006/main">
              <a:ext uri="{FF2B5EF4-FFF2-40B4-BE49-F238E27FC236}">
                <a16:creationId xmlns:a16="http://schemas.microsoft.com/office/drawing/2014/main" id="{6C5A571D-CD1C-45F1-9DCA-0848E9BB4091}"/>
              </a:ext>
            </a:extLst>
          </p:cNvPr>
          <p:cNvSpPr>
            <a:spLocks xmlns:a="http://schemas.openxmlformats.org/drawingml/2006/main" noGrp="1"/>
          </p:cNvSpPr>
          <p:nvPr/>
        </p:nvSpPr>
        <p:spPr>
          <a:xfrm xmlns:a="http://schemas.openxmlformats.org/drawingml/2006/main">
            <a:off x="8382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CSV parser</a:t>
            </a:r>
          </a:p>
        </p:txBody>
      </p:sp>
      <p:sp>
        <p:nvSpPr>
          <p:cNvPr id="11" name="architecture-intake-body-1">
            <a:extLst xmlns:a="http://schemas.openxmlformats.org/drawingml/2006/main">
              <a:ext uri="{FF2B5EF4-FFF2-40B4-BE49-F238E27FC236}">
                <a16:creationId xmlns:a16="http://schemas.microsoft.com/office/drawing/2014/main" id="{91955BC7-7460-49DE-BA23-BDCE1ED22A3D}"/>
              </a:ext>
            </a:extLst>
          </p:cNvPr>
          <p:cNvSpPr>
            <a:spLocks xmlns:a="http://schemas.openxmlformats.org/drawingml/2006/main" noGrp="1"/>
          </p:cNvSpPr>
          <p:nvPr/>
        </p:nvSpPr>
        <p:spPr>
          <a:xfrm xmlns:a="http://schemas.openxmlformats.org/drawingml/2006/main">
            <a:off x="17526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Papa Parse tokenisation</a:t>
            </a:r>
          </a:p>
        </p:txBody>
      </p:sp>
      <p:sp>
        <p:nvSpPr>
          <p:cNvPr id="12" name="architecture-intake-rule-2">
            <a:extLst xmlns:a="http://schemas.openxmlformats.org/drawingml/2006/main">
              <a:ext uri="{FF2B5EF4-FFF2-40B4-BE49-F238E27FC236}">
                <a16:creationId xmlns:a16="http://schemas.microsoft.com/office/drawing/2014/main" id="{A1E3440A-1E72-4FF9-8845-9639CF30E1C7}"/>
              </a:ext>
            </a:extLst>
          </p:cNvPr>
          <p:cNvSpPr>
            <a:spLocks xmlns:a="http://schemas.openxmlformats.org/drawingml/2006/main" noGrp="1"/>
          </p:cNvSpPr>
          <p:nvPr/>
        </p:nvSpPr>
        <p:spPr>
          <a:xfrm xmlns:a="http://schemas.openxmlformats.org/drawingml/2006/main">
            <a:off x="8382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3" name="architecture-intake-heading-2">
            <a:extLst xmlns:a="http://schemas.openxmlformats.org/drawingml/2006/main">
              <a:ext uri="{FF2B5EF4-FFF2-40B4-BE49-F238E27FC236}">
                <a16:creationId xmlns:a16="http://schemas.microsoft.com/office/drawing/2014/main" id="{96230E30-343D-46B0-A0F5-21EB24CF92EF}"/>
              </a:ext>
            </a:extLst>
          </p:cNvPr>
          <p:cNvSpPr>
            <a:spLocks xmlns:a="http://schemas.openxmlformats.org/drawingml/2006/main" noGrp="1"/>
          </p:cNvSpPr>
          <p:nvPr/>
        </p:nvSpPr>
        <p:spPr>
          <a:xfrm xmlns:a="http://schemas.openxmlformats.org/drawingml/2006/main">
            <a:off x="8382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Validation</a:t>
            </a:r>
          </a:p>
        </p:txBody>
      </p:sp>
      <p:sp>
        <p:nvSpPr>
          <p:cNvPr id="14" name="architecture-intake-body-2">
            <a:extLst xmlns:a="http://schemas.openxmlformats.org/drawingml/2006/main">
              <a:ext uri="{FF2B5EF4-FFF2-40B4-BE49-F238E27FC236}">
                <a16:creationId xmlns:a16="http://schemas.microsoft.com/office/drawing/2014/main" id="{FF3CAF83-88EF-41C6-9889-D45DEB19CB85}"/>
              </a:ext>
            </a:extLst>
          </p:cNvPr>
          <p:cNvSpPr>
            <a:spLocks xmlns:a="http://schemas.openxmlformats.org/drawingml/2006/main" noGrp="1"/>
          </p:cNvSpPr>
          <p:nvPr/>
        </p:nvSpPr>
        <p:spPr>
          <a:xfrm xmlns:a="http://schemas.openxmlformats.org/drawingml/2006/main">
            <a:off x="17526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six required fields</a:t>
            </a:r>
          </a:p>
        </p:txBody>
      </p:sp>
      <p:sp>
        <p:nvSpPr>
          <p:cNvPr id="15" name="architecture-intake-rule-3">
            <a:extLst xmlns:a="http://schemas.openxmlformats.org/drawingml/2006/main">
              <a:ext uri="{FF2B5EF4-FFF2-40B4-BE49-F238E27FC236}">
                <a16:creationId xmlns:a16="http://schemas.microsoft.com/office/drawing/2014/main" id="{E29D7772-D189-4A8E-958F-D8742FE64B50}"/>
              </a:ext>
            </a:extLst>
          </p:cNvPr>
          <p:cNvSpPr>
            <a:spLocks xmlns:a="http://schemas.openxmlformats.org/drawingml/2006/main" noGrp="1"/>
          </p:cNvSpPr>
          <p:nvPr/>
        </p:nvSpPr>
        <p:spPr>
          <a:xfrm xmlns:a="http://schemas.openxmlformats.org/drawingml/2006/main">
            <a:off x="8382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architecture-intake-heading-3">
            <a:extLst xmlns:a="http://schemas.openxmlformats.org/drawingml/2006/main">
              <a:ext uri="{FF2B5EF4-FFF2-40B4-BE49-F238E27FC236}">
                <a16:creationId xmlns:a16="http://schemas.microsoft.com/office/drawing/2014/main" id="{7E58FA65-54F8-4811-8786-76C94346E65D}"/>
              </a:ext>
            </a:extLst>
          </p:cNvPr>
          <p:cNvSpPr>
            <a:spLocks xmlns:a="http://schemas.openxmlformats.org/drawingml/2006/main" noGrp="1"/>
          </p:cNvSpPr>
          <p:nvPr/>
        </p:nvSpPr>
        <p:spPr>
          <a:xfrm xmlns:a="http://schemas.openxmlformats.org/drawingml/2006/main">
            <a:off x="8382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Money</a:t>
            </a:r>
          </a:p>
        </p:txBody>
      </p:sp>
      <p:sp>
        <p:nvSpPr>
          <p:cNvPr id="17" name="architecture-intake-body-3">
            <a:extLst xmlns:a="http://schemas.openxmlformats.org/drawingml/2006/main">
              <a:ext uri="{FF2B5EF4-FFF2-40B4-BE49-F238E27FC236}">
                <a16:creationId xmlns:a16="http://schemas.microsoft.com/office/drawing/2014/main" id="{4BFB2C6C-6439-49D8-9D08-60472B974EF1}"/>
              </a:ext>
            </a:extLst>
          </p:cNvPr>
          <p:cNvSpPr>
            <a:spLocks xmlns:a="http://schemas.openxmlformats.org/drawingml/2006/main" noGrp="1"/>
          </p:cNvSpPr>
          <p:nvPr/>
        </p:nvSpPr>
        <p:spPr>
          <a:xfrm xmlns:a="http://schemas.openxmlformats.org/drawingml/2006/main">
            <a:off x="17526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rupees to integer paise</a:t>
            </a:r>
          </a:p>
        </p:txBody>
      </p:sp>
      <p:sp>
        <p:nvSpPr>
          <p:cNvPr id="18" name="architecture-reasoning">
            <a:extLst xmlns:a="http://schemas.openxmlformats.org/drawingml/2006/main">
              <a:ext uri="{FF2B5EF4-FFF2-40B4-BE49-F238E27FC236}">
                <a16:creationId xmlns:a16="http://schemas.microsoft.com/office/drawing/2014/main" id="{DB823427-7CA6-4171-ABC1-16E6BF3390DC}"/>
              </a:ext>
            </a:extLst>
          </p:cNvPr>
          <p:cNvSpPr>
            <a:spLocks xmlns:a="http://schemas.openxmlformats.org/drawingml/2006/main" noGrp="1"/>
          </p:cNvSpPr>
          <p:nvPr/>
        </p:nvSpPr>
        <p:spPr>
          <a:xfrm xmlns:a="http://schemas.openxmlformats.org/drawingml/2006/main">
            <a:off x="4667250" y="2495550"/>
            <a:ext cx="2857500" cy="2724150"/>
          </a:xfrm>
          <a:prstGeom xmlns:a="http://schemas.openxmlformats.org/drawingml/2006/main" prst="roundRect">
            <a:avLst>
              <a:gd name="adj" fmla="val 6294"/>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9" name="architecture-reasoning-label">
            <a:extLst xmlns:a="http://schemas.openxmlformats.org/drawingml/2006/main">
              <a:ext uri="{FF2B5EF4-FFF2-40B4-BE49-F238E27FC236}">
                <a16:creationId xmlns:a16="http://schemas.microsoft.com/office/drawing/2014/main" id="{C0FBCFA1-58FC-4807-87E3-1702EC458D4C}"/>
              </a:ext>
            </a:extLst>
          </p:cNvPr>
          <p:cNvSpPr>
            <a:spLocks xmlns:a="http://schemas.openxmlformats.org/drawingml/2006/main" noGrp="1"/>
          </p:cNvSpPr>
          <p:nvPr/>
        </p:nvSpPr>
        <p:spPr>
          <a:xfrm xmlns:a="http://schemas.openxmlformats.org/drawingml/2006/main">
            <a:off x="48958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02 / REASONING</a:t>
            </a:r>
          </a:p>
        </p:txBody>
      </p:sp>
      <p:sp>
        <p:nvSpPr>
          <p:cNvPr id="20" name="architecture-reasoning-title">
            <a:extLst xmlns:a="http://schemas.openxmlformats.org/drawingml/2006/main">
              <a:ext uri="{FF2B5EF4-FFF2-40B4-BE49-F238E27FC236}">
                <a16:creationId xmlns:a16="http://schemas.microsoft.com/office/drawing/2014/main" id="{8CFE9093-C0A6-4822-9EE6-558A330E0884}"/>
              </a:ext>
            </a:extLst>
          </p:cNvPr>
          <p:cNvSpPr>
            <a:spLocks xmlns:a="http://schemas.openxmlformats.org/drawingml/2006/main" noGrp="1"/>
          </p:cNvSpPr>
          <p:nvPr/>
        </p:nvSpPr>
        <p:spPr>
          <a:xfrm xmlns:a="http://schemas.openxmlformats.org/drawingml/2006/main">
            <a:off x="489585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Snapshot engine</a:t>
            </a:r>
          </a:p>
        </p:txBody>
      </p:sp>
      <p:sp>
        <p:nvSpPr>
          <p:cNvPr id="21" name="architecture-reasoning-copy">
            <a:extLst xmlns:a="http://schemas.openxmlformats.org/drawingml/2006/main">
              <a:ext uri="{FF2B5EF4-FFF2-40B4-BE49-F238E27FC236}">
                <a16:creationId xmlns:a16="http://schemas.microsoft.com/office/drawing/2014/main" id="{32274BA5-F8E7-4CE8-B5DE-9128886FB402}"/>
              </a:ext>
            </a:extLst>
          </p:cNvPr>
          <p:cNvSpPr>
            <a:spLocks xmlns:a="http://schemas.openxmlformats.org/drawingml/2006/main" noGrp="1"/>
          </p:cNvSpPr>
          <p:nvPr/>
        </p:nvSpPr>
        <p:spPr>
          <a:xfrm xmlns:a="http://schemas.openxmlformats.org/drawingml/2006/main">
            <a:off x="4895850" y="3390900"/>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5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same request contract runs locally and through the stateless Vercel Function.</a:t>
            </a:r>
          </a:p>
        </p:txBody>
      </p:sp>
      <p:sp>
        <p:nvSpPr>
          <p:cNvPr id="22" name="architecture-reasoning-rule-1">
            <a:extLst xmlns:a="http://schemas.openxmlformats.org/drawingml/2006/main">
              <a:ext uri="{FF2B5EF4-FFF2-40B4-BE49-F238E27FC236}">
                <a16:creationId xmlns:a16="http://schemas.microsoft.com/office/drawing/2014/main" id="{E920FC8A-8636-414D-8BC1-E563ACE85E93}"/>
              </a:ext>
            </a:extLst>
          </p:cNvPr>
          <p:cNvSpPr>
            <a:spLocks xmlns:a="http://schemas.openxmlformats.org/drawingml/2006/main" noGrp="1"/>
          </p:cNvSpPr>
          <p:nvPr/>
        </p:nvSpPr>
        <p:spPr>
          <a:xfrm xmlns:a="http://schemas.openxmlformats.org/drawingml/2006/main">
            <a:off x="4895850" y="40195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3" name="architecture-reasoning-heading-1">
            <a:extLst xmlns:a="http://schemas.openxmlformats.org/drawingml/2006/main">
              <a:ext uri="{FF2B5EF4-FFF2-40B4-BE49-F238E27FC236}">
                <a16:creationId xmlns:a16="http://schemas.microsoft.com/office/drawing/2014/main" id="{529AFCD3-E533-4DCB-9584-F735B536C052}"/>
              </a:ext>
            </a:extLst>
          </p:cNvPr>
          <p:cNvSpPr>
            <a:spLocks xmlns:a="http://schemas.openxmlformats.org/drawingml/2006/main" noGrp="1"/>
          </p:cNvSpPr>
          <p:nvPr/>
        </p:nvSpPr>
        <p:spPr>
          <a:xfrm xmlns:a="http://schemas.openxmlformats.org/drawingml/2006/main">
            <a:off x="489585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Cutoff</a:t>
            </a:r>
          </a:p>
        </p:txBody>
      </p:sp>
      <p:sp>
        <p:nvSpPr>
          <p:cNvPr id="24" name="architecture-reasoning-body-1">
            <a:extLst xmlns:a="http://schemas.openxmlformats.org/drawingml/2006/main">
              <a:ext uri="{FF2B5EF4-FFF2-40B4-BE49-F238E27FC236}">
                <a16:creationId xmlns:a16="http://schemas.microsoft.com/office/drawing/2014/main" id="{5AF189DD-C57B-443A-B463-4351FC732DAC}"/>
              </a:ext>
            </a:extLst>
          </p:cNvPr>
          <p:cNvSpPr>
            <a:spLocks xmlns:a="http://schemas.openxmlformats.org/drawingml/2006/main" noGrp="1"/>
          </p:cNvSpPr>
          <p:nvPr/>
        </p:nvSpPr>
        <p:spPr>
          <a:xfrm xmlns:a="http://schemas.openxmlformats.org/drawingml/2006/main">
            <a:off x="581025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future rows excluded</a:t>
            </a:r>
          </a:p>
        </p:txBody>
      </p:sp>
      <p:sp>
        <p:nvSpPr>
          <p:cNvPr id="25" name="architecture-reasoning-rule-2">
            <a:extLst xmlns:a="http://schemas.openxmlformats.org/drawingml/2006/main">
              <a:ext uri="{FF2B5EF4-FFF2-40B4-BE49-F238E27FC236}">
                <a16:creationId xmlns:a16="http://schemas.microsoft.com/office/drawing/2014/main" id="{424E3132-416C-4C8A-AF70-0EC67E40376E}"/>
              </a:ext>
            </a:extLst>
          </p:cNvPr>
          <p:cNvSpPr>
            <a:spLocks xmlns:a="http://schemas.openxmlformats.org/drawingml/2006/main" noGrp="1"/>
          </p:cNvSpPr>
          <p:nvPr/>
        </p:nvSpPr>
        <p:spPr>
          <a:xfrm xmlns:a="http://schemas.openxmlformats.org/drawingml/2006/main">
            <a:off x="4895850" y="434340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6" name="architecture-reasoning-heading-2">
            <a:extLst xmlns:a="http://schemas.openxmlformats.org/drawingml/2006/main">
              <a:ext uri="{FF2B5EF4-FFF2-40B4-BE49-F238E27FC236}">
                <a16:creationId xmlns:a16="http://schemas.microsoft.com/office/drawing/2014/main" id="{43617E2C-F475-4C73-9530-EAFD2CEF3087}"/>
              </a:ext>
            </a:extLst>
          </p:cNvPr>
          <p:cNvSpPr>
            <a:spLocks xmlns:a="http://schemas.openxmlformats.org/drawingml/2006/main" noGrp="1"/>
          </p:cNvSpPr>
          <p:nvPr/>
        </p:nvSpPr>
        <p:spPr>
          <a:xfrm xmlns:a="http://schemas.openxmlformats.org/drawingml/2006/main">
            <a:off x="489585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Rules v1</a:t>
            </a:r>
          </a:p>
        </p:txBody>
      </p:sp>
      <p:sp>
        <p:nvSpPr>
          <p:cNvPr id="27" name="architecture-reasoning-body-2">
            <a:extLst xmlns:a="http://schemas.openxmlformats.org/drawingml/2006/main">
              <a:ext uri="{FF2B5EF4-FFF2-40B4-BE49-F238E27FC236}">
                <a16:creationId xmlns:a16="http://schemas.microsoft.com/office/drawing/2014/main" id="{5E0E2562-9DD7-49F1-BC91-FE89DB2C5DCA}"/>
              </a:ext>
            </a:extLst>
          </p:cNvPr>
          <p:cNvSpPr>
            <a:spLocks xmlns:a="http://schemas.openxmlformats.org/drawingml/2006/main" noGrp="1"/>
          </p:cNvSpPr>
          <p:nvPr/>
        </p:nvSpPr>
        <p:spPr>
          <a:xfrm xmlns:a="http://schemas.openxmlformats.org/drawingml/2006/main">
            <a:off x="581025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30 / 40 / 30 points</a:t>
            </a:r>
          </a:p>
        </p:txBody>
      </p:sp>
      <p:sp>
        <p:nvSpPr>
          <p:cNvPr id="28" name="architecture-reasoning-rule-3">
            <a:extLst xmlns:a="http://schemas.openxmlformats.org/drawingml/2006/main">
              <a:ext uri="{FF2B5EF4-FFF2-40B4-BE49-F238E27FC236}">
                <a16:creationId xmlns:a16="http://schemas.microsoft.com/office/drawing/2014/main" id="{B38857C4-7D2D-4C72-88A9-18482E92DCED}"/>
              </a:ext>
            </a:extLst>
          </p:cNvPr>
          <p:cNvSpPr>
            <a:spLocks xmlns:a="http://schemas.openxmlformats.org/drawingml/2006/main" noGrp="1"/>
          </p:cNvSpPr>
          <p:nvPr/>
        </p:nvSpPr>
        <p:spPr>
          <a:xfrm xmlns:a="http://schemas.openxmlformats.org/drawingml/2006/main">
            <a:off x="4895850" y="46672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9" name="architecture-reasoning-heading-3">
            <a:extLst xmlns:a="http://schemas.openxmlformats.org/drawingml/2006/main">
              <a:ext uri="{FF2B5EF4-FFF2-40B4-BE49-F238E27FC236}">
                <a16:creationId xmlns:a16="http://schemas.microsoft.com/office/drawing/2014/main" id="{8381C717-1D38-4038-92A4-FAB3F81F685B}"/>
              </a:ext>
            </a:extLst>
          </p:cNvPr>
          <p:cNvSpPr>
            <a:spLocks xmlns:a="http://schemas.openxmlformats.org/drawingml/2006/main" noGrp="1"/>
          </p:cNvSpPr>
          <p:nvPr/>
        </p:nvSpPr>
        <p:spPr>
          <a:xfrm xmlns:a="http://schemas.openxmlformats.org/drawingml/2006/main">
            <a:off x="489585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Graph v2</a:t>
            </a:r>
          </a:p>
        </p:txBody>
      </p:sp>
      <p:sp>
        <p:nvSpPr>
          <p:cNvPr id="30" name="architecture-reasoning-body-3">
            <a:extLst xmlns:a="http://schemas.openxmlformats.org/drawingml/2006/main">
              <a:ext uri="{FF2B5EF4-FFF2-40B4-BE49-F238E27FC236}">
                <a16:creationId xmlns:a16="http://schemas.microsoft.com/office/drawing/2014/main" id="{A4E6C869-2ABC-4AF6-98B9-C2C0822A550A}"/>
              </a:ext>
            </a:extLst>
          </p:cNvPr>
          <p:cNvSpPr>
            <a:spLocks xmlns:a="http://schemas.openxmlformats.org/drawingml/2006/main" noGrp="1"/>
          </p:cNvSpPr>
          <p:nvPr/>
        </p:nvSpPr>
        <p:spPr>
          <a:xfrm xmlns:a="http://schemas.openxmlformats.org/drawingml/2006/main">
            <a:off x="581025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paths and witnesses</a:t>
            </a:r>
          </a:p>
        </p:txBody>
      </p:sp>
      <p:sp>
        <p:nvSpPr>
          <p:cNvPr id="31" name="architecture-surfaces">
            <a:extLst xmlns:a="http://schemas.openxmlformats.org/drawingml/2006/main">
              <a:ext uri="{FF2B5EF4-FFF2-40B4-BE49-F238E27FC236}">
                <a16:creationId xmlns:a16="http://schemas.microsoft.com/office/drawing/2014/main" id="{D4D2438B-BC95-4846-9112-C8DFEE84C3CE}"/>
              </a:ext>
            </a:extLst>
          </p:cNvPr>
          <p:cNvSpPr>
            <a:spLocks xmlns:a="http://schemas.openxmlformats.org/drawingml/2006/main" noGrp="1"/>
          </p:cNvSpPr>
          <p:nvPr/>
        </p:nvSpPr>
        <p:spPr>
          <a:xfrm xmlns:a="http://schemas.openxmlformats.org/drawingml/2006/main">
            <a:off x="87249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architecture-surfaces-label">
            <a:extLst xmlns:a="http://schemas.openxmlformats.org/drawingml/2006/main">
              <a:ext uri="{FF2B5EF4-FFF2-40B4-BE49-F238E27FC236}">
                <a16:creationId xmlns:a16="http://schemas.microsoft.com/office/drawing/2014/main" id="{17F85AB7-412E-4FAF-8479-7407EE8CF091}"/>
              </a:ext>
            </a:extLst>
          </p:cNvPr>
          <p:cNvSpPr>
            <a:spLocks xmlns:a="http://schemas.openxmlformats.org/drawingml/2006/main" noGrp="1"/>
          </p:cNvSpPr>
          <p:nvPr/>
        </p:nvSpPr>
        <p:spPr>
          <a:xfrm xmlns:a="http://schemas.openxmlformats.org/drawingml/2006/main">
            <a:off x="89535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03 / SURFACES</a:t>
            </a:r>
          </a:p>
        </p:txBody>
      </p:sp>
      <p:sp>
        <p:nvSpPr>
          <p:cNvPr id="33" name="architecture-surfaces-title">
            <a:extLst xmlns:a="http://schemas.openxmlformats.org/drawingml/2006/main">
              <a:ext uri="{FF2B5EF4-FFF2-40B4-BE49-F238E27FC236}">
                <a16:creationId xmlns:a16="http://schemas.microsoft.com/office/drawing/2014/main" id="{78066E8C-4031-4C41-9480-1DDE4068B07F}"/>
              </a:ext>
            </a:extLst>
          </p:cNvPr>
          <p:cNvSpPr>
            <a:spLocks xmlns:a="http://schemas.openxmlformats.org/drawingml/2006/main" noGrp="1"/>
          </p:cNvSpPr>
          <p:nvPr/>
        </p:nvSpPr>
        <p:spPr>
          <a:xfrm xmlns:a="http://schemas.openxmlformats.org/drawingml/2006/main">
            <a:off x="89535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Analyst review</a:t>
            </a:r>
          </a:p>
        </p:txBody>
      </p:sp>
      <p:sp>
        <p:nvSpPr>
          <p:cNvPr id="34" name="architecture-surfaces-copy">
            <a:extLst xmlns:a="http://schemas.openxmlformats.org/drawingml/2006/main">
              <a:ext uri="{FF2B5EF4-FFF2-40B4-BE49-F238E27FC236}">
                <a16:creationId xmlns:a16="http://schemas.microsoft.com/office/drawing/2014/main" id="{A971D1B7-234D-4DEB-9DF3-338682B2150C}"/>
              </a:ext>
            </a:extLst>
          </p:cNvPr>
          <p:cNvSpPr>
            <a:spLocks xmlns:a="http://schemas.openxmlformats.org/drawingml/2006/main" noGrp="1"/>
          </p:cNvSpPr>
          <p:nvPr/>
        </p:nvSpPr>
        <p:spPr>
          <a:xfrm xmlns:a="http://schemas.openxmlformats.org/drawingml/2006/main">
            <a:off x="89535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3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Every visible view reads the same snapshot and linked transaction IDs.</a:t>
            </a:r>
          </a:p>
        </p:txBody>
      </p:sp>
      <p:sp>
        <p:nvSpPr>
          <p:cNvPr id="35" name="architecture-surfaces-rule-1">
            <a:extLst xmlns:a="http://schemas.openxmlformats.org/drawingml/2006/main">
              <a:ext uri="{FF2B5EF4-FFF2-40B4-BE49-F238E27FC236}">
                <a16:creationId xmlns:a16="http://schemas.microsoft.com/office/drawing/2014/main" id="{5581C41A-C4B8-45ED-8E54-3C79611807F0}"/>
              </a:ext>
            </a:extLst>
          </p:cNvPr>
          <p:cNvSpPr>
            <a:spLocks xmlns:a="http://schemas.openxmlformats.org/drawingml/2006/main" noGrp="1"/>
          </p:cNvSpPr>
          <p:nvPr/>
        </p:nvSpPr>
        <p:spPr>
          <a:xfrm xmlns:a="http://schemas.openxmlformats.org/drawingml/2006/main">
            <a:off x="89535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architecture-surfaces-heading-1">
            <a:extLst xmlns:a="http://schemas.openxmlformats.org/drawingml/2006/main">
              <a:ext uri="{FF2B5EF4-FFF2-40B4-BE49-F238E27FC236}">
                <a16:creationId xmlns:a16="http://schemas.microsoft.com/office/drawing/2014/main" id="{516A0ECB-B0C4-4088-A788-594EE2AE881B}"/>
              </a:ext>
            </a:extLst>
          </p:cNvPr>
          <p:cNvSpPr>
            <a:spLocks xmlns:a="http://schemas.openxmlformats.org/drawingml/2006/main" noGrp="1"/>
          </p:cNvSpPr>
          <p:nvPr/>
        </p:nvSpPr>
        <p:spPr>
          <a:xfrm xmlns:a="http://schemas.openxmlformats.org/drawingml/2006/main">
            <a:off x="89535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Queue</a:t>
            </a:r>
          </a:p>
        </p:txBody>
      </p:sp>
      <p:sp>
        <p:nvSpPr>
          <p:cNvPr id="37" name="architecture-surfaces-body-1">
            <a:extLst xmlns:a="http://schemas.openxmlformats.org/drawingml/2006/main">
              <a:ext uri="{FF2B5EF4-FFF2-40B4-BE49-F238E27FC236}">
                <a16:creationId xmlns:a16="http://schemas.microsoft.com/office/drawing/2014/main" id="{9C3D8028-4759-492F-B513-A0C4FE0E5D91}"/>
              </a:ext>
            </a:extLst>
          </p:cNvPr>
          <p:cNvSpPr>
            <a:spLocks xmlns:a="http://schemas.openxmlformats.org/drawingml/2006/main" noGrp="1"/>
          </p:cNvSpPr>
          <p:nvPr/>
        </p:nvSpPr>
        <p:spPr>
          <a:xfrm xmlns:a="http://schemas.openxmlformats.org/drawingml/2006/main">
            <a:off x="98679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priority per account</a:t>
            </a:r>
          </a:p>
        </p:txBody>
      </p:sp>
      <p:sp>
        <p:nvSpPr>
          <p:cNvPr id="38" name="architecture-surfaces-rule-2">
            <a:extLst xmlns:a="http://schemas.openxmlformats.org/drawingml/2006/main">
              <a:ext uri="{FF2B5EF4-FFF2-40B4-BE49-F238E27FC236}">
                <a16:creationId xmlns:a16="http://schemas.microsoft.com/office/drawing/2014/main" id="{AC4BE7AD-09A4-4AD0-8552-AFF3154E93C5}"/>
              </a:ext>
            </a:extLst>
          </p:cNvPr>
          <p:cNvSpPr>
            <a:spLocks xmlns:a="http://schemas.openxmlformats.org/drawingml/2006/main" noGrp="1"/>
          </p:cNvSpPr>
          <p:nvPr/>
        </p:nvSpPr>
        <p:spPr>
          <a:xfrm xmlns:a="http://schemas.openxmlformats.org/drawingml/2006/main">
            <a:off x="89535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architecture-surfaces-heading-2">
            <a:extLst xmlns:a="http://schemas.openxmlformats.org/drawingml/2006/main">
              <a:ext uri="{FF2B5EF4-FFF2-40B4-BE49-F238E27FC236}">
                <a16:creationId xmlns:a16="http://schemas.microsoft.com/office/drawing/2014/main" id="{8290B4EC-E520-4BA5-A063-D2FFB065D072}"/>
              </a:ext>
            </a:extLst>
          </p:cNvPr>
          <p:cNvSpPr>
            <a:spLocks xmlns:a="http://schemas.openxmlformats.org/drawingml/2006/main" noGrp="1"/>
          </p:cNvSpPr>
          <p:nvPr/>
        </p:nvSpPr>
        <p:spPr>
          <a:xfrm xmlns:a="http://schemas.openxmlformats.org/drawingml/2006/main">
            <a:off x="89535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Graph</a:t>
            </a:r>
          </a:p>
        </p:txBody>
      </p:sp>
      <p:sp>
        <p:nvSpPr>
          <p:cNvPr id="40" name="architecture-surfaces-body-2">
            <a:extLst xmlns:a="http://schemas.openxmlformats.org/drawingml/2006/main">
              <a:ext uri="{FF2B5EF4-FFF2-40B4-BE49-F238E27FC236}">
                <a16:creationId xmlns:a16="http://schemas.microsoft.com/office/drawing/2014/main" id="{ECD07D1E-F968-4C26-BFF3-84D79E7AAA95}"/>
              </a:ext>
            </a:extLst>
          </p:cNvPr>
          <p:cNvSpPr>
            <a:spLocks xmlns:a="http://schemas.openxmlformats.org/drawingml/2006/main" noGrp="1"/>
          </p:cNvSpPr>
          <p:nvPr/>
        </p:nvSpPr>
        <p:spPr>
          <a:xfrm xmlns:a="http://schemas.openxmlformats.org/drawingml/2006/main">
            <a:off x="98679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chronological paths</a:t>
            </a:r>
          </a:p>
        </p:txBody>
      </p:sp>
      <p:sp>
        <p:nvSpPr>
          <p:cNvPr id="41" name="architecture-surfaces-rule-3">
            <a:extLst xmlns:a="http://schemas.openxmlformats.org/drawingml/2006/main">
              <a:ext uri="{FF2B5EF4-FFF2-40B4-BE49-F238E27FC236}">
                <a16:creationId xmlns:a16="http://schemas.microsoft.com/office/drawing/2014/main" id="{B7F6C5A6-09F0-4A5C-9E16-389E78B15089}"/>
              </a:ext>
            </a:extLst>
          </p:cNvPr>
          <p:cNvSpPr>
            <a:spLocks xmlns:a="http://schemas.openxmlformats.org/drawingml/2006/main" noGrp="1"/>
          </p:cNvSpPr>
          <p:nvPr/>
        </p:nvSpPr>
        <p:spPr>
          <a:xfrm xmlns:a="http://schemas.openxmlformats.org/drawingml/2006/main">
            <a:off x="89535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42" name="architecture-surfaces-heading-3">
            <a:extLst xmlns:a="http://schemas.openxmlformats.org/drawingml/2006/main">
              <a:ext uri="{FF2B5EF4-FFF2-40B4-BE49-F238E27FC236}">
                <a16:creationId xmlns:a16="http://schemas.microsoft.com/office/drawing/2014/main" id="{D7D73CE3-343C-4382-B37C-086CF55F1634}"/>
              </a:ext>
            </a:extLst>
          </p:cNvPr>
          <p:cNvSpPr>
            <a:spLocks xmlns:a="http://schemas.openxmlformats.org/drawingml/2006/main" noGrp="1"/>
          </p:cNvSpPr>
          <p:nvPr/>
        </p:nvSpPr>
        <p:spPr>
          <a:xfrm xmlns:a="http://schemas.openxmlformats.org/drawingml/2006/main">
            <a:off x="89535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Evidence</a:t>
            </a:r>
          </a:p>
        </p:txBody>
      </p:sp>
      <p:sp>
        <p:nvSpPr>
          <p:cNvPr id="43" name="architecture-surfaces-body-3">
            <a:extLst xmlns:a="http://schemas.openxmlformats.org/drawingml/2006/main">
              <a:ext uri="{FF2B5EF4-FFF2-40B4-BE49-F238E27FC236}">
                <a16:creationId xmlns:a16="http://schemas.microsoft.com/office/drawing/2014/main" id="{C143CB69-9580-4EDF-A08A-2DB8836107FB}"/>
              </a:ext>
            </a:extLst>
          </p:cNvPr>
          <p:cNvSpPr>
            <a:spLocks xmlns:a="http://schemas.openxmlformats.org/drawingml/2006/main" noGrp="1"/>
          </p:cNvSpPr>
          <p:nvPr/>
        </p:nvSpPr>
        <p:spPr>
          <a:xfrm xmlns:a="http://schemas.openxmlformats.org/drawingml/2006/main">
            <a:off x="98679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rows, notes, export</a:t>
            </a:r>
          </a:p>
        </p:txBody>
      </p:sp>
      <p:cxnSp>
        <p:nvCxnSpPr>
          <p:cNvPr id="95" name=""/>
          <p:cNvCxnSpPr>
            <a:stCxn xmlns:a="http://schemas.openxmlformats.org/drawingml/2006/main" id="5" idx="3"/>
            <a:endCxn xmlns:a="http://schemas.openxmlformats.org/drawingml/2006/main" id="18" idx="1"/>
          </p:cNvCxnSpPr>
          <p:nvPr/>
        </p:nvCxnSpPr>
        <p:spPr>
          <a:xfrm xmlns:a="http://schemas.openxmlformats.org/drawingml/2006/main">
            <a:off x="3467100" y="3857625"/>
            <a:ext cx="1200150" cy="0"/>
          </a:xfrm>
          <a:prstGeom xmlns:a="http://schemas.openxmlformats.org/drawingml/2006/main" prst="straightConnector1">
            <a:avLst/>
          </a:prstGeom>
          <a:ln xmlns:a="http://schemas.openxmlformats.org/drawingml/2006/main" w="23813">
            <a:solidFill>
              <a:srgbClr val="2F6FE5"/>
            </a:solidFill>
            <a:prstDash val="solid"/>
            <a:tailEnd type="triangle" w="sm" len="sm"/>
          </a:ln>
        </p:spPr>
      </p:cxnSp>
      <p:cxnSp>
        <p:nvCxnSpPr>
          <p:cNvPr id="96" name=""/>
          <p:cNvCxnSpPr>
            <a:stCxn xmlns:a="http://schemas.openxmlformats.org/drawingml/2006/main" id="18" idx="3"/>
            <a:endCxn xmlns:a="http://schemas.openxmlformats.org/drawingml/2006/main" id="31" idx="1"/>
          </p:cNvCxnSpPr>
          <p:nvPr/>
        </p:nvCxnSpPr>
        <p:spPr>
          <a:xfrm xmlns:a="http://schemas.openxmlformats.org/drawingml/2006/main">
            <a:off x="7524750" y="3857625"/>
            <a:ext cx="1200150" cy="0"/>
          </a:xfrm>
          <a:prstGeom xmlns:a="http://schemas.openxmlformats.org/drawingml/2006/main" prst="straightConnector1">
            <a:avLst/>
          </a:prstGeom>
          <a:ln xmlns:a="http://schemas.openxmlformats.org/drawingml/2006/main" w="23813">
            <a:solidFill>
              <a:srgbClr val="63E0C5"/>
            </a:solidFill>
            <a:prstDash val="solid"/>
            <a:tailEnd type="triangle" w="sm" len="sm"/>
          </a:ln>
        </p:spPr>
      </p:cxnSp>
      <p:sp>
        <p:nvSpPr>
          <p:cNvPr id="46" name="architecture-bottom-band">
            <a:extLst xmlns:a="http://schemas.openxmlformats.org/drawingml/2006/main">
              <a:ext uri="{FF2B5EF4-FFF2-40B4-BE49-F238E27FC236}">
                <a16:creationId xmlns:a16="http://schemas.microsoft.com/office/drawing/2014/main" id="{965F9D3E-B5F3-4A02-AF49-442D46FECCEE}"/>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oundRect">
            <a:avLst>
              <a:gd name="adj" fmla="val 24000"/>
            </a:avLst>
          </a:prstGeom>
          <a:solidFill xmlns:a="http://schemas.openxmlformats.org/drawingml/2006/main">
            <a:srgbClr val="071429"/>
          </a:solidFill>
          <a:ln xmlns:a="http://schemas.openxmlformats.org/drawingml/2006/main" w="9525">
            <a:solidFill>
              <a:srgbClr val="17345B"/>
            </a:solidFill>
            <a:prstDash val="solid"/>
          </a:ln>
        </p:spPr>
      </p:sp>
      <p:sp>
        <p:nvSpPr>
          <p:cNvPr id="47" name="architecture-bottom-title">
            <a:extLst xmlns:a="http://schemas.openxmlformats.org/drawingml/2006/main">
              <a:ext uri="{FF2B5EF4-FFF2-40B4-BE49-F238E27FC236}">
                <a16:creationId xmlns:a16="http://schemas.microsoft.com/office/drawing/2014/main" id="{E804B108-B80A-45F3-A017-A83055292D38}"/>
              </a:ext>
            </a:extLst>
          </p:cNvPr>
          <p:cNvSpPr>
            <a:spLocks xmlns:a="http://schemas.openxmlformats.org/drawingml/2006/main" noGrp="1"/>
          </p:cNvSpPr>
          <p:nvPr/>
        </p:nvSpPr>
        <p:spPr>
          <a:xfrm xmlns:a="http://schemas.openxmlformats.org/drawingml/2006/main">
            <a:off x="838200" y="57054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0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Same snapshot, same answer</a:t>
            </a:r>
          </a:p>
        </p:txBody>
      </p:sp>
      <p:sp>
        <p:nvSpPr>
          <p:cNvPr id="48" name="architecture-bottom-copy">
            <a:extLst xmlns:a="http://schemas.openxmlformats.org/drawingml/2006/main">
              <a:ext uri="{FF2B5EF4-FFF2-40B4-BE49-F238E27FC236}">
                <a16:creationId xmlns:a16="http://schemas.microsoft.com/office/drawing/2014/main" id="{5299333F-29B4-453F-B21B-67D646255FCE}"/>
              </a:ext>
            </a:extLst>
          </p:cNvPr>
          <p:cNvSpPr>
            <a:spLocks xmlns:a="http://schemas.openxmlformats.org/drawingml/2006/main" noGrp="1"/>
          </p:cNvSpPr>
          <p:nvPr/>
        </p:nvSpPr>
        <p:spPr>
          <a:xfrm xmlns:a="http://schemas.openxmlformats.org/drawingml/2006/main">
            <a:off x="4171950" y="5705475"/>
            <a:ext cx="704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Queue, graph, evidence, replay, and export stay aligned at the selected cutoff.</a:t>
            </a:r>
          </a:p>
        </p:txBody>
      </p:sp>
      <p:sp>
        <p:nvSpPr>
          <p:cNvPr id="49" name="footer-rule-3">
            <a:extLst xmlns:a="http://schemas.openxmlformats.org/drawingml/2006/main">
              <a:ext uri="{FF2B5EF4-FFF2-40B4-BE49-F238E27FC236}">
                <a16:creationId xmlns:a16="http://schemas.microsoft.com/office/drawing/2014/main" id="{8EA1E0B4-AB68-4619-9045-E0008BD2FBB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0" name="footer-brand-3">
            <a:extLst xmlns:a="http://schemas.openxmlformats.org/drawingml/2006/main">
              <a:ext uri="{FF2B5EF4-FFF2-40B4-BE49-F238E27FC236}">
                <a16:creationId xmlns:a16="http://schemas.microsoft.com/office/drawing/2014/main" id="{AE6CC39F-72C3-4811-9C9B-F9FAD4228C90}"/>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51" name="footer-page-3">
            <a:extLst xmlns:a="http://schemas.openxmlformats.org/drawingml/2006/main">
              <a:ext uri="{FF2B5EF4-FFF2-40B4-BE49-F238E27FC236}">
                <a16:creationId xmlns:a16="http://schemas.microsoft.com/office/drawing/2014/main" id="{7B5D3CF6-A866-4C82-876B-1F8E807F6196}"/>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12</a:t>
            </a:r>
          </a:p>
        </p:txBody>
      </p:sp>
    </p:spTree>
    <p:extLst>
      <p:ext uri="{BB962C8B-B14F-4D97-AF65-F5344CB8AC3E}">
        <p14:creationId xmlns:p14="http://schemas.microsoft.com/office/powerpoint/2010/main" val="517886840"/>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E5094B07-27E8-4700-8120-C865EDB1D423}"/>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743B18F7-95E0-4018-8736-A190C234477E}"/>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525BC613-36B8-4FAD-A109-6E53610E3D19}"/>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CDFC2ECC-5BF4-49C8-800D-542DCF17E7FC}"/>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E3293F87-0FF6-414F-A36D-82010DE28964}"/>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44990120-0D3B-4DFE-881B-930DF0E21969}"/>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B2B5CC04-7772-45FF-82E3-DAC3475EB5EB}"/>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101A6252-5723-4AA7-B281-3A6FF1E5C9DD}"/>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3166A2C9-1568-411F-AC6A-67F7F080ECED}"/>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DF12C995-D18F-47C1-A75A-0DCBE50E674D}"/>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0EC9519F-7560-42EE-8AD2-AB92B86F3175}"/>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748B175B-B5F0-4035-AB4B-A6B48037D519}"/>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8275AB9A-4786-4BE1-AFD5-40CCB679D5D6}"/>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863C4AA3-EB39-4AA5-8BB3-F50ED5CB0FC0}"/>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876AC550-0FDC-4158-B55F-DE42A658B72D}"/>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39CFC057-4D5C-439B-A51B-7574A1629996}"/>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94FDFED0-0186-497B-9CBF-A5C70E6FD95F}"/>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59687DF8-E0C2-44B1-9EDC-E8A21DEBB7DA}"/>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9AB605B4-267D-402A-9050-21960D299360}"/>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15ACB29B-8929-4DEC-BF5D-8B447D14599A}"/>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C969AB86-F449-493B-A958-EBCE6CD582A7}"/>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72DC4937-2C60-4E55-BFD0-76055B4DE0EF}"/>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4">
            <a:extLst xmlns:a="http://schemas.openxmlformats.org/drawingml/2006/main">
              <a:ext uri="{FF2B5EF4-FFF2-40B4-BE49-F238E27FC236}">
                <a16:creationId xmlns:a16="http://schemas.microsoft.com/office/drawing/2014/main" id="{1BAE2372-615A-4AE9-83A1-D83C86DE64E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4">
            <a:extLst xmlns:a="http://schemas.openxmlformats.org/drawingml/2006/main">
              <a:ext uri="{FF2B5EF4-FFF2-40B4-BE49-F238E27FC236}">
                <a16:creationId xmlns:a16="http://schemas.microsoft.com/office/drawing/2014/main" id="{A7A3AEF8-AB92-454C-9914-4CE6DEF1D7A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4">
            <a:extLst xmlns:a="http://schemas.openxmlformats.org/drawingml/2006/main">
              <a:ext uri="{FF2B5EF4-FFF2-40B4-BE49-F238E27FC236}">
                <a16:creationId xmlns:a16="http://schemas.microsoft.com/office/drawing/2014/main" id="{89275336-594E-429D-9653-6DA2F18F26CC}"/>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04 / 12</a:t>
            </a:r>
          </a:p>
        </p:txBody>
      </p:sp>
    </p:spTree>
    <p:extLst>
      <p:ext uri="{BB962C8B-B14F-4D97-AF65-F5344CB8AC3E}">
        <p14:creationId xmlns:p14="http://schemas.microsoft.com/office/powerpoint/2010/main" val="857441614"/>
      </p:ext>
    </p:extLst>
  </p:cSld>
</p:sld>
</file>

<file path=ppt/slides/slide5.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D188C7D7-58BF-45A9-9217-92D23C1CB0A0}"/>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2416AFF3-83B4-466A-89B0-CCC207FE1926}"/>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C64A219E-DAEE-4D37-9E57-FBE4A594850B}"/>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7056FC39-65E2-424A-A653-DA8D3CDBC082}"/>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853ecfae59429c"/>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2D55E31F-31AD-4782-BE33-891775694309}"/>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740527B5-A01B-40C3-B08D-357BD1A2A5C9}"/>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37FACCB2-F477-4080-9801-7C5BD2B1B322}"/>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06A92B75-8376-4DC7-8160-2C311AA233AA}"/>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C9015D12-0A8F-4D64-B616-8B016EA78933}"/>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40F8E0F3-D3D0-4481-B189-F71533F8B710}"/>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93EC9E7B-B850-4DDC-AFD6-E749A4934F34}"/>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60ACB254-F2EF-4E1B-A8D9-F14C3DE12C95}"/>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C05C678F-D4C7-421B-8349-59B872C52CFE}"/>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5">
            <a:extLst xmlns:a="http://schemas.openxmlformats.org/drawingml/2006/main">
              <a:ext uri="{FF2B5EF4-FFF2-40B4-BE49-F238E27FC236}">
                <a16:creationId xmlns:a16="http://schemas.microsoft.com/office/drawing/2014/main" id="{66F7AB32-AF6C-442E-9278-E53EAF01F06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5">
            <a:extLst xmlns:a="http://schemas.openxmlformats.org/drawingml/2006/main">
              <a:ext uri="{FF2B5EF4-FFF2-40B4-BE49-F238E27FC236}">
                <a16:creationId xmlns:a16="http://schemas.microsoft.com/office/drawing/2014/main" id="{2F75E512-D5C4-426B-A487-568BEF0F1CB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5">
            <a:extLst xmlns:a="http://schemas.openxmlformats.org/drawingml/2006/main">
              <a:ext uri="{FF2B5EF4-FFF2-40B4-BE49-F238E27FC236}">
                <a16:creationId xmlns:a16="http://schemas.microsoft.com/office/drawing/2014/main" id="{7AFD5A83-F3F1-4DC6-A9B7-84441351AFE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05 / 12</a:t>
            </a:r>
          </a:p>
        </p:txBody>
      </p:sp>
    </p:spTree>
    <p:extLst>
      <p:ext uri="{BB962C8B-B14F-4D97-AF65-F5344CB8AC3E}">
        <p14:creationId xmlns:p14="http://schemas.microsoft.com/office/powerpoint/2010/main" val="451472750"/>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1DF7CE63-174D-4ED1-804C-24CBC31447D1}"/>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5498EEB3-5491-4B9B-99AF-7910C6E493FC}"/>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EC7DDA90-625F-46AE-BA62-165CA20925AA}"/>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66F56FBC-7B29-41B3-8E5C-58352A60D48A}"/>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388BBF86-3F0F-4786-BD8F-C1F106431BE3}"/>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AEDB2733-5824-4861-A35A-7C45875526E9}"/>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16A145FF-D0D0-4B4C-95D3-AA04B51EA84B}"/>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9E781824-A394-46BD-ADDB-A30F2B3DB67D}"/>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B4659A73-C9D4-42BE-AA9D-5F21F00D8AEA}"/>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D7DE4D71-C167-4FB6-A4BF-0E6B57C44921}"/>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C8894603-B55F-4AFD-8454-97F06947FB3A}"/>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2DFD6933-F8A8-4BA3-A6D9-BCBB732D651D}"/>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4646E8BA-A21F-4995-B83F-308CEA83FC14}"/>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68A1BF63-5A87-4ECE-8DDD-E484C4E1997F}"/>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D018DCEC-75A8-4ED8-B566-635627F1D903}"/>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bfd5ed04e6de42fc"/>
          </a:graphicData>
        </a:graphic>
      </p:graphicFrame>
      <p:sp>
        <p:nvSpPr>
          <p:cNvPr id="17" name="score-caveat">
            <a:extLst xmlns:a="http://schemas.openxmlformats.org/drawingml/2006/main">
              <a:ext uri="{FF2B5EF4-FFF2-40B4-BE49-F238E27FC236}">
                <a16:creationId xmlns:a16="http://schemas.microsoft.com/office/drawing/2014/main" id="{D306E8E7-39DF-4BEF-A5DD-4D336E50EC26}"/>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047370A7-A717-4304-A283-8B8365A9E92F}"/>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6">
            <a:extLst xmlns:a="http://schemas.openxmlformats.org/drawingml/2006/main">
              <a:ext uri="{FF2B5EF4-FFF2-40B4-BE49-F238E27FC236}">
                <a16:creationId xmlns:a16="http://schemas.microsoft.com/office/drawing/2014/main" id="{797702CF-9F48-42EC-91A2-D3F922314A0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6">
            <a:extLst xmlns:a="http://schemas.openxmlformats.org/drawingml/2006/main">
              <a:ext uri="{FF2B5EF4-FFF2-40B4-BE49-F238E27FC236}">
                <a16:creationId xmlns:a16="http://schemas.microsoft.com/office/drawing/2014/main" id="{09B4E105-B139-46F3-A9C5-123BB9DD3DB9}"/>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6">
            <a:extLst xmlns:a="http://schemas.openxmlformats.org/drawingml/2006/main">
              <a:ext uri="{FF2B5EF4-FFF2-40B4-BE49-F238E27FC236}">
                <a16:creationId xmlns:a16="http://schemas.microsoft.com/office/drawing/2014/main" id="{5FC9F586-4A41-4B48-BCEA-9C97CCBBF25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06 / 12</a:t>
            </a:r>
          </a:p>
        </p:txBody>
      </p:sp>
    </p:spTree>
    <p:extLst>
      <p:ext uri="{BB962C8B-B14F-4D97-AF65-F5344CB8AC3E}">
        <p14:creationId xmlns:p14="http://schemas.microsoft.com/office/powerpoint/2010/main" val="2049400742"/>
      </p:ext>
    </p:extLst>
  </p:cSld>
</p:sld>
</file>

<file path=ppt/slides/slide7.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5A8CCB65-A75C-4D98-805C-5D9F58E0EB95}"/>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E6FE20E3-4037-41E1-819C-FCFFA1F35E55}"/>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F2CA5D63-8A77-4E40-87B6-505148302C84}"/>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4E946370-AEF9-4B3C-BF9A-CF262E78CF6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AF114377-A488-4997-B60C-95C77090A690}"/>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AA424025-A870-4F88-9E83-484E3E210EC4}"/>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3F1163FB-5F1C-4E26-9082-B99BA9A07555}"/>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F75EC73C-C75B-4A5F-A4EE-EC1DBD6304B6}"/>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88A57C40-AF99-44EF-8C82-C284BA5A4ACD}"/>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04DCFA91-E6AB-4A58-B51A-3E9CE79E6BB4}"/>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E573705A-1B91-4134-ABA2-4DC6071214C4}"/>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40F52710-759A-422E-9431-B540330103B4}"/>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694CB1DA-9CDE-481C-A8A6-6E834A6BA084}"/>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C1E0BD9E-166E-4351-B09F-37E55D663C32}"/>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CABC6384-F08B-449B-B67E-F21B58ACE38C}"/>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F7309C30-D0A8-4780-805B-3D0061BDB6AD}"/>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33BA5F88-414D-4680-9A43-CD796E7041DC}"/>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737CB437-FBB5-4EFF-993A-65C3FE891459}"/>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709962AC-FFE9-4373-9F1D-80975BCCC1CF}"/>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5276E7CC-0191-4F6E-B87E-127B99E318A1}"/>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07DBF9D2-56FF-4687-A6BE-84116FC91CFB}"/>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3D3507B9-9C3E-4DBF-8BB5-447801D3EA1E}"/>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C8A25BCD-59E1-4702-BB19-7FE741C035FD}"/>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5EEF6CFE-BC0C-427D-B9F5-6554BB953DC7}"/>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DCBF8B9D-DA60-49D8-8B71-7D3B94424FE4}"/>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93A6C956-5F3A-4678-BABB-9055C1F6AB27}"/>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889D014D-2A0E-4204-9EFD-DDDC644907CF}"/>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D76DF3F6-FFAF-4F5C-A18B-B1E73204487B}"/>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470077EC-DC3F-46ED-9638-8787EEE65C44}"/>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00F2E987-CDCB-4BCE-A8D8-54846EEB99CB}"/>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3FFDAFE4-1415-4582-9CA2-B284F8F9B4D6}"/>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273C5A14-655E-4387-BBED-68E4B7A7EAAF}"/>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6198E557-36B6-46E1-ACED-05A4C054EAE3}"/>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298E52AC-4379-4259-AA17-F35DAE2E19F7}"/>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F2E7A7CA-91B8-489E-B87A-730A349277B8}"/>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66210303-3B9D-46C0-B15D-0F19318BA0FA}"/>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81B4F3AF-CB90-43B6-850C-1E9303311C74}"/>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4A6FDF1A-B451-4839-9D80-55ADCE47CC1C}"/>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972C48B8-CF27-4615-9E17-24FF424B7A62}"/>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3658ED89-FF3F-471D-8D71-E3C06843420D}"/>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D29E83AC-28D7-435A-B2D4-F621A6DB6961}"/>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C8D18B3C-CC4F-43DC-84BE-E53D21974967}"/>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14048DB1-6636-40B0-B61B-6F4D44DEF82D}"/>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7">
            <a:extLst xmlns:a="http://schemas.openxmlformats.org/drawingml/2006/main">
              <a:ext uri="{FF2B5EF4-FFF2-40B4-BE49-F238E27FC236}">
                <a16:creationId xmlns:a16="http://schemas.microsoft.com/office/drawing/2014/main" id="{6B5EBBE0-51BD-4D26-813D-DD6D944B642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7">
            <a:extLst xmlns:a="http://schemas.openxmlformats.org/drawingml/2006/main">
              <a:ext uri="{FF2B5EF4-FFF2-40B4-BE49-F238E27FC236}">
                <a16:creationId xmlns:a16="http://schemas.microsoft.com/office/drawing/2014/main" id="{8BB2AB3B-98CD-4A35-94C7-F481E9DBBBE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7">
            <a:extLst xmlns:a="http://schemas.openxmlformats.org/drawingml/2006/main">
              <a:ext uri="{FF2B5EF4-FFF2-40B4-BE49-F238E27FC236}">
                <a16:creationId xmlns:a16="http://schemas.microsoft.com/office/drawing/2014/main" id="{C84184B4-7939-429E-8BE0-7557DF27285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07 / 12</a:t>
            </a:r>
          </a:p>
        </p:txBody>
      </p:sp>
    </p:spTree>
    <p:extLst>
      <p:ext uri="{BB962C8B-B14F-4D97-AF65-F5344CB8AC3E}">
        <p14:creationId xmlns:p14="http://schemas.microsoft.com/office/powerpoint/2010/main" val="849472420"/>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rules-kicker">
            <a:extLst xmlns:a="http://schemas.openxmlformats.org/drawingml/2006/main">
              <a:ext uri="{FF2B5EF4-FFF2-40B4-BE49-F238E27FC236}">
                <a16:creationId xmlns:a16="http://schemas.microsoft.com/office/drawing/2014/main" id="{CC7AD5EE-E259-4B8C-8655-E18B4DBBB283}"/>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DETECTION CONTRACT</a:t>
            </a:r>
          </a:p>
        </p:txBody>
      </p:sp>
      <p:sp>
        <p:nvSpPr>
          <p:cNvPr id="2" name="rules-title">
            <a:extLst xmlns:a="http://schemas.openxmlformats.org/drawingml/2006/main">
              <a:ext uri="{FF2B5EF4-FFF2-40B4-BE49-F238E27FC236}">
                <a16:creationId xmlns:a16="http://schemas.microsoft.com/office/drawing/2014/main" id="{009AA4C3-9BCA-4B41-88FD-42C42AB8DE83}"/>
              </a:ext>
            </a:extLst>
          </p:cNvPr>
          <p:cNvSpPr>
            <a:spLocks xmlns:a="http://schemas.openxmlformats.org/drawingml/2006/main" noGrp="1"/>
          </p:cNvSpPr>
          <p:nvPr/>
        </p:nvSpPr>
        <p:spPr>
          <a:xfrm xmlns:a="http://schemas.openxmlformats.org/drawingml/2006/main">
            <a:off x="609600" y="828675"/>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Three rules turn a pattern into review priority</a:t>
            </a:r>
          </a:p>
        </p:txBody>
      </p:sp>
      <p:sp>
        <p:nvSpPr>
          <p:cNvPr id="3" name="rules-subtitle">
            <a:extLst xmlns:a="http://schemas.openxmlformats.org/drawingml/2006/main">
              <a:ext uri="{FF2B5EF4-FFF2-40B4-BE49-F238E27FC236}">
                <a16:creationId xmlns:a16="http://schemas.microsoft.com/office/drawing/2014/main" id="{C5679D69-BB4D-4A66-BEDD-B4D65C5D73A8}"/>
              </a:ext>
            </a:extLst>
          </p:cNvPr>
          <p:cNvSpPr>
            <a:spLocks xmlns:a="http://schemas.openxmlformats.org/drawingml/2006/main" noGrp="1"/>
          </p:cNvSpPr>
          <p:nvPr/>
        </p:nvSpPr>
        <p:spPr>
          <a:xfrm xmlns:a="http://schemas.openxmlformats.org/drawingml/2006/main">
            <a:off x="628650" y="148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score stays deterministic. The graph pass adds context without changing the core decision ladder.</a:t>
            </a:r>
          </a:p>
        </p:txBody>
      </p:sp>
      <p:sp>
        <p:nvSpPr>
          <p:cNvPr id="4" name="rules-rule">
            <a:extLst xmlns:a="http://schemas.openxmlformats.org/drawingml/2006/main">
              <a:ext uri="{FF2B5EF4-FFF2-40B4-BE49-F238E27FC236}">
                <a16:creationId xmlns:a16="http://schemas.microsoft.com/office/drawing/2014/main" id="{FE956BFF-58D6-4EA4-8E3B-F589C7B4281E}"/>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rules-row-1">
            <a:extLst xmlns:a="http://schemas.openxmlformats.org/drawingml/2006/main">
              <a:ext uri="{FF2B5EF4-FFF2-40B4-BE49-F238E27FC236}">
                <a16:creationId xmlns:a16="http://schemas.microsoft.com/office/drawing/2014/main" id="{B1225837-E3A9-43F3-9C29-F0A50E5FDECE}"/>
              </a:ext>
            </a:extLst>
          </p:cNvPr>
          <p:cNvSpPr>
            <a:spLocks xmlns:a="http://schemas.openxmlformats.org/drawingml/2006/main" noGrp="1"/>
          </p:cNvSpPr>
          <p:nvPr/>
        </p:nvSpPr>
        <p:spPr>
          <a:xfrm xmlns:a="http://schemas.openxmlformats.org/drawingml/2006/main">
            <a:off x="609600" y="2400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rules-points-1">
            <a:extLst xmlns:a="http://schemas.openxmlformats.org/drawingml/2006/main">
              <a:ext uri="{FF2B5EF4-FFF2-40B4-BE49-F238E27FC236}">
                <a16:creationId xmlns:a16="http://schemas.microsoft.com/office/drawing/2014/main" id="{30E570D3-90E0-4175-B2DB-B7F7117E4E7A}"/>
              </a:ext>
            </a:extLst>
          </p:cNvPr>
          <p:cNvSpPr>
            <a:spLocks xmlns:a="http://schemas.openxmlformats.org/drawingml/2006/main" noGrp="1"/>
          </p:cNvSpPr>
          <p:nvPr/>
        </p:nvSpPr>
        <p:spPr>
          <a:xfrm xmlns:a="http://schemas.openxmlformats.org/drawingml/2006/main">
            <a:off x="838200" y="2571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2F6FE5"/>
                </a:solidFill>
                <a:latin typeface="Helvetica Neue"/>
                <a:ea typeface="Helvetica Neue"/>
                <a:cs typeface="Helvetica Neue"/>
              </a:defRPr>
            </a:pPr>
            <a:r>
              <a:rPr sz="2175" b="1" i="0">
                <a:solidFill>
                  <a:srgbClr val="2F6FE5"/>
                </a:solidFill>
                <a:latin typeface="Helvetica Neue"/>
                <a:ea typeface="Helvetica Neue"/>
                <a:cs typeface="Helvetica Neue"/>
              </a:rPr>
              <a:t>+30</a:t>
            </a:r>
          </a:p>
        </p:txBody>
      </p:sp>
      <p:sp>
        <p:nvSpPr>
          <p:cNvPr id="7" name="rules-heading-1">
            <a:extLst xmlns:a="http://schemas.openxmlformats.org/drawingml/2006/main">
              <a:ext uri="{FF2B5EF4-FFF2-40B4-BE49-F238E27FC236}">
                <a16:creationId xmlns:a16="http://schemas.microsoft.com/office/drawing/2014/main" id="{E6C82659-A363-42A3-B95C-3FFE3A9C5478}"/>
              </a:ext>
            </a:extLst>
          </p:cNvPr>
          <p:cNvSpPr>
            <a:spLocks xmlns:a="http://schemas.openxmlformats.org/drawingml/2006/main" noGrp="1"/>
          </p:cNvSpPr>
          <p:nvPr/>
        </p:nvSpPr>
        <p:spPr>
          <a:xfrm xmlns:a="http://schemas.openxmlformats.org/drawingml/2006/main">
            <a:off x="1733550" y="2514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8" name="rules-body-1">
            <a:extLst xmlns:a="http://schemas.openxmlformats.org/drawingml/2006/main">
              <a:ext uri="{FF2B5EF4-FFF2-40B4-BE49-F238E27FC236}">
                <a16:creationId xmlns:a16="http://schemas.microsoft.com/office/drawing/2014/main" id="{DD4185F2-43C8-4F69-A31F-AF488D4EF08C}"/>
              </a:ext>
            </a:extLst>
          </p:cNvPr>
          <p:cNvSpPr>
            <a:spLocks xmlns:a="http://schemas.openxmlformats.org/drawingml/2006/main" noGrp="1"/>
          </p:cNvSpPr>
          <p:nvPr/>
        </p:nvSpPr>
        <p:spPr>
          <a:xfrm xmlns:a="http://schemas.openxmlformats.org/drawingml/2006/main">
            <a:off x="1733550" y="2771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8"/>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At least 6 distinct senders pay the focal account inside 10 minutes.</a:t>
            </a:r>
          </a:p>
        </p:txBody>
      </p:sp>
      <p:sp>
        <p:nvSpPr>
          <p:cNvPr id="9" name="rules-label-1">
            <a:extLst xmlns:a="http://schemas.openxmlformats.org/drawingml/2006/main">
              <a:ext uri="{FF2B5EF4-FFF2-40B4-BE49-F238E27FC236}">
                <a16:creationId xmlns:a16="http://schemas.microsoft.com/office/drawing/2014/main" id="{59A9B267-00C8-4812-89FB-6ECCBB2CBACD}"/>
              </a:ext>
            </a:extLst>
          </p:cNvPr>
          <p:cNvSpPr>
            <a:spLocks xmlns:a="http://schemas.openxmlformats.org/drawingml/2006/main" noGrp="1"/>
          </p:cNvSpPr>
          <p:nvPr/>
        </p:nvSpPr>
        <p:spPr>
          <a:xfrm xmlns:a="http://schemas.openxmlformats.org/drawingml/2006/main">
            <a:off x="4286250" y="2533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CANDIDATE STARTS HERE</a:t>
            </a:r>
          </a:p>
        </p:txBody>
      </p:sp>
      <p:sp>
        <p:nvSpPr>
          <p:cNvPr id="10" name="rules-row-2">
            <a:extLst xmlns:a="http://schemas.openxmlformats.org/drawingml/2006/main">
              <a:ext uri="{FF2B5EF4-FFF2-40B4-BE49-F238E27FC236}">
                <a16:creationId xmlns:a16="http://schemas.microsoft.com/office/drawing/2014/main" id="{4D4315F0-CB0D-436D-8C9F-8CF34D4D1675}"/>
              </a:ext>
            </a:extLst>
          </p:cNvPr>
          <p:cNvSpPr>
            <a:spLocks xmlns:a="http://schemas.openxmlformats.org/drawingml/2006/main" noGrp="1"/>
          </p:cNvSpPr>
          <p:nvPr/>
        </p:nvSpPr>
        <p:spPr>
          <a:xfrm xmlns:a="http://schemas.openxmlformats.org/drawingml/2006/main">
            <a:off x="609600" y="33528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ules-points-2">
            <a:extLst xmlns:a="http://schemas.openxmlformats.org/drawingml/2006/main">
              <a:ext uri="{FF2B5EF4-FFF2-40B4-BE49-F238E27FC236}">
                <a16:creationId xmlns:a16="http://schemas.microsoft.com/office/drawing/2014/main" id="{A325A1D8-BAB9-4C99-8591-8734FE92FB11}"/>
              </a:ext>
            </a:extLst>
          </p:cNvPr>
          <p:cNvSpPr>
            <a:spLocks xmlns:a="http://schemas.openxmlformats.org/drawingml/2006/main" noGrp="1"/>
          </p:cNvSpPr>
          <p:nvPr/>
        </p:nvSpPr>
        <p:spPr>
          <a:xfrm xmlns:a="http://schemas.openxmlformats.org/drawingml/2006/main">
            <a:off x="838200" y="35242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5D8EFF"/>
                </a:solidFill>
                <a:latin typeface="Helvetica Neue"/>
                <a:ea typeface="Helvetica Neue"/>
                <a:cs typeface="Helvetica Neue"/>
              </a:defRPr>
            </a:pPr>
            <a:r>
              <a:rPr sz="2175" b="1" i="0">
                <a:solidFill>
                  <a:srgbClr val="5D8EFF"/>
                </a:solidFill>
                <a:latin typeface="Helvetica Neue"/>
                <a:ea typeface="Helvetica Neue"/>
                <a:cs typeface="Helvetica Neue"/>
              </a:rPr>
              <a:t>+40</a:t>
            </a:r>
          </a:p>
        </p:txBody>
      </p:sp>
      <p:sp>
        <p:nvSpPr>
          <p:cNvPr id="12" name="rules-heading-2">
            <a:extLst xmlns:a="http://schemas.openxmlformats.org/drawingml/2006/main">
              <a:ext uri="{FF2B5EF4-FFF2-40B4-BE49-F238E27FC236}">
                <a16:creationId xmlns:a16="http://schemas.microsoft.com/office/drawing/2014/main" id="{92A42C03-5290-42DA-9E5A-1BB3234805C2}"/>
              </a:ext>
            </a:extLst>
          </p:cNvPr>
          <p:cNvSpPr>
            <a:spLocks xmlns:a="http://schemas.openxmlformats.org/drawingml/2006/main" noGrp="1"/>
          </p:cNvSpPr>
          <p:nvPr/>
        </p:nvSpPr>
        <p:spPr>
          <a:xfrm xmlns:a="http://schemas.openxmlformats.org/drawingml/2006/main">
            <a:off x="1733550" y="34671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rules-body-2">
            <a:extLst xmlns:a="http://schemas.openxmlformats.org/drawingml/2006/main">
              <a:ext uri="{FF2B5EF4-FFF2-40B4-BE49-F238E27FC236}">
                <a16:creationId xmlns:a16="http://schemas.microsoft.com/office/drawing/2014/main" id="{03A3EF45-C42C-4503-81F1-D41A4F3CC10B}"/>
              </a:ext>
            </a:extLst>
          </p:cNvPr>
          <p:cNvSpPr>
            <a:spLocks xmlns:a="http://schemas.openxmlformats.org/drawingml/2006/main" noGrp="1"/>
          </p:cNvSpPr>
          <p:nvPr/>
        </p:nvSpPr>
        <p:spPr>
          <a:xfrm xmlns:a="http://schemas.openxmlformats.org/drawingml/2006/main">
            <a:off x="1733550" y="37242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Observed outward volume reaches at least 80% of collection volume within 5 minutes.</a:t>
            </a:r>
          </a:p>
        </p:txBody>
      </p:sp>
      <p:sp>
        <p:nvSpPr>
          <p:cNvPr id="14" name="rules-label-2">
            <a:extLst xmlns:a="http://schemas.openxmlformats.org/drawingml/2006/main">
              <a:ext uri="{FF2B5EF4-FFF2-40B4-BE49-F238E27FC236}">
                <a16:creationId xmlns:a16="http://schemas.microsoft.com/office/drawing/2014/main" id="{679B53B9-3AEA-4735-8580-5DD6AA9D84E0}"/>
              </a:ext>
            </a:extLst>
          </p:cNvPr>
          <p:cNvSpPr>
            <a:spLocks xmlns:a="http://schemas.openxmlformats.org/drawingml/2006/main" noGrp="1"/>
          </p:cNvSpPr>
          <p:nvPr/>
        </p:nvSpPr>
        <p:spPr>
          <a:xfrm xmlns:a="http://schemas.openxmlformats.org/drawingml/2006/main">
            <a:off x="4286250" y="3486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REVIEW THRESHOLD</a:t>
            </a:r>
          </a:p>
        </p:txBody>
      </p:sp>
      <p:sp>
        <p:nvSpPr>
          <p:cNvPr id="15" name="rules-row-3">
            <a:extLst xmlns:a="http://schemas.openxmlformats.org/drawingml/2006/main">
              <a:ext uri="{FF2B5EF4-FFF2-40B4-BE49-F238E27FC236}">
                <a16:creationId xmlns:a16="http://schemas.microsoft.com/office/drawing/2014/main" id="{D1F6B2C2-6223-4180-A716-D804390C3666}"/>
              </a:ext>
            </a:extLst>
          </p:cNvPr>
          <p:cNvSpPr>
            <a:spLocks xmlns:a="http://schemas.openxmlformats.org/drawingml/2006/main" noGrp="1"/>
          </p:cNvSpPr>
          <p:nvPr/>
        </p:nvSpPr>
        <p:spPr>
          <a:xfrm xmlns:a="http://schemas.openxmlformats.org/drawingml/2006/main">
            <a:off x="609600" y="4305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ules-points-3">
            <a:extLst xmlns:a="http://schemas.openxmlformats.org/drawingml/2006/main">
              <a:ext uri="{FF2B5EF4-FFF2-40B4-BE49-F238E27FC236}">
                <a16:creationId xmlns:a16="http://schemas.microsoft.com/office/drawing/2014/main" id="{4E446151-CE18-4C89-A7E4-D6AA3DC42F6F}"/>
              </a:ext>
            </a:extLst>
          </p:cNvPr>
          <p:cNvSpPr>
            <a:spLocks xmlns:a="http://schemas.openxmlformats.org/drawingml/2006/main" noGrp="1"/>
          </p:cNvSpPr>
          <p:nvPr/>
        </p:nvSpPr>
        <p:spPr>
          <a:xfrm xmlns:a="http://schemas.openxmlformats.org/drawingml/2006/main">
            <a:off x="838200" y="4476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F2756C"/>
                </a:solidFill>
                <a:latin typeface="Helvetica Neue"/>
                <a:ea typeface="Helvetica Neue"/>
                <a:cs typeface="Helvetica Neue"/>
              </a:defRPr>
            </a:pPr>
            <a:r>
              <a:rPr sz="2175" b="1" i="0">
                <a:solidFill>
                  <a:srgbClr val="F2756C"/>
                </a:solidFill>
                <a:latin typeface="Helvetica Neue"/>
                <a:ea typeface="Helvetica Neue"/>
                <a:cs typeface="Helvetica Neue"/>
              </a:rPr>
              <a:t>+30</a:t>
            </a:r>
          </a:p>
        </p:txBody>
      </p:sp>
      <p:sp>
        <p:nvSpPr>
          <p:cNvPr id="17" name="rules-heading-3">
            <a:extLst xmlns:a="http://schemas.openxmlformats.org/drawingml/2006/main">
              <a:ext uri="{FF2B5EF4-FFF2-40B4-BE49-F238E27FC236}">
                <a16:creationId xmlns:a16="http://schemas.microsoft.com/office/drawing/2014/main" id="{01A088AF-2DE2-4BC0-A151-B5FB3F1D3DF7}"/>
              </a:ext>
            </a:extLst>
          </p:cNvPr>
          <p:cNvSpPr>
            <a:spLocks xmlns:a="http://schemas.openxmlformats.org/drawingml/2006/main" noGrp="1"/>
          </p:cNvSpPr>
          <p:nvPr/>
        </p:nvSpPr>
        <p:spPr>
          <a:xfrm xmlns:a="http://schemas.openxmlformats.org/drawingml/2006/main">
            <a:off x="1733550" y="4419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8" name="rules-body-3">
            <a:extLst xmlns:a="http://schemas.openxmlformats.org/drawingml/2006/main">
              <a:ext uri="{FF2B5EF4-FFF2-40B4-BE49-F238E27FC236}">
                <a16:creationId xmlns:a16="http://schemas.microsoft.com/office/drawing/2014/main" id="{870D0699-25CE-463B-B109-F3159415A379}"/>
              </a:ext>
            </a:extLst>
          </p:cNvPr>
          <p:cNvSpPr>
            <a:spLocks xmlns:a="http://schemas.openxmlformats.org/drawingml/2006/main" noGrp="1"/>
          </p:cNvSpPr>
          <p:nvPr/>
        </p:nvSpPr>
        <p:spPr>
          <a:xfrm xmlns:a="http://schemas.openxmlformats.org/drawingml/2006/main">
            <a:off x="1733550" y="4676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Two distinct first-hop recipients reach one common destination in chronological order.</a:t>
            </a:r>
          </a:p>
        </p:txBody>
      </p:sp>
      <p:sp>
        <p:nvSpPr>
          <p:cNvPr id="19" name="rules-label-3">
            <a:extLst xmlns:a="http://schemas.openxmlformats.org/drawingml/2006/main">
              <a:ext uri="{FF2B5EF4-FFF2-40B4-BE49-F238E27FC236}">
                <a16:creationId xmlns:a16="http://schemas.microsoft.com/office/drawing/2014/main" id="{07A00227-CEF3-47A5-94E0-4E997906744B}"/>
              </a:ext>
            </a:extLst>
          </p:cNvPr>
          <p:cNvSpPr>
            <a:spLocks xmlns:a="http://schemas.openxmlformats.org/drawingml/2006/main" noGrp="1"/>
          </p:cNvSpPr>
          <p:nvPr/>
        </p:nvSpPr>
        <p:spPr>
          <a:xfrm xmlns:a="http://schemas.openxmlformats.org/drawingml/2006/main">
            <a:off x="4286250" y="4438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F2756C"/>
                </a:solidFill>
                <a:latin typeface="Helvetica Neue"/>
                <a:ea typeface="Helvetica Neue"/>
                <a:cs typeface="Helvetica Neue"/>
              </a:defRPr>
            </a:pPr>
            <a:r>
              <a:rPr sz="750" b="1" i="0">
                <a:solidFill>
                  <a:srgbClr val="F2756C"/>
                </a:solidFill>
                <a:latin typeface="Helvetica Neue"/>
                <a:ea typeface="Helvetica Neue"/>
                <a:cs typeface="Helvetica Neue"/>
              </a:rPr>
              <a:t>HIGH-PRIORITY WITNESS</a:t>
            </a:r>
          </a:p>
        </p:txBody>
      </p:sp>
      <p:sp>
        <p:nvSpPr>
          <p:cNvPr id="20" name="rules-graph-context">
            <a:extLst xmlns:a="http://schemas.openxmlformats.org/drawingml/2006/main">
              <a:ext uri="{FF2B5EF4-FFF2-40B4-BE49-F238E27FC236}">
                <a16:creationId xmlns:a16="http://schemas.microsoft.com/office/drawing/2014/main" id="{06A05FCE-FE00-4C13-894E-C626A7FF14A5}"/>
              </a:ext>
            </a:extLst>
          </p:cNvPr>
          <p:cNvSpPr>
            <a:spLocks xmlns:a="http://schemas.openxmlformats.org/drawingml/2006/main" noGrp="1"/>
          </p:cNvSpPr>
          <p:nvPr/>
        </p:nvSpPr>
        <p:spPr>
          <a:xfrm xmlns:a="http://schemas.openxmlformats.org/drawingml/2006/main">
            <a:off x="6591300" y="2400300"/>
            <a:ext cx="4991100" cy="2647950"/>
          </a:xfrm>
          <a:prstGeom xmlns:a="http://schemas.openxmlformats.org/drawingml/2006/main" prst="roundRect">
            <a:avLst>
              <a:gd name="adj" fmla="val 6475"/>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21" name="rules-graph-label">
            <a:extLst xmlns:a="http://schemas.openxmlformats.org/drawingml/2006/main">
              <a:ext uri="{FF2B5EF4-FFF2-40B4-BE49-F238E27FC236}">
                <a16:creationId xmlns:a16="http://schemas.microsoft.com/office/drawing/2014/main" id="{6C743DFB-89A9-4086-A8C8-8C4631A7290D}"/>
              </a:ext>
            </a:extLst>
          </p:cNvPr>
          <p:cNvSpPr>
            <a:spLocks xmlns:a="http://schemas.openxmlformats.org/drawingml/2006/main" noGrp="1"/>
          </p:cNvSpPr>
          <p:nvPr/>
        </p:nvSpPr>
        <p:spPr>
          <a:xfrm xmlns:a="http://schemas.openxmlformats.org/drawingml/2006/main">
            <a:off x="6838950" y="2628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BOUNDED GRAPH CONTEXT</a:t>
            </a:r>
          </a:p>
        </p:txBody>
      </p:sp>
      <p:sp>
        <p:nvSpPr>
          <p:cNvPr id="22" name="rules-graph-title">
            <a:extLst xmlns:a="http://schemas.openxmlformats.org/drawingml/2006/main">
              <a:ext uri="{FF2B5EF4-FFF2-40B4-BE49-F238E27FC236}">
                <a16:creationId xmlns:a16="http://schemas.microsoft.com/office/drawing/2014/main" id="{5775374B-4697-473E-9067-00B27DAB508D}"/>
              </a:ext>
            </a:extLst>
          </p:cNvPr>
          <p:cNvSpPr>
            <a:spLocks xmlns:a="http://schemas.openxmlformats.org/drawingml/2006/main" noGrp="1"/>
          </p:cNvSpPr>
          <p:nvPr/>
        </p:nvSpPr>
        <p:spPr>
          <a:xfrm xmlns:a="http://schemas.openxmlformats.org/drawingml/2006/main">
            <a:off x="683895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fintrace-graph-v2</a:t>
            </a:r>
          </a:p>
        </p:txBody>
      </p:sp>
      <p:sp>
        <p:nvSpPr>
          <p:cNvPr id="23" name="rules-graph-big-1">
            <a:extLst xmlns:a="http://schemas.openxmlformats.org/drawingml/2006/main">
              <a:ext uri="{FF2B5EF4-FFF2-40B4-BE49-F238E27FC236}">
                <a16:creationId xmlns:a16="http://schemas.microsoft.com/office/drawing/2014/main" id="{2D80783C-6698-4301-8517-690D3EB32E92}"/>
              </a:ext>
            </a:extLst>
          </p:cNvPr>
          <p:cNvSpPr>
            <a:spLocks xmlns:a="http://schemas.openxmlformats.org/drawingml/2006/main" noGrp="1"/>
          </p:cNvSpPr>
          <p:nvPr/>
        </p:nvSpPr>
        <p:spPr>
          <a:xfrm xmlns:a="http://schemas.openxmlformats.org/drawingml/2006/main">
            <a:off x="6838950" y="33909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5 hops</a:t>
            </a:r>
          </a:p>
        </p:txBody>
      </p:sp>
      <p:sp>
        <p:nvSpPr>
          <p:cNvPr id="24" name="rules-graph-body-1">
            <a:extLst xmlns:a="http://schemas.openxmlformats.org/drawingml/2006/main">
              <a:ext uri="{FF2B5EF4-FFF2-40B4-BE49-F238E27FC236}">
                <a16:creationId xmlns:a16="http://schemas.microsoft.com/office/drawing/2014/main" id="{B3AA3529-C6D8-4254-9B47-4568C3EC31BC}"/>
              </a:ext>
            </a:extLst>
          </p:cNvPr>
          <p:cNvSpPr>
            <a:spLocks xmlns:a="http://schemas.openxmlformats.org/drawingml/2006/main" noGrp="1"/>
          </p:cNvSpPr>
          <p:nvPr/>
        </p:nvSpPr>
        <p:spPr>
          <a:xfrm xmlns:a="http://schemas.openxmlformats.org/drawingml/2006/main">
            <a:off x="7867650" y="3390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chronological path depth</a:t>
            </a:r>
          </a:p>
        </p:txBody>
      </p:sp>
      <p:sp>
        <p:nvSpPr>
          <p:cNvPr id="25" name="rules-graph-big-2">
            <a:extLst xmlns:a="http://schemas.openxmlformats.org/drawingml/2006/main">
              <a:ext uri="{FF2B5EF4-FFF2-40B4-BE49-F238E27FC236}">
                <a16:creationId xmlns:a16="http://schemas.microsoft.com/office/drawing/2014/main" id="{E5D52C0C-04FE-414C-842C-4D028D141F44}"/>
              </a:ext>
            </a:extLst>
          </p:cNvPr>
          <p:cNvSpPr>
            <a:spLocks xmlns:a="http://schemas.openxmlformats.org/drawingml/2006/main" noGrp="1"/>
          </p:cNvSpPr>
          <p:nvPr/>
        </p:nvSpPr>
        <p:spPr>
          <a:xfrm xmlns:a="http://schemas.openxmlformats.org/drawingml/2006/main">
            <a:off x="6838950" y="3733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30 min</a:t>
            </a:r>
          </a:p>
        </p:txBody>
      </p:sp>
      <p:sp>
        <p:nvSpPr>
          <p:cNvPr id="26" name="rules-graph-body-2">
            <a:extLst xmlns:a="http://schemas.openxmlformats.org/drawingml/2006/main">
              <a:ext uri="{FF2B5EF4-FFF2-40B4-BE49-F238E27FC236}">
                <a16:creationId xmlns:a16="http://schemas.microsoft.com/office/drawing/2014/main" id="{2CC8E127-0D16-409E-B274-6CB8CC97C1AF}"/>
              </a:ext>
            </a:extLst>
          </p:cNvPr>
          <p:cNvSpPr>
            <a:spLocks xmlns:a="http://schemas.openxmlformats.org/drawingml/2006/main" noGrp="1"/>
          </p:cNvSpPr>
          <p:nvPr/>
        </p:nvSpPr>
        <p:spPr>
          <a:xfrm xmlns:a="http://schemas.openxmlformats.org/drawingml/2006/main">
            <a:off x="7867650" y="37338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total trace window</a:t>
            </a:r>
          </a:p>
        </p:txBody>
      </p:sp>
      <p:sp>
        <p:nvSpPr>
          <p:cNvPr id="27" name="rules-graph-big-3">
            <a:extLst xmlns:a="http://schemas.openxmlformats.org/drawingml/2006/main">
              <a:ext uri="{FF2B5EF4-FFF2-40B4-BE49-F238E27FC236}">
                <a16:creationId xmlns:a16="http://schemas.microsoft.com/office/drawing/2014/main" id="{30BCAD40-5078-40BF-B57D-35E2F1CFF3F9}"/>
              </a:ext>
            </a:extLst>
          </p:cNvPr>
          <p:cNvSpPr>
            <a:spLocks xmlns:a="http://schemas.openxmlformats.org/drawingml/2006/main" noGrp="1"/>
          </p:cNvSpPr>
          <p:nvPr/>
        </p:nvSpPr>
        <p:spPr>
          <a:xfrm xmlns:a="http://schemas.openxmlformats.org/drawingml/2006/main">
            <a:off x="6838950" y="4076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10 min</a:t>
            </a:r>
          </a:p>
        </p:txBody>
      </p:sp>
      <p:sp>
        <p:nvSpPr>
          <p:cNvPr id="28" name="rules-graph-body-3">
            <a:extLst xmlns:a="http://schemas.openxmlformats.org/drawingml/2006/main">
              <a:ext uri="{FF2B5EF4-FFF2-40B4-BE49-F238E27FC236}">
                <a16:creationId xmlns:a16="http://schemas.microsoft.com/office/drawing/2014/main" id="{737B03E3-E5B6-427E-8BD4-26E684F0FA1C}"/>
              </a:ext>
            </a:extLst>
          </p:cNvPr>
          <p:cNvSpPr>
            <a:spLocks xmlns:a="http://schemas.openxmlformats.org/drawingml/2006/main" noGrp="1"/>
          </p:cNvSpPr>
          <p:nvPr/>
        </p:nvSpPr>
        <p:spPr>
          <a:xfrm xmlns:a="http://schemas.openxmlformats.org/drawingml/2006/main">
            <a:off x="7867650" y="40767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time between hops</a:t>
            </a:r>
          </a:p>
        </p:txBody>
      </p:sp>
      <p:sp>
        <p:nvSpPr>
          <p:cNvPr id="29" name="rules-graph-big-4">
            <a:extLst xmlns:a="http://schemas.openxmlformats.org/drawingml/2006/main">
              <a:ext uri="{FF2B5EF4-FFF2-40B4-BE49-F238E27FC236}">
                <a16:creationId xmlns:a16="http://schemas.microsoft.com/office/drawing/2014/main" id="{ACA29629-D914-4306-80FF-D6C010FF1792}"/>
              </a:ext>
            </a:extLst>
          </p:cNvPr>
          <p:cNvSpPr>
            <a:spLocks xmlns:a="http://schemas.openxmlformats.org/drawingml/2006/main" noGrp="1"/>
          </p:cNvSpPr>
          <p:nvPr/>
        </p:nvSpPr>
        <p:spPr>
          <a:xfrm xmlns:a="http://schemas.openxmlformats.org/drawingml/2006/main">
            <a:off x="6838950" y="44196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24 / 60</a:t>
            </a:r>
          </a:p>
        </p:txBody>
      </p:sp>
      <p:sp>
        <p:nvSpPr>
          <p:cNvPr id="30" name="rules-graph-body-4">
            <a:extLst xmlns:a="http://schemas.openxmlformats.org/drawingml/2006/main">
              <a:ext uri="{FF2B5EF4-FFF2-40B4-BE49-F238E27FC236}">
                <a16:creationId xmlns:a16="http://schemas.microsoft.com/office/drawing/2014/main" id="{2E454EDA-A030-464A-886C-4DFD8E85030B}"/>
              </a:ext>
            </a:extLst>
          </p:cNvPr>
          <p:cNvSpPr>
            <a:spLocks xmlns:a="http://schemas.openxmlformats.org/drawingml/2006/main" noGrp="1"/>
          </p:cNvSpPr>
          <p:nvPr/>
        </p:nvSpPr>
        <p:spPr>
          <a:xfrm xmlns:a="http://schemas.openxmlformats.org/drawingml/2006/main">
            <a:off x="7867650" y="4419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display cap for nodes and edges</a:t>
            </a:r>
          </a:p>
        </p:txBody>
      </p:sp>
      <p:sp>
        <p:nvSpPr>
          <p:cNvPr id="31" name="rules-graph-footnote">
            <a:extLst xmlns:a="http://schemas.openxmlformats.org/drawingml/2006/main">
              <a:ext uri="{FF2B5EF4-FFF2-40B4-BE49-F238E27FC236}">
                <a16:creationId xmlns:a16="http://schemas.microsoft.com/office/drawing/2014/main" id="{2C8C7DD2-123E-4158-9D3E-6C19ED28DE9C}"/>
              </a:ext>
            </a:extLst>
          </p:cNvPr>
          <p:cNvSpPr>
            <a:spLocks xmlns:a="http://schemas.openxmlformats.org/drawingml/2006/main" noGrp="1"/>
          </p:cNvSpPr>
          <p:nvPr/>
        </p:nvSpPr>
        <p:spPr>
          <a:xfrm xmlns:a="http://schemas.openxmlformats.org/drawingml/2006/main">
            <a:off x="6838950" y="4762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1">
                <a:solidFill>
                  <a:srgbClr val="8EA2BE"/>
                </a:solidFill>
                <a:latin typeface="Helvetica Neue"/>
                <a:ea typeface="Helvetica Neue"/>
                <a:cs typeface="Helvetica Neue"/>
              </a:defRPr>
            </a:pPr>
            <a:r>
              <a:rPr sz="900" b="0" i="1">
                <a:solidFill>
                  <a:srgbClr val="8EA2BE"/>
                </a:solidFill>
                <a:latin typeface="Helvetica Neue"/>
                <a:ea typeface="Helvetica Neue"/>
                <a:cs typeface="Helvetica Neue"/>
              </a:rPr>
              <a:t>Display limits are not detection limits.</a:t>
            </a:r>
          </a:p>
        </p:txBody>
      </p:sp>
      <p:sp>
        <p:nvSpPr>
          <p:cNvPr id="32" name="rules-score-band">
            <a:extLst xmlns:a="http://schemas.openxmlformats.org/drawingml/2006/main">
              <a:ext uri="{FF2B5EF4-FFF2-40B4-BE49-F238E27FC236}">
                <a16:creationId xmlns:a16="http://schemas.microsoft.com/office/drawing/2014/main" id="{62B2AF86-55BD-45DF-8826-07008238E856}"/>
              </a:ext>
            </a:extLst>
          </p:cNvPr>
          <p:cNvSpPr>
            <a:spLocks xmlns:a="http://schemas.openxmlformats.org/drawingml/2006/main" noGrp="1"/>
          </p:cNvSpPr>
          <p:nvPr/>
        </p:nvSpPr>
        <p:spPr>
          <a:xfrm xmlns:a="http://schemas.openxmlformats.org/drawingml/2006/main">
            <a:off x="6591300" y="5257800"/>
            <a:ext cx="49911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rules-score-label">
            <a:extLst xmlns:a="http://schemas.openxmlformats.org/drawingml/2006/main">
              <a:ext uri="{FF2B5EF4-FFF2-40B4-BE49-F238E27FC236}">
                <a16:creationId xmlns:a16="http://schemas.microsoft.com/office/drawing/2014/main" id="{456625BD-F6D0-47C4-9DA5-FFB609E668C6}"/>
              </a:ext>
            </a:extLst>
          </p:cNvPr>
          <p:cNvSpPr>
            <a:spLocks xmlns:a="http://schemas.openxmlformats.org/drawingml/2006/main" noGrp="1"/>
          </p:cNvSpPr>
          <p:nvPr/>
        </p:nvSpPr>
        <p:spPr>
          <a:xfrm xmlns:a="http://schemas.openxmlformats.org/drawingml/2006/main">
            <a:off x="6838950" y="54102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ONLY THREE CASE SCORES</a:t>
            </a:r>
          </a:p>
        </p:txBody>
      </p:sp>
      <p:sp>
        <p:nvSpPr>
          <p:cNvPr id="34" name="rules-score-values">
            <a:extLst xmlns:a="http://schemas.openxmlformats.org/drawingml/2006/main">
              <a:ext uri="{FF2B5EF4-FFF2-40B4-BE49-F238E27FC236}">
                <a16:creationId xmlns:a16="http://schemas.microsoft.com/office/drawing/2014/main" id="{84EF31B4-0C6F-4C97-B9BF-99AC55E059C7}"/>
              </a:ext>
            </a:extLst>
          </p:cNvPr>
          <p:cNvSpPr>
            <a:spLocks xmlns:a="http://schemas.openxmlformats.org/drawingml/2006/main" noGrp="1"/>
          </p:cNvSpPr>
          <p:nvPr/>
        </p:nvSpPr>
        <p:spPr>
          <a:xfrm xmlns:a="http://schemas.openxmlformats.org/drawingml/2006/main">
            <a:off x="6838950" y="56102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30     70     100</a:t>
            </a:r>
          </a:p>
        </p:txBody>
      </p:sp>
      <p:sp>
        <p:nvSpPr>
          <p:cNvPr id="35" name="rules-score-meaning">
            <a:extLst xmlns:a="http://schemas.openxmlformats.org/drawingml/2006/main">
              <a:ext uri="{FF2B5EF4-FFF2-40B4-BE49-F238E27FC236}">
                <a16:creationId xmlns:a16="http://schemas.microsoft.com/office/drawing/2014/main" id="{49BE3564-A116-4D6A-9565-9E9AA43C97AE}"/>
              </a:ext>
            </a:extLst>
          </p:cNvPr>
          <p:cNvSpPr>
            <a:spLocks xmlns:a="http://schemas.openxmlformats.org/drawingml/2006/main" noGrp="1"/>
          </p:cNvSpPr>
          <p:nvPr/>
        </p:nvSpPr>
        <p:spPr>
          <a:xfrm xmlns:a="http://schemas.openxmlformats.org/drawingml/2006/main">
            <a:off x="9315450" y="56388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0" i="0">
                <a:solidFill>
                  <a:srgbClr val="526782"/>
                </a:solidFill>
                <a:latin typeface="Helvetica Neue"/>
                <a:ea typeface="Helvetica Neue"/>
                <a:cs typeface="Helvetica Neue"/>
              </a:defRPr>
            </a:pPr>
            <a:r>
              <a:rPr sz="900" b="0" i="0">
                <a:solidFill>
                  <a:srgbClr val="526782"/>
                </a:solidFill>
                <a:latin typeface="Helvetica Neue"/>
                <a:ea typeface="Helvetica Neue"/>
                <a:cs typeface="Helvetica Neue"/>
              </a:rPr>
              <a:t>Monitor        Review        High priority</a:t>
            </a:r>
          </a:p>
        </p:txBody>
      </p:sp>
      <p:sp>
        <p:nvSpPr>
          <p:cNvPr id="36" name="footer-rule-8">
            <a:extLst xmlns:a="http://schemas.openxmlformats.org/drawingml/2006/main">
              <a:ext uri="{FF2B5EF4-FFF2-40B4-BE49-F238E27FC236}">
                <a16:creationId xmlns:a16="http://schemas.microsoft.com/office/drawing/2014/main" id="{FFC9BF85-6974-40E0-BB54-515AA8710B6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7" name="footer-brand-8">
            <a:extLst xmlns:a="http://schemas.openxmlformats.org/drawingml/2006/main">
              <a:ext uri="{FF2B5EF4-FFF2-40B4-BE49-F238E27FC236}">
                <a16:creationId xmlns:a16="http://schemas.microsoft.com/office/drawing/2014/main" id="{A32E2AC6-902D-4395-9D31-D9D317E8995F}"/>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8" name="footer-page-8">
            <a:extLst xmlns:a="http://schemas.openxmlformats.org/drawingml/2006/main">
              <a:ext uri="{FF2B5EF4-FFF2-40B4-BE49-F238E27FC236}">
                <a16:creationId xmlns:a16="http://schemas.microsoft.com/office/drawing/2014/main" id="{175E1567-AEF5-4240-8D66-3EDFF7902F6E}"/>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08 / 12</a:t>
            </a:r>
          </a:p>
        </p:txBody>
      </p:sp>
    </p:spTree>
    <p:extLst>
      <p:ext uri="{BB962C8B-B14F-4D97-AF65-F5344CB8AC3E}">
        <p14:creationId xmlns:p14="http://schemas.microsoft.com/office/powerpoint/2010/main" val="1882035312"/>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build-kicker">
            <a:extLst xmlns:a="http://schemas.openxmlformats.org/drawingml/2006/main">
              <a:ext uri="{FF2B5EF4-FFF2-40B4-BE49-F238E27FC236}">
                <a16:creationId xmlns:a16="http://schemas.microsoft.com/office/drawing/2014/main" id="{813C9EB1-024B-4F02-9A67-1C73DC347F70}"/>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FEF34ACD-1301-4C34-8066-04F1FF7EBE81}"/>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Ready demo, clear handoff</a:t>
            </a:r>
          </a:p>
        </p:txBody>
      </p:sp>
      <p:sp>
        <p:nvSpPr>
          <p:cNvPr id="3" name="build-subtitle">
            <a:extLst xmlns:a="http://schemas.openxmlformats.org/drawingml/2006/main">
              <a:ext uri="{FF2B5EF4-FFF2-40B4-BE49-F238E27FC236}">
                <a16:creationId xmlns:a16="http://schemas.microsoft.com/office/drawing/2014/main" id="{5E820E25-CE01-4E9A-95FC-98007D0F2E8C}"/>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core flow works today. The exact configuration for private Vercel workspaces is documented.</a:t>
            </a:r>
          </a:p>
        </p:txBody>
      </p:sp>
      <p:sp>
        <p:nvSpPr>
          <p:cNvPr id="4" name="build-rule">
            <a:extLst xmlns:a="http://schemas.openxmlformats.org/drawingml/2006/main">
              <a:ext uri="{FF2B5EF4-FFF2-40B4-BE49-F238E27FC236}">
                <a16:creationId xmlns:a16="http://schemas.microsoft.com/office/drawing/2014/main" id="{CCEEC0B8-3C28-4BC8-804A-104F8642E613}"/>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63083850-596A-45BD-8749-C6487E04792B}"/>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6663AA5C-2B22-45C0-ACFE-F287800757C9}"/>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637C8ECB-D13A-48EB-9557-7F01BEB924A8}"/>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D0D48900-D7DD-4AB2-8351-D0E4AE5B603C}"/>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30AB5E28-6177-45DE-9C4B-3644E359D4C3}"/>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B4F0A3E9-1CCA-413F-ABF4-77D895762997}"/>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A191918A-AD33-49CA-B82C-80576677FE39}"/>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8DAD3A8F-EB13-4D35-AC95-8130115F8E30}"/>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C6FFE7B4-DB27-44D6-A910-2858AB681DA6}"/>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local build blockers</a:t>
            </a:r>
          </a:p>
        </p:txBody>
      </p:sp>
      <p:sp>
        <p:nvSpPr>
          <p:cNvPr id="14" name="build-stat-body-3">
            <a:extLst xmlns:a="http://schemas.openxmlformats.org/drawingml/2006/main">
              <a:ext uri="{FF2B5EF4-FFF2-40B4-BE49-F238E27FC236}">
                <a16:creationId xmlns:a16="http://schemas.microsoft.com/office/drawing/2014/main" id="{E709B027-D27D-456C-B40B-ECD2D1BE0EB8}"/>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2AC99D49-129A-449B-A540-D316FA9A7C5F}"/>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3851449B-FE5F-487F-B96F-C7483E8DA035}"/>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B0C0DD94-0603-4138-B4F8-BEEF09E7BB03}"/>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A7257684-6385-4B32-979C-AC2CC5A4312F}"/>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E9228415-F852-4F46-9E65-A9EF9918943B}"/>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C50C6594-91C8-454C-9A44-B067F649841E}"/>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7837B34E-8477-4173-B2BC-5819102F5B36}"/>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2CD08A23-F6C3-449F-8F8A-C7D658AE88C3}"/>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B59DDBFF-B0B2-48A8-87A1-4E09C0C603CE}"/>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78F3B7FE-8154-4991-A9CC-DE664B01366D}"/>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230A7B29-BCC8-4326-A782-20044940148F}"/>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F36205AB-09C5-4E68-9037-935D7BA707CB}"/>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13CDF33C-40EA-4B09-B50B-E9004BFB55B4}"/>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team-label">
            <a:extLst xmlns:a="http://schemas.openxmlformats.org/drawingml/2006/main">
              <a:ext uri="{FF2B5EF4-FFF2-40B4-BE49-F238E27FC236}">
                <a16:creationId xmlns:a16="http://schemas.microsoft.com/office/drawing/2014/main" id="{040DD1D9-1425-41B2-9E6A-9E33DC585829}"/>
              </a:ext>
            </a:extLst>
          </p:cNvPr>
          <p:cNvSpPr>
            <a:spLocks xmlns:a="http://schemas.openxmlformats.org/drawingml/2006/main" noGrp="1"/>
          </p:cNvSpPr>
          <p:nvPr/>
        </p:nvSpPr>
        <p:spPr>
          <a:xfrm xmlns:a="http://schemas.openxmlformats.org/drawingml/2006/main">
            <a:off x="609600" y="5219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TWO-MEMBER HANDOFF</a:t>
            </a:r>
          </a:p>
        </p:txBody>
      </p:sp>
      <p:sp>
        <p:nvSpPr>
          <p:cNvPr id="29" name="build-bottom-band">
            <a:extLst xmlns:a="http://schemas.openxmlformats.org/drawingml/2006/main">
              <a:ext uri="{FF2B5EF4-FFF2-40B4-BE49-F238E27FC236}">
                <a16:creationId xmlns:a16="http://schemas.microsoft.com/office/drawing/2014/main" id="{FAD20B20-ED7B-46E0-BC7D-EC4FDB5880EC}"/>
              </a:ext>
            </a:extLst>
          </p:cNvPr>
          <p:cNvSpPr>
            <a:spLocks xmlns:a="http://schemas.openxmlformats.org/drawingml/2006/main" noGrp="1"/>
          </p:cNvSpPr>
          <p:nvPr/>
        </p:nvSpPr>
        <p:spPr>
          <a:xfrm xmlns:a="http://schemas.openxmlformats.org/drawingml/2006/main">
            <a:off x="609600" y="5429250"/>
            <a:ext cx="10972800" cy="609600"/>
          </a:xfrm>
          <a:prstGeom xmlns:a="http://schemas.openxmlformats.org/drawingml/2006/main" prst="roundRect">
            <a:avLst>
              <a:gd name="adj" fmla="val 18750"/>
            </a:avLst>
          </a:prstGeom>
          <a:solidFill xmlns:a="http://schemas.openxmlformats.org/drawingml/2006/main">
            <a:srgbClr val="071429"/>
          </a:solidFill>
          <a:ln xmlns:a="http://schemas.openxmlformats.org/drawingml/2006/main" w="9525">
            <a:solidFill>
              <a:srgbClr val="17345B"/>
            </a:solidFill>
            <a:prstDash val="solid"/>
          </a:ln>
        </p:spPr>
      </p:sp>
      <p:sp>
        <p:nvSpPr>
          <p:cNvPr id="30" name="build-member-one">
            <a:extLst xmlns:a="http://schemas.openxmlformats.org/drawingml/2006/main">
              <a:ext uri="{FF2B5EF4-FFF2-40B4-BE49-F238E27FC236}">
                <a16:creationId xmlns:a16="http://schemas.microsoft.com/office/drawing/2014/main" id="{EA7088D3-2CFA-4DF4-A345-76D91DA80D2E}"/>
              </a:ext>
            </a:extLst>
          </p:cNvPr>
          <p:cNvSpPr>
            <a:spLocks xmlns:a="http://schemas.openxmlformats.org/drawingml/2006/main" noGrp="1"/>
          </p:cNvSpPr>
          <p:nvPr/>
        </p:nvSpPr>
        <p:spPr>
          <a:xfrm xmlns:a="http://schemas.openxmlformats.org/drawingml/2006/main">
            <a:off x="83820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1</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Engine, API, rules, test matrix</a:t>
            </a:r>
          </a:p>
        </p:txBody>
      </p:sp>
      <p:sp>
        <p:nvSpPr>
          <p:cNvPr id="31" name="build-member-two">
            <a:extLst xmlns:a="http://schemas.openxmlformats.org/drawingml/2006/main">
              <a:ext uri="{FF2B5EF4-FFF2-40B4-BE49-F238E27FC236}">
                <a16:creationId xmlns:a16="http://schemas.microsoft.com/office/drawing/2014/main" id="{893C2460-323D-4B77-B6B6-00EBAAFABBD1}"/>
              </a:ext>
            </a:extLst>
          </p:cNvPr>
          <p:cNvSpPr>
            <a:spLocks xmlns:a="http://schemas.openxmlformats.org/drawingml/2006/main" noGrp="1"/>
          </p:cNvSpPr>
          <p:nvPr/>
        </p:nvSpPr>
        <p:spPr>
          <a:xfrm xmlns:a="http://schemas.openxmlformats.org/drawingml/2006/main">
            <a:off x="409575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2</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UI, graph, auth, demo flow</a:t>
            </a:r>
          </a:p>
        </p:txBody>
      </p:sp>
      <p:sp>
        <p:nvSpPr>
          <p:cNvPr id="32" name="build-shared-handoff">
            <a:extLst xmlns:a="http://schemas.openxmlformats.org/drawingml/2006/main">
              <a:ext uri="{FF2B5EF4-FFF2-40B4-BE49-F238E27FC236}">
                <a16:creationId xmlns:a16="http://schemas.microsoft.com/office/drawing/2014/main" id="{C6C8C0EF-B87B-43FC-9FE2-78142A078BE5}"/>
              </a:ext>
            </a:extLst>
          </p:cNvPr>
          <p:cNvSpPr>
            <a:spLocks xmlns:a="http://schemas.openxmlformats.org/drawingml/2006/main" noGrp="1"/>
          </p:cNvSpPr>
          <p:nvPr/>
        </p:nvSpPr>
        <p:spPr>
          <a:xfrm xmlns:a="http://schemas.openxmlformats.org/drawingml/2006/main">
            <a:off x="7353300" y="5562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SHARED</a:t>
            </a:r>
          </a:p>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Browser QA, pitch, Vercel setup</a:t>
            </a:r>
          </a:p>
        </p:txBody>
      </p:sp>
      <p:sp>
        <p:nvSpPr>
          <p:cNvPr id="33" name="footer-rule-9">
            <a:extLst xmlns:a="http://schemas.openxmlformats.org/drawingml/2006/main">
              <a:ext uri="{FF2B5EF4-FFF2-40B4-BE49-F238E27FC236}">
                <a16:creationId xmlns:a16="http://schemas.microsoft.com/office/drawing/2014/main" id="{A6B36DCA-74E9-4A22-9E0B-9E4F1A02522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4" name="footer-brand-9">
            <a:extLst xmlns:a="http://schemas.openxmlformats.org/drawingml/2006/main">
              <a:ext uri="{FF2B5EF4-FFF2-40B4-BE49-F238E27FC236}">
                <a16:creationId xmlns:a16="http://schemas.microsoft.com/office/drawing/2014/main" id="{D8244E49-496C-4A57-8D24-C35A71629A3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5" name="footer-page-9">
            <a:extLst xmlns:a="http://schemas.openxmlformats.org/drawingml/2006/main">
              <a:ext uri="{FF2B5EF4-FFF2-40B4-BE49-F238E27FC236}">
                <a16:creationId xmlns:a16="http://schemas.microsoft.com/office/drawing/2014/main" id="{312453C8-9A54-48E5-8316-ECC35945324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09 / 12</a:t>
            </a:r>
          </a:p>
        </p:txBody>
      </p:sp>
    </p:spTree>
    <p:extLst>
      <p:ext uri="{BB962C8B-B14F-4D97-AF65-F5344CB8AC3E}">
        <p14:creationId xmlns:p14="http://schemas.microsoft.com/office/powerpoint/2010/main" val="591594179"/>
      </p:ext>
    </p:extLst>
  </p:cSld>
</p:sld>
</file>

<file path=ppt/slides/slide10.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1" name="data-kicker">
            <a:extLst xmlns:a="http://schemas.openxmlformats.org/drawingml/2006/main">
              <a:ext uri="{FF2B5EF4-FFF2-40B4-BE49-F238E27FC236}">
                <a16:creationId xmlns:a16="http://schemas.microsoft.com/office/drawing/2014/main" id="{96EA4DC1-B884-45DE-87EF-C1E8F50D4A7B}"/>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DATA AND ACCESS</a:t>
            </a:r>
          </a:p>
        </p:txBody>
      </p:sp>
      <p:sp>
        <p:nvSpPr>
          <p:cNvPr id="2" name="data-title">
            <a:extLst xmlns:a="http://schemas.openxmlformats.org/drawingml/2006/main">
              <a:ext uri="{FF2B5EF4-FFF2-40B4-BE49-F238E27FC236}">
                <a16:creationId xmlns:a16="http://schemas.microsoft.com/office/drawing/2014/main" id="{BA3FE25F-4C34-4735-8917-ACBE8DDBEF28}"/>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prototype has a clear data contract</a:t>
            </a:r>
          </a:p>
        </p:txBody>
      </p:sp>
      <p:sp>
        <p:nvSpPr>
          <p:cNvPr id="3" name="data-subtitle">
            <a:extLst xmlns:a="http://schemas.openxmlformats.org/drawingml/2006/main">
              <a:ext uri="{FF2B5EF4-FFF2-40B4-BE49-F238E27FC236}">
                <a16:creationId xmlns:a16="http://schemas.microsoft.com/office/drawing/2014/main" id="{195452D1-6896-48BF-BCCB-23E49823844E}"/>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Strict intake protects the reasoning layer. Auth and row-level security protect saved cases when configured.</a:t>
            </a:r>
          </a:p>
        </p:txBody>
      </p:sp>
      <p:sp>
        <p:nvSpPr>
          <p:cNvPr id="4" name="data-rule">
            <a:extLst xmlns:a="http://schemas.openxmlformats.org/drawingml/2006/main">
              <a:ext uri="{FF2B5EF4-FFF2-40B4-BE49-F238E27FC236}">
                <a16:creationId xmlns:a16="http://schemas.microsoft.com/office/drawing/2014/main" id="{D37C4AE2-796E-44FA-935C-A7385253B2A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data-contract">
            <a:extLst xmlns:a="http://schemas.openxmlformats.org/drawingml/2006/main">
              <a:ext uri="{FF2B5EF4-FFF2-40B4-BE49-F238E27FC236}">
                <a16:creationId xmlns:a16="http://schemas.microsoft.com/office/drawing/2014/main" id="{400E0B3E-513B-4535-952E-7121A4380120}"/>
              </a:ext>
            </a:extLst>
          </p:cNvPr>
          <p:cNvSpPr>
            <a:spLocks xmlns:a="http://schemas.openxmlformats.org/drawingml/2006/main" noGrp="1"/>
          </p:cNvSpPr>
          <p:nvPr/>
        </p:nvSpPr>
        <p:spPr>
          <a:xfrm xmlns:a="http://schemas.openxmlformats.org/drawingml/2006/main">
            <a:off x="609600" y="2438400"/>
            <a:ext cx="4953000" cy="2971800"/>
          </a:xfrm>
          <a:prstGeom xmlns:a="http://schemas.openxmlformats.org/drawingml/2006/main" prst="roundRect">
            <a:avLst>
              <a:gd name="adj" fmla="val 5769"/>
            </a:avLst>
          </a:prstGeom>
          <a:solidFill xmlns:a="http://schemas.openxmlformats.org/drawingml/2006/main">
            <a:srgbClr val="0B1D38"/>
          </a:solidFill>
          <a:ln xmlns:a="http://schemas.openxmlformats.org/drawingml/2006/main" w="9525">
            <a:solidFill>
              <a:srgbClr val="244B77"/>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data-contract-label">
            <a:extLst xmlns:a="http://schemas.openxmlformats.org/drawingml/2006/main">
              <a:ext uri="{FF2B5EF4-FFF2-40B4-BE49-F238E27FC236}">
                <a16:creationId xmlns:a16="http://schemas.microsoft.com/office/drawing/2014/main" id="{A5468916-EF34-40DD-B6CA-D298849B62FB}"/>
              </a:ext>
            </a:extLst>
          </p:cNvPr>
          <p:cNvSpPr>
            <a:spLocks xmlns:a="http://schemas.openxmlformats.org/drawingml/2006/main" noGrp="1"/>
          </p:cNvSpPr>
          <p:nvPr/>
        </p:nvSpPr>
        <p:spPr>
          <a:xfrm xmlns:a="http://schemas.openxmlformats.org/drawingml/2006/main">
            <a:off x="857250" y="2667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INPUT CONTRACT</a:t>
            </a:r>
          </a:p>
        </p:txBody>
      </p:sp>
      <p:sp>
        <p:nvSpPr>
          <p:cNvPr id="7" name="data-contract-title">
            <a:extLst xmlns:a="http://schemas.openxmlformats.org/drawingml/2006/main">
              <a:ext uri="{FF2B5EF4-FFF2-40B4-BE49-F238E27FC236}">
                <a16:creationId xmlns:a16="http://schemas.microsoft.com/office/drawing/2014/main" id="{4D6DA36C-2492-4022-BB4B-776858A64BCD}"/>
              </a:ext>
            </a:extLst>
          </p:cNvPr>
          <p:cNvSpPr>
            <a:spLocks xmlns:a="http://schemas.openxmlformats.org/drawingml/2006/main" noGrp="1"/>
          </p:cNvSpPr>
          <p:nvPr/>
        </p:nvSpPr>
        <p:spPr>
          <a:xfrm xmlns:a="http://schemas.openxmlformats.org/drawingml/2006/main">
            <a:off x="857250" y="2990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Safe enough to reason over</a:t>
            </a:r>
          </a:p>
        </p:txBody>
      </p:sp>
      <p:sp>
        <p:nvSpPr>
          <p:cNvPr id="8" name="data-contract-limit">
            <a:extLst xmlns:a="http://schemas.openxmlformats.org/drawingml/2006/main">
              <a:ext uri="{FF2B5EF4-FFF2-40B4-BE49-F238E27FC236}">
                <a16:creationId xmlns:a16="http://schemas.microsoft.com/office/drawing/2014/main" id="{6871C17D-54C7-4A3A-929B-DC8E9D3BCB3C}"/>
              </a:ext>
            </a:extLst>
          </p:cNvPr>
          <p:cNvSpPr>
            <a:spLocks xmlns:a="http://schemas.openxmlformats.org/drawingml/2006/main" noGrp="1"/>
          </p:cNvSpPr>
          <p:nvPr/>
        </p:nvSpPr>
        <p:spPr>
          <a:xfrm xmlns:a="http://schemas.openxmlformats.org/drawingml/2006/main">
            <a:off x="857250" y="3429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63E0C5"/>
                </a:solidFill>
                <a:latin typeface="Helvetica Neue"/>
                <a:ea typeface="Helvetica Neue"/>
                <a:cs typeface="Helvetica Neue"/>
              </a:defRPr>
            </a:pPr>
            <a:r>
              <a:rPr sz="1875" b="1" i="0">
                <a:solidFill>
                  <a:srgbClr val="63E0C5"/>
                </a:solidFill>
                <a:latin typeface="Helvetica Neue"/>
                <a:ea typeface="Helvetica Neue"/>
                <a:cs typeface="Helvetica Neue"/>
              </a:rPr>
              <a:t>2 MiB  /  2,000 rows</a:t>
            </a:r>
          </a:p>
        </p:txBody>
      </p:sp>
      <p:sp>
        <p:nvSpPr>
          <p:cNvPr id="9" name="data-contract-rule-1">
            <a:extLst xmlns:a="http://schemas.openxmlformats.org/drawingml/2006/main">
              <a:ext uri="{FF2B5EF4-FFF2-40B4-BE49-F238E27FC236}">
                <a16:creationId xmlns:a16="http://schemas.microsoft.com/office/drawing/2014/main" id="{57826667-0D58-418C-AB65-A049F0F85E11}"/>
              </a:ext>
            </a:extLst>
          </p:cNvPr>
          <p:cNvSpPr>
            <a:spLocks xmlns:a="http://schemas.openxmlformats.org/drawingml/2006/main" noGrp="1"/>
          </p:cNvSpPr>
          <p:nvPr/>
        </p:nvSpPr>
        <p:spPr>
          <a:xfrm xmlns:a="http://schemas.openxmlformats.org/drawingml/2006/main">
            <a:off x="857250" y="38957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0" name="data-contract-heading-1">
            <a:extLst xmlns:a="http://schemas.openxmlformats.org/drawingml/2006/main">
              <a:ext uri="{FF2B5EF4-FFF2-40B4-BE49-F238E27FC236}">
                <a16:creationId xmlns:a16="http://schemas.microsoft.com/office/drawing/2014/main" id="{B5E8AFCB-EC14-47BA-B4D6-179FBDFA5F1C}"/>
              </a:ext>
            </a:extLst>
          </p:cNvPr>
          <p:cNvSpPr>
            <a:spLocks xmlns:a="http://schemas.openxmlformats.org/drawingml/2006/main" noGrp="1"/>
          </p:cNvSpPr>
          <p:nvPr/>
        </p:nvSpPr>
        <p:spPr>
          <a:xfrm xmlns:a="http://schemas.openxmlformats.org/drawingml/2006/main">
            <a:off x="857250" y="3962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INR only</a:t>
            </a:r>
          </a:p>
        </p:txBody>
      </p:sp>
      <p:sp>
        <p:nvSpPr>
          <p:cNvPr id="11" name="data-contract-body-1">
            <a:extLst xmlns:a="http://schemas.openxmlformats.org/drawingml/2006/main">
              <a:ext uri="{FF2B5EF4-FFF2-40B4-BE49-F238E27FC236}">
                <a16:creationId xmlns:a16="http://schemas.microsoft.com/office/drawing/2014/main" id="{B7CBD346-DD58-4C13-B5F0-6719D4068CC5}"/>
              </a:ext>
            </a:extLst>
          </p:cNvPr>
          <p:cNvSpPr>
            <a:spLocks xmlns:a="http://schemas.openxmlformats.org/drawingml/2006/main" noGrp="1"/>
          </p:cNvSpPr>
          <p:nvPr/>
        </p:nvSpPr>
        <p:spPr>
          <a:xfrm xmlns:a="http://schemas.openxmlformats.org/drawingml/2006/main">
            <a:off x="2057400" y="39624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reject mixed currencies</a:t>
            </a:r>
          </a:p>
        </p:txBody>
      </p:sp>
      <p:sp>
        <p:nvSpPr>
          <p:cNvPr id="12" name="data-contract-rule-2">
            <a:extLst xmlns:a="http://schemas.openxmlformats.org/drawingml/2006/main">
              <a:ext uri="{FF2B5EF4-FFF2-40B4-BE49-F238E27FC236}">
                <a16:creationId xmlns:a16="http://schemas.microsoft.com/office/drawing/2014/main" id="{5F0D8E58-88B3-441A-BD36-65BED35B0197}"/>
              </a:ext>
            </a:extLst>
          </p:cNvPr>
          <p:cNvSpPr>
            <a:spLocks xmlns:a="http://schemas.openxmlformats.org/drawingml/2006/main" noGrp="1"/>
          </p:cNvSpPr>
          <p:nvPr/>
        </p:nvSpPr>
        <p:spPr>
          <a:xfrm xmlns:a="http://schemas.openxmlformats.org/drawingml/2006/main">
            <a:off x="857250" y="42005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3" name="data-contract-heading-2">
            <a:extLst xmlns:a="http://schemas.openxmlformats.org/drawingml/2006/main">
              <a:ext uri="{FF2B5EF4-FFF2-40B4-BE49-F238E27FC236}">
                <a16:creationId xmlns:a16="http://schemas.microsoft.com/office/drawing/2014/main" id="{0C7BA2DB-519C-434F-B317-640DD7595A19}"/>
              </a:ext>
            </a:extLst>
          </p:cNvPr>
          <p:cNvSpPr>
            <a:spLocks xmlns:a="http://schemas.openxmlformats.org/drawingml/2006/main" noGrp="1"/>
          </p:cNvSpPr>
          <p:nvPr/>
        </p:nvSpPr>
        <p:spPr>
          <a:xfrm xmlns:a="http://schemas.openxmlformats.org/drawingml/2006/main">
            <a:off x="857250" y="4267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Explicit time</a:t>
            </a:r>
          </a:p>
        </p:txBody>
      </p:sp>
      <p:sp>
        <p:nvSpPr>
          <p:cNvPr id="14" name="data-contract-body-2">
            <a:extLst xmlns:a="http://schemas.openxmlformats.org/drawingml/2006/main">
              <a:ext uri="{FF2B5EF4-FFF2-40B4-BE49-F238E27FC236}">
                <a16:creationId xmlns:a16="http://schemas.microsoft.com/office/drawing/2014/main" id="{53C8F8BB-FEB8-4CB8-BC9C-611B879677E0}"/>
              </a:ext>
            </a:extLst>
          </p:cNvPr>
          <p:cNvSpPr>
            <a:spLocks xmlns:a="http://schemas.openxmlformats.org/drawingml/2006/main" noGrp="1"/>
          </p:cNvSpPr>
          <p:nvPr/>
        </p:nvSpPr>
        <p:spPr>
          <a:xfrm xmlns:a="http://schemas.openxmlformats.org/drawingml/2006/main">
            <a:off x="2057400" y="42672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ISO 8601 with offset</a:t>
            </a:r>
          </a:p>
        </p:txBody>
      </p:sp>
      <p:sp>
        <p:nvSpPr>
          <p:cNvPr id="15" name="data-contract-rule-3">
            <a:extLst xmlns:a="http://schemas.openxmlformats.org/drawingml/2006/main">
              <a:ext uri="{FF2B5EF4-FFF2-40B4-BE49-F238E27FC236}">
                <a16:creationId xmlns:a16="http://schemas.microsoft.com/office/drawing/2014/main" id="{E8221278-4192-4E7D-BA09-7875AA0E1E87}"/>
              </a:ext>
            </a:extLst>
          </p:cNvPr>
          <p:cNvSpPr>
            <a:spLocks xmlns:a="http://schemas.openxmlformats.org/drawingml/2006/main" noGrp="1"/>
          </p:cNvSpPr>
          <p:nvPr/>
        </p:nvSpPr>
        <p:spPr>
          <a:xfrm xmlns:a="http://schemas.openxmlformats.org/drawingml/2006/main">
            <a:off x="857250" y="45053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6" name="data-contract-heading-3">
            <a:extLst xmlns:a="http://schemas.openxmlformats.org/drawingml/2006/main">
              <a:ext uri="{FF2B5EF4-FFF2-40B4-BE49-F238E27FC236}">
                <a16:creationId xmlns:a16="http://schemas.microsoft.com/office/drawing/2014/main" id="{5166DD4A-A6AD-4A33-8A20-E3CE3773A302}"/>
              </a:ext>
            </a:extLst>
          </p:cNvPr>
          <p:cNvSpPr>
            <a:spLocks xmlns:a="http://schemas.openxmlformats.org/drawingml/2006/main" noGrp="1"/>
          </p:cNvSpPr>
          <p:nvPr/>
        </p:nvSpPr>
        <p:spPr>
          <a:xfrm xmlns:a="http://schemas.openxmlformats.org/drawingml/2006/main">
            <a:off x="857250" y="45720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Exact amounts</a:t>
            </a:r>
          </a:p>
        </p:txBody>
      </p:sp>
      <p:sp>
        <p:nvSpPr>
          <p:cNvPr id="17" name="data-contract-body-3">
            <a:extLst xmlns:a="http://schemas.openxmlformats.org/drawingml/2006/main">
              <a:ext uri="{FF2B5EF4-FFF2-40B4-BE49-F238E27FC236}">
                <a16:creationId xmlns:a16="http://schemas.microsoft.com/office/drawing/2014/main" id="{3B36A5E1-E6B9-41BA-B9B5-E362D35D5726}"/>
              </a:ext>
            </a:extLst>
          </p:cNvPr>
          <p:cNvSpPr>
            <a:spLocks xmlns:a="http://schemas.openxmlformats.org/drawingml/2006/main" noGrp="1"/>
          </p:cNvSpPr>
          <p:nvPr/>
        </p:nvSpPr>
        <p:spPr>
          <a:xfrm xmlns:a="http://schemas.openxmlformats.org/drawingml/2006/main">
            <a:off x="2057400" y="45720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rupees to integer paise</a:t>
            </a:r>
          </a:p>
        </p:txBody>
      </p:sp>
      <p:sp>
        <p:nvSpPr>
          <p:cNvPr id="18" name="data-contract-rule-4">
            <a:extLst xmlns:a="http://schemas.openxmlformats.org/drawingml/2006/main">
              <a:ext uri="{FF2B5EF4-FFF2-40B4-BE49-F238E27FC236}">
                <a16:creationId xmlns:a16="http://schemas.microsoft.com/office/drawing/2014/main" id="{96EC17EA-7943-4DE0-AFA0-974BAC740643}"/>
              </a:ext>
            </a:extLst>
          </p:cNvPr>
          <p:cNvSpPr>
            <a:spLocks xmlns:a="http://schemas.openxmlformats.org/drawingml/2006/main" noGrp="1"/>
          </p:cNvSpPr>
          <p:nvPr/>
        </p:nvSpPr>
        <p:spPr>
          <a:xfrm xmlns:a="http://schemas.openxmlformats.org/drawingml/2006/main">
            <a:off x="857250" y="48101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9" name="data-contract-heading-4">
            <a:extLst xmlns:a="http://schemas.openxmlformats.org/drawingml/2006/main">
              <a:ext uri="{FF2B5EF4-FFF2-40B4-BE49-F238E27FC236}">
                <a16:creationId xmlns:a16="http://schemas.microsoft.com/office/drawing/2014/main" id="{B242EDBA-8D46-483F-87E5-3C5F8007A0DA}"/>
              </a:ext>
            </a:extLst>
          </p:cNvPr>
          <p:cNvSpPr>
            <a:spLocks xmlns:a="http://schemas.openxmlformats.org/drawingml/2006/main" noGrp="1"/>
          </p:cNvSpPr>
          <p:nvPr/>
        </p:nvSpPr>
        <p:spPr>
          <a:xfrm xmlns:a="http://schemas.openxmlformats.org/drawingml/2006/main">
            <a:off x="857250" y="48768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All or nothing</a:t>
            </a:r>
          </a:p>
        </p:txBody>
      </p:sp>
      <p:sp>
        <p:nvSpPr>
          <p:cNvPr id="20" name="data-contract-body-4">
            <a:extLst xmlns:a="http://schemas.openxmlformats.org/drawingml/2006/main">
              <a:ext uri="{FF2B5EF4-FFF2-40B4-BE49-F238E27FC236}">
                <a16:creationId xmlns:a16="http://schemas.microsoft.com/office/drawing/2014/main" id="{40C0E397-72A8-4841-B1AF-4F6808D33723}"/>
              </a:ext>
            </a:extLst>
          </p:cNvPr>
          <p:cNvSpPr>
            <a:spLocks xmlns:a="http://schemas.openxmlformats.org/drawingml/2006/main" noGrp="1"/>
          </p:cNvSpPr>
          <p:nvPr/>
        </p:nvSpPr>
        <p:spPr>
          <a:xfrm xmlns:a="http://schemas.openxmlformats.org/drawingml/2006/main">
            <a:off x="2057400" y="48768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invalid import cannot replace the active dataset</a:t>
            </a:r>
          </a:p>
        </p:txBody>
      </p:sp>
      <p:sp>
        <p:nvSpPr>
          <p:cNvPr id="21" name="data-path-label">
            <a:extLst xmlns:a="http://schemas.openxmlformats.org/drawingml/2006/main">
              <a:ext uri="{FF2B5EF4-FFF2-40B4-BE49-F238E27FC236}">
                <a16:creationId xmlns:a16="http://schemas.microsoft.com/office/drawing/2014/main" id="{91EC3624-381B-45A7-8F7F-6ECD75F51A3C}"/>
              </a:ext>
            </a:extLst>
          </p:cNvPr>
          <p:cNvSpPr>
            <a:spLocks xmlns:a="http://schemas.openxmlformats.org/drawingml/2006/main" noGrp="1"/>
          </p:cNvSpPr>
          <p:nvPr/>
        </p:nvSpPr>
        <p:spPr>
          <a:xfrm xmlns:a="http://schemas.openxmlformats.org/drawingml/2006/main">
            <a:off x="6191250" y="24384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PRODUCTION PATH</a:t>
            </a:r>
          </a:p>
        </p:txBody>
      </p:sp>
      <p:sp>
        <p:nvSpPr>
          <p:cNvPr id="22" name="data-browser">
            <a:extLst xmlns:a="http://schemas.openxmlformats.org/drawingml/2006/main">
              <a:ext uri="{FF2B5EF4-FFF2-40B4-BE49-F238E27FC236}">
                <a16:creationId xmlns:a16="http://schemas.microsoft.com/office/drawing/2014/main" id="{812583DF-1239-43DC-BADE-253FBDD71D87}"/>
              </a:ext>
            </a:extLst>
          </p:cNvPr>
          <p:cNvSpPr>
            <a:spLocks xmlns:a="http://schemas.openxmlformats.org/drawingml/2006/main" noGrp="1"/>
          </p:cNvSpPr>
          <p:nvPr/>
        </p:nvSpPr>
        <p:spPr>
          <a:xfrm xmlns:a="http://schemas.openxmlformats.org/drawingml/2006/main">
            <a:off x="6191250" y="3009900"/>
            <a:ext cx="1524000" cy="800100"/>
          </a:xfrm>
          <a:prstGeom xmlns:a="http://schemas.openxmlformats.org/drawingml/2006/main" prst="roundRect">
            <a:avLst>
              <a:gd name="adj" fmla="val 16667"/>
            </a:avLst>
          </a:prstGeom>
          <a:solidFill xmlns:a="http://schemas.openxmlformats.org/drawingml/2006/main">
            <a:srgbClr val="153251"/>
          </a:solidFill>
          <a:ln xmlns:a="http://schemas.openxmlformats.org/drawingml/2006/main" w="9525">
            <a:solidFill>
              <a:srgbClr val="31537D"/>
            </a:solidFill>
            <a:prstDash val="solid"/>
          </a:ln>
        </p:spPr>
      </p:sp>
      <p:sp>
        <p:nvSpPr>
          <p:cNvPr id="23" name="data-browser-title">
            <a:extLst xmlns:a="http://schemas.openxmlformats.org/drawingml/2006/main">
              <a:ext uri="{FF2B5EF4-FFF2-40B4-BE49-F238E27FC236}">
                <a16:creationId xmlns:a16="http://schemas.microsoft.com/office/drawing/2014/main" id="{6D920087-E08D-49AA-AEB0-F86AD3930C6A}"/>
              </a:ext>
            </a:extLst>
          </p:cNvPr>
          <p:cNvSpPr>
            <a:spLocks xmlns:a="http://schemas.openxmlformats.org/drawingml/2006/main" noGrp="1"/>
          </p:cNvSpPr>
          <p:nvPr/>
        </p:nvSpPr>
        <p:spPr>
          <a:xfrm xmlns:a="http://schemas.openxmlformats.org/drawingml/2006/main">
            <a:off x="63246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Browser</a:t>
            </a:r>
          </a:p>
        </p:txBody>
      </p:sp>
      <p:sp>
        <p:nvSpPr>
          <p:cNvPr id="24" name="data-browser-body">
            <a:extLst xmlns:a="http://schemas.openxmlformats.org/drawingml/2006/main">
              <a:ext uri="{FF2B5EF4-FFF2-40B4-BE49-F238E27FC236}">
                <a16:creationId xmlns:a16="http://schemas.microsoft.com/office/drawing/2014/main" id="{E48BC765-B26A-4F41-8676-17A3B51FEE34}"/>
              </a:ext>
            </a:extLst>
          </p:cNvPr>
          <p:cNvSpPr>
            <a:spLocks xmlns:a="http://schemas.openxmlformats.org/drawingml/2006/main" noGrp="1"/>
          </p:cNvSpPr>
          <p:nvPr/>
        </p:nvSpPr>
        <p:spPr>
          <a:xfrm xmlns:a="http://schemas.openxmlformats.org/drawingml/2006/main">
            <a:off x="63246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demo or upload</a:t>
            </a:r>
          </a:p>
        </p:txBody>
      </p:sp>
      <p:sp>
        <p:nvSpPr>
          <p:cNvPr id="25" name="data-vercel">
            <a:extLst xmlns:a="http://schemas.openxmlformats.org/drawingml/2006/main">
              <a:ext uri="{FF2B5EF4-FFF2-40B4-BE49-F238E27FC236}">
                <a16:creationId xmlns:a16="http://schemas.microsoft.com/office/drawing/2014/main" id="{F175F15C-993B-40C1-A677-2703C727D9CC}"/>
              </a:ext>
            </a:extLst>
          </p:cNvPr>
          <p:cNvSpPr>
            <a:spLocks xmlns:a="http://schemas.openxmlformats.org/drawingml/2006/main" noGrp="1"/>
          </p:cNvSpPr>
          <p:nvPr/>
        </p:nvSpPr>
        <p:spPr>
          <a:xfrm xmlns:a="http://schemas.openxmlformats.org/drawingml/2006/main">
            <a:off x="8172450" y="3009900"/>
            <a:ext cx="1524000" cy="800100"/>
          </a:xfrm>
          <a:prstGeom xmlns:a="http://schemas.openxmlformats.org/drawingml/2006/main" prst="roundRect">
            <a:avLst>
              <a:gd name="adj" fmla="val 16667"/>
            </a:avLst>
          </a:prstGeom>
          <a:solidFill xmlns:a="http://schemas.openxmlformats.org/drawingml/2006/main">
            <a:srgbClr val="173A4A"/>
          </a:solidFill>
          <a:ln xmlns:a="http://schemas.openxmlformats.org/drawingml/2006/main" w="9525">
            <a:solidFill>
              <a:srgbClr val="3B8F84"/>
            </a:solidFill>
            <a:prstDash val="solid"/>
          </a:ln>
        </p:spPr>
      </p:sp>
      <p:sp>
        <p:nvSpPr>
          <p:cNvPr id="26" name="data-vercel-title">
            <a:extLst xmlns:a="http://schemas.openxmlformats.org/drawingml/2006/main">
              <a:ext uri="{FF2B5EF4-FFF2-40B4-BE49-F238E27FC236}">
                <a16:creationId xmlns:a16="http://schemas.microsoft.com/office/drawing/2014/main" id="{148591E1-8DA6-46FA-A373-653A805B0611}"/>
              </a:ext>
            </a:extLst>
          </p:cNvPr>
          <p:cNvSpPr>
            <a:spLocks xmlns:a="http://schemas.openxmlformats.org/drawingml/2006/main" noGrp="1"/>
          </p:cNvSpPr>
          <p:nvPr/>
        </p:nvSpPr>
        <p:spPr>
          <a:xfrm xmlns:a="http://schemas.openxmlformats.org/drawingml/2006/main">
            <a:off x="83058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Vercel</a:t>
            </a:r>
          </a:p>
        </p:txBody>
      </p:sp>
      <p:sp>
        <p:nvSpPr>
          <p:cNvPr id="27" name="data-vercel-body">
            <a:extLst xmlns:a="http://schemas.openxmlformats.org/drawingml/2006/main">
              <a:ext uri="{FF2B5EF4-FFF2-40B4-BE49-F238E27FC236}">
                <a16:creationId xmlns:a16="http://schemas.microsoft.com/office/drawing/2014/main" id="{6A6C15BA-B22D-42BA-BBA2-69FD5CD33E6F}"/>
              </a:ext>
            </a:extLst>
          </p:cNvPr>
          <p:cNvSpPr>
            <a:spLocks xmlns:a="http://schemas.openxmlformats.org/drawingml/2006/main" noGrp="1"/>
          </p:cNvSpPr>
          <p:nvPr/>
        </p:nvSpPr>
        <p:spPr>
          <a:xfrm xmlns:a="http://schemas.openxmlformats.org/drawingml/2006/main">
            <a:off x="83058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stateless analysis</a:t>
            </a:r>
          </a:p>
        </p:txBody>
      </p:sp>
      <p:sp>
        <p:nvSpPr>
          <p:cNvPr id="28" name="data-supabase">
            <a:extLst xmlns:a="http://schemas.openxmlformats.org/drawingml/2006/main">
              <a:ext uri="{FF2B5EF4-FFF2-40B4-BE49-F238E27FC236}">
                <a16:creationId xmlns:a16="http://schemas.microsoft.com/office/drawing/2014/main" id="{A8B0124B-2BA9-4518-81D2-43AB932DC68C}"/>
              </a:ext>
            </a:extLst>
          </p:cNvPr>
          <p:cNvSpPr>
            <a:spLocks xmlns:a="http://schemas.openxmlformats.org/drawingml/2006/main" noGrp="1"/>
          </p:cNvSpPr>
          <p:nvPr/>
        </p:nvSpPr>
        <p:spPr>
          <a:xfrm xmlns:a="http://schemas.openxmlformats.org/drawingml/2006/main">
            <a:off x="10153650" y="3009900"/>
            <a:ext cx="1428750" cy="800100"/>
          </a:xfrm>
          <a:prstGeom xmlns:a="http://schemas.openxmlformats.org/drawingml/2006/main" prst="roundRect">
            <a:avLst>
              <a:gd name="adj" fmla="val 16667"/>
            </a:avLst>
          </a:prstGeom>
          <a:solidFill xmlns:a="http://schemas.openxmlformats.org/drawingml/2006/main">
            <a:srgbClr val="20354C"/>
          </a:solidFill>
          <a:ln xmlns:a="http://schemas.openxmlformats.org/drawingml/2006/main" w="9525">
            <a:solidFill>
              <a:srgbClr val="5679A7"/>
            </a:solidFill>
            <a:prstDash val="solid"/>
          </a:ln>
        </p:spPr>
      </p:sp>
      <p:sp>
        <p:nvSpPr>
          <p:cNvPr id="29" name="data-supabase-title">
            <a:extLst xmlns:a="http://schemas.openxmlformats.org/drawingml/2006/main">
              <a:ext uri="{FF2B5EF4-FFF2-40B4-BE49-F238E27FC236}">
                <a16:creationId xmlns:a16="http://schemas.microsoft.com/office/drawing/2014/main" id="{1E79DFE6-1074-4AD7-832E-E673615F1033}"/>
              </a:ext>
            </a:extLst>
          </p:cNvPr>
          <p:cNvSpPr>
            <a:spLocks xmlns:a="http://schemas.openxmlformats.org/drawingml/2006/main" noGrp="1"/>
          </p:cNvSpPr>
          <p:nvPr/>
        </p:nvSpPr>
        <p:spPr>
          <a:xfrm xmlns:a="http://schemas.openxmlformats.org/drawingml/2006/main">
            <a:off x="10287000" y="31242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Supabase</a:t>
            </a:r>
          </a:p>
        </p:txBody>
      </p:sp>
      <p:sp>
        <p:nvSpPr>
          <p:cNvPr id="30" name="data-supabase-body">
            <a:extLst xmlns:a="http://schemas.openxmlformats.org/drawingml/2006/main">
              <a:ext uri="{FF2B5EF4-FFF2-40B4-BE49-F238E27FC236}">
                <a16:creationId xmlns:a16="http://schemas.microsoft.com/office/drawing/2014/main" id="{ECA51DD9-B012-46D6-949F-8444719E35AB}"/>
              </a:ext>
            </a:extLst>
          </p:cNvPr>
          <p:cNvSpPr>
            <a:spLocks xmlns:a="http://schemas.openxmlformats.org/drawingml/2006/main" noGrp="1"/>
          </p:cNvSpPr>
          <p:nvPr/>
        </p:nvSpPr>
        <p:spPr>
          <a:xfrm xmlns:a="http://schemas.openxmlformats.org/drawingml/2006/main">
            <a:off x="10287000" y="33909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Auth + RLS</a:t>
            </a:r>
          </a:p>
        </p:txBody>
      </p:sp>
      <p:cxnSp>
        <p:nvCxnSpPr>
          <p:cNvPr id="81" name=""/>
          <p:cNvCxnSpPr>
            <a:stCxn xmlns:a="http://schemas.openxmlformats.org/drawingml/2006/main" id="22" idx="3"/>
            <a:endCxn xmlns:a="http://schemas.openxmlformats.org/drawingml/2006/main" id="25" idx="1"/>
          </p:cNvCxnSpPr>
          <p:nvPr/>
        </p:nvCxnSpPr>
        <p:spPr>
          <a:xfrm xmlns:a="http://schemas.openxmlformats.org/drawingml/2006/main">
            <a:off x="7715250" y="3409950"/>
            <a:ext cx="457200" cy="0"/>
          </a:xfrm>
          <a:prstGeom xmlns:a="http://schemas.openxmlformats.org/drawingml/2006/main" prst="straightConnector1">
            <a:avLst/>
          </a:prstGeom>
          <a:ln xmlns:a="http://schemas.openxmlformats.org/drawingml/2006/main" w="20955">
            <a:solidFill>
              <a:srgbClr val="5D8EFF"/>
            </a:solidFill>
            <a:prstDash val="solid"/>
            <a:tailEnd type="triangle" w="sm" len="sm"/>
          </a:ln>
        </p:spPr>
      </p:cxnSp>
      <p:cxnSp>
        <p:nvCxnSpPr>
          <p:cNvPr id="82" name=""/>
          <p:cNvCxnSpPr>
            <a:stCxn xmlns:a="http://schemas.openxmlformats.org/drawingml/2006/main" id="25" idx="3"/>
            <a:endCxn xmlns:a="http://schemas.openxmlformats.org/drawingml/2006/main" id="28" idx="1"/>
          </p:cNvCxnSpPr>
          <p:nvPr/>
        </p:nvCxnSpPr>
        <p:spPr>
          <a:xfrm xmlns:a="http://schemas.openxmlformats.org/drawingml/2006/main">
            <a:off x="9696450" y="3409950"/>
            <a:ext cx="457200" cy="0"/>
          </a:xfrm>
          <a:prstGeom xmlns:a="http://schemas.openxmlformats.org/drawingml/2006/main" prst="straightConnector1">
            <a:avLst/>
          </a:prstGeom>
          <a:ln xmlns:a="http://schemas.openxmlformats.org/drawingml/2006/main" w="20955">
            <a:solidFill>
              <a:srgbClr val="63E0C5"/>
            </a:solidFill>
            <a:prstDash val="solid"/>
            <a:tailEnd type="triangle" w="sm" len="sm"/>
          </a:ln>
        </p:spPr>
      </p:cxnSp>
      <p:sp>
        <p:nvSpPr>
          <p:cNvPr id="33" name="data-path-copy">
            <a:extLst xmlns:a="http://schemas.openxmlformats.org/drawingml/2006/main">
              <a:ext uri="{FF2B5EF4-FFF2-40B4-BE49-F238E27FC236}">
                <a16:creationId xmlns:a16="http://schemas.microsoft.com/office/drawing/2014/main" id="{3314F7E7-221B-47D7-B32D-0207A9CAB96D}"/>
              </a:ext>
            </a:extLst>
          </p:cNvPr>
          <p:cNvSpPr>
            <a:spLocks xmlns:a="http://schemas.openxmlformats.org/drawingml/2006/main" noGrp="1"/>
          </p:cNvSpPr>
          <p:nvPr/>
        </p:nvSpPr>
        <p:spPr>
          <a:xfrm xmlns:a="http://schemas.openxmlformats.org/drawingml/2006/main">
            <a:off x="6191250" y="41529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Analysis does not require a database. Supabase is the private persistence path for authenticated investigation snapshots.</a:t>
            </a:r>
          </a:p>
        </p:txBody>
      </p:sp>
      <p:sp>
        <p:nvSpPr>
          <p:cNvPr id="34" name="data-guardrail-1">
            <a:extLst xmlns:a="http://schemas.openxmlformats.org/drawingml/2006/main">
              <a:ext uri="{FF2B5EF4-FFF2-40B4-BE49-F238E27FC236}">
                <a16:creationId xmlns:a16="http://schemas.microsoft.com/office/drawing/2014/main" id="{CA0B63E5-E10D-4C73-8F79-72B8FE1F61D2}"/>
              </a:ext>
            </a:extLst>
          </p:cNvPr>
          <p:cNvSpPr>
            <a:spLocks xmlns:a="http://schemas.openxmlformats.org/drawingml/2006/main" noGrp="1"/>
          </p:cNvSpPr>
          <p:nvPr/>
        </p:nvSpPr>
        <p:spPr>
          <a:xfrm xmlns:a="http://schemas.openxmlformats.org/drawingml/2006/main">
            <a:off x="61912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5" name="data-guardrail-mark-1">
            <a:extLst xmlns:a="http://schemas.openxmlformats.org/drawingml/2006/main">
              <a:ext uri="{FF2B5EF4-FFF2-40B4-BE49-F238E27FC236}">
                <a16:creationId xmlns:a16="http://schemas.microsoft.com/office/drawing/2014/main" id="{9299568A-E89B-49B9-B2E7-7BFABFFD5C4D}"/>
              </a:ext>
            </a:extLst>
          </p:cNvPr>
          <p:cNvSpPr>
            <a:spLocks xmlns:a="http://schemas.openxmlformats.org/drawingml/2006/main" noGrp="1"/>
          </p:cNvSpPr>
          <p:nvPr/>
        </p:nvSpPr>
        <p:spPr>
          <a:xfrm xmlns:a="http://schemas.openxmlformats.org/drawingml/2006/main">
            <a:off x="63436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5D8EFF"/>
                </a:solidFill>
                <a:latin typeface="Helvetica Neue"/>
                <a:ea typeface="Helvetica Neue"/>
                <a:cs typeface="Helvetica Neue"/>
              </a:defRPr>
            </a:pPr>
            <a:r>
              <a:rPr sz="1200" b="1" i="0">
                <a:solidFill>
                  <a:srgbClr val="5D8EFF"/>
                </a:solidFill>
                <a:latin typeface="Helvetica Neue"/>
                <a:ea typeface="Helvetica Neue"/>
                <a:cs typeface="Helvetica Neue"/>
              </a:rPr>
              <a:t>•</a:t>
            </a:r>
          </a:p>
        </p:txBody>
      </p:sp>
      <p:sp>
        <p:nvSpPr>
          <p:cNvPr id="36" name="data-guardrail-heading-1">
            <a:extLst xmlns:a="http://schemas.openxmlformats.org/drawingml/2006/main">
              <a:ext uri="{FF2B5EF4-FFF2-40B4-BE49-F238E27FC236}">
                <a16:creationId xmlns:a16="http://schemas.microsoft.com/office/drawing/2014/main" id="{9E01D094-25C3-4578-97AF-72BDED4049AB}"/>
              </a:ext>
            </a:extLst>
          </p:cNvPr>
          <p:cNvSpPr>
            <a:spLocks xmlns:a="http://schemas.openxmlformats.org/drawingml/2006/main" noGrp="1"/>
          </p:cNvSpPr>
          <p:nvPr/>
        </p:nvSpPr>
        <p:spPr>
          <a:xfrm xmlns:a="http://schemas.openxmlformats.org/drawingml/2006/main">
            <a:off x="65151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Browser key</a:t>
            </a:r>
          </a:p>
        </p:txBody>
      </p:sp>
      <p:sp>
        <p:nvSpPr>
          <p:cNvPr id="37" name="data-guardrail-body-1">
            <a:extLst xmlns:a="http://schemas.openxmlformats.org/drawingml/2006/main">
              <a:ext uri="{FF2B5EF4-FFF2-40B4-BE49-F238E27FC236}">
                <a16:creationId xmlns:a16="http://schemas.microsoft.com/office/drawing/2014/main" id="{99CDDCDA-8AFF-478E-9894-E1FF7662E2BD}"/>
              </a:ext>
            </a:extLst>
          </p:cNvPr>
          <p:cNvSpPr>
            <a:spLocks xmlns:a="http://schemas.openxmlformats.org/drawingml/2006/main" noGrp="1"/>
          </p:cNvSpPr>
          <p:nvPr/>
        </p:nvSpPr>
        <p:spPr>
          <a:xfrm xmlns:a="http://schemas.openxmlformats.org/drawingml/2006/main">
            <a:off x="63436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Publishable key only</a:t>
            </a:r>
          </a:p>
        </p:txBody>
      </p:sp>
      <p:sp>
        <p:nvSpPr>
          <p:cNvPr id="38" name="data-guardrail-2">
            <a:extLst xmlns:a="http://schemas.openxmlformats.org/drawingml/2006/main">
              <a:ext uri="{FF2B5EF4-FFF2-40B4-BE49-F238E27FC236}">
                <a16:creationId xmlns:a16="http://schemas.microsoft.com/office/drawing/2014/main" id="{0461B5D0-A853-4A84-A0A0-9EC020CF3FB9}"/>
              </a:ext>
            </a:extLst>
          </p:cNvPr>
          <p:cNvSpPr>
            <a:spLocks xmlns:a="http://schemas.openxmlformats.org/drawingml/2006/main" noGrp="1"/>
          </p:cNvSpPr>
          <p:nvPr/>
        </p:nvSpPr>
        <p:spPr>
          <a:xfrm xmlns:a="http://schemas.openxmlformats.org/drawingml/2006/main">
            <a:off x="79438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9" name="data-guardrail-mark-2">
            <a:extLst xmlns:a="http://schemas.openxmlformats.org/drawingml/2006/main">
              <a:ext uri="{FF2B5EF4-FFF2-40B4-BE49-F238E27FC236}">
                <a16:creationId xmlns:a16="http://schemas.microsoft.com/office/drawing/2014/main" id="{A9D37071-8D89-46F8-91E8-CD192432A3BD}"/>
              </a:ext>
            </a:extLst>
          </p:cNvPr>
          <p:cNvSpPr>
            <a:spLocks xmlns:a="http://schemas.openxmlformats.org/drawingml/2006/main" noGrp="1"/>
          </p:cNvSpPr>
          <p:nvPr/>
        </p:nvSpPr>
        <p:spPr>
          <a:xfrm xmlns:a="http://schemas.openxmlformats.org/drawingml/2006/main">
            <a:off x="80962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63E0C5"/>
                </a:solidFill>
                <a:latin typeface="Helvetica Neue"/>
                <a:ea typeface="Helvetica Neue"/>
                <a:cs typeface="Helvetica Neue"/>
              </a:defRPr>
            </a:pPr>
            <a:r>
              <a:rPr sz="1200" b="1" i="0">
                <a:solidFill>
                  <a:srgbClr val="63E0C5"/>
                </a:solidFill>
                <a:latin typeface="Helvetica Neue"/>
                <a:ea typeface="Helvetica Neue"/>
                <a:cs typeface="Helvetica Neue"/>
              </a:rPr>
              <a:t>•</a:t>
            </a:r>
          </a:p>
        </p:txBody>
      </p:sp>
      <p:sp>
        <p:nvSpPr>
          <p:cNvPr id="40" name="data-guardrail-heading-2">
            <a:extLst xmlns:a="http://schemas.openxmlformats.org/drawingml/2006/main">
              <a:ext uri="{FF2B5EF4-FFF2-40B4-BE49-F238E27FC236}">
                <a16:creationId xmlns:a16="http://schemas.microsoft.com/office/drawing/2014/main" id="{4AFDEA03-50F0-4F26-81C2-E7E1B2793C44}"/>
              </a:ext>
            </a:extLst>
          </p:cNvPr>
          <p:cNvSpPr>
            <a:spLocks xmlns:a="http://schemas.openxmlformats.org/drawingml/2006/main" noGrp="1"/>
          </p:cNvSpPr>
          <p:nvPr/>
        </p:nvSpPr>
        <p:spPr>
          <a:xfrm xmlns:a="http://schemas.openxmlformats.org/drawingml/2006/main">
            <a:off x="82677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Owner scope</a:t>
            </a:r>
          </a:p>
        </p:txBody>
      </p:sp>
      <p:sp>
        <p:nvSpPr>
          <p:cNvPr id="41" name="data-guardrail-body-2">
            <a:extLst xmlns:a="http://schemas.openxmlformats.org/drawingml/2006/main">
              <a:ext uri="{FF2B5EF4-FFF2-40B4-BE49-F238E27FC236}">
                <a16:creationId xmlns:a16="http://schemas.microsoft.com/office/drawing/2014/main" id="{2CC8ACDE-13F6-42C1-B49E-2CE28CD5F6B8}"/>
              </a:ext>
            </a:extLst>
          </p:cNvPr>
          <p:cNvSpPr>
            <a:spLocks xmlns:a="http://schemas.openxmlformats.org/drawingml/2006/main" noGrp="1"/>
          </p:cNvSpPr>
          <p:nvPr/>
        </p:nvSpPr>
        <p:spPr>
          <a:xfrm xmlns:a="http://schemas.openxmlformats.org/drawingml/2006/main">
            <a:off x="80962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9"/>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RLS policies match auth.uid()</a:t>
            </a:r>
          </a:p>
        </p:txBody>
      </p:sp>
      <p:sp>
        <p:nvSpPr>
          <p:cNvPr id="42" name="data-guardrail-3">
            <a:extLst xmlns:a="http://schemas.openxmlformats.org/drawingml/2006/main">
              <a:ext uri="{FF2B5EF4-FFF2-40B4-BE49-F238E27FC236}">
                <a16:creationId xmlns:a16="http://schemas.microsoft.com/office/drawing/2014/main" id="{D3249A82-D908-494D-B9E7-9F50F3BBB638}"/>
              </a:ext>
            </a:extLst>
          </p:cNvPr>
          <p:cNvSpPr>
            <a:spLocks xmlns:a="http://schemas.openxmlformats.org/drawingml/2006/main" noGrp="1"/>
          </p:cNvSpPr>
          <p:nvPr/>
        </p:nvSpPr>
        <p:spPr>
          <a:xfrm xmlns:a="http://schemas.openxmlformats.org/drawingml/2006/main">
            <a:off x="96964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43" name="data-guardrail-mark-3">
            <a:extLst xmlns:a="http://schemas.openxmlformats.org/drawingml/2006/main">
              <a:ext uri="{FF2B5EF4-FFF2-40B4-BE49-F238E27FC236}">
                <a16:creationId xmlns:a16="http://schemas.microsoft.com/office/drawing/2014/main" id="{41812B50-4009-4DDC-913A-CB0A311277D0}"/>
              </a:ext>
            </a:extLst>
          </p:cNvPr>
          <p:cNvSpPr>
            <a:spLocks xmlns:a="http://schemas.openxmlformats.org/drawingml/2006/main" noGrp="1"/>
          </p:cNvSpPr>
          <p:nvPr/>
        </p:nvSpPr>
        <p:spPr>
          <a:xfrm xmlns:a="http://schemas.openxmlformats.org/drawingml/2006/main">
            <a:off x="98488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F2756C"/>
                </a:solidFill>
                <a:latin typeface="Helvetica Neue"/>
                <a:ea typeface="Helvetica Neue"/>
                <a:cs typeface="Helvetica Neue"/>
              </a:defRPr>
            </a:pPr>
            <a:r>
              <a:rPr sz="1200" b="1" i="0">
                <a:solidFill>
                  <a:srgbClr val="F2756C"/>
                </a:solidFill>
                <a:latin typeface="Helvetica Neue"/>
                <a:ea typeface="Helvetica Neue"/>
                <a:cs typeface="Helvetica Neue"/>
              </a:rPr>
              <a:t>•</a:t>
            </a:r>
          </a:p>
        </p:txBody>
      </p:sp>
      <p:sp>
        <p:nvSpPr>
          <p:cNvPr id="44" name="data-guardrail-heading-3">
            <a:extLst xmlns:a="http://schemas.openxmlformats.org/drawingml/2006/main">
              <a:ext uri="{FF2B5EF4-FFF2-40B4-BE49-F238E27FC236}">
                <a16:creationId xmlns:a16="http://schemas.microsoft.com/office/drawing/2014/main" id="{AFEE01FF-D067-4438-B58C-D9A1D65D76D1}"/>
              </a:ext>
            </a:extLst>
          </p:cNvPr>
          <p:cNvSpPr>
            <a:spLocks xmlns:a="http://schemas.openxmlformats.org/drawingml/2006/main" noGrp="1"/>
          </p:cNvSpPr>
          <p:nvPr/>
        </p:nvSpPr>
        <p:spPr>
          <a:xfrm xmlns:a="http://schemas.openxmlformats.org/drawingml/2006/main">
            <a:off x="100203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Demo mode</a:t>
            </a:r>
          </a:p>
        </p:txBody>
      </p:sp>
      <p:sp>
        <p:nvSpPr>
          <p:cNvPr id="45" name="data-guardrail-body-3">
            <a:extLst xmlns:a="http://schemas.openxmlformats.org/drawingml/2006/main">
              <a:ext uri="{FF2B5EF4-FFF2-40B4-BE49-F238E27FC236}">
                <a16:creationId xmlns:a16="http://schemas.microsoft.com/office/drawing/2014/main" id="{2A4718BA-5880-42CB-B3DC-B06F677D8E66}"/>
              </a:ext>
            </a:extLst>
          </p:cNvPr>
          <p:cNvSpPr>
            <a:spLocks xmlns:a="http://schemas.openxmlformats.org/drawingml/2006/main" noGrp="1"/>
          </p:cNvSpPr>
          <p:nvPr/>
        </p:nvSpPr>
        <p:spPr>
          <a:xfrm xmlns:a="http://schemas.openxmlformats.org/drawingml/2006/main">
            <a:off x="98488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05"/>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Local-only saves until configured</a:t>
            </a:r>
          </a:p>
        </p:txBody>
      </p:sp>
      <p:sp>
        <p:nvSpPr>
          <p:cNvPr id="46" name="data-bottom-band">
            <a:extLst xmlns:a="http://schemas.openxmlformats.org/drawingml/2006/main">
              <a:ext uri="{FF2B5EF4-FFF2-40B4-BE49-F238E27FC236}">
                <a16:creationId xmlns:a16="http://schemas.microsoft.com/office/drawing/2014/main" id="{AE626072-F423-46C6-B7CB-A41D44B3944C}"/>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23810"/>
            </a:avLst>
          </a:prstGeom>
          <a:solidFill xmlns:a="http://schemas.openxmlformats.org/drawingml/2006/main">
            <a:srgbClr val="143253"/>
          </a:solidFill>
          <a:ln xmlns:a="http://schemas.openxmlformats.org/drawingml/2006/main" w="9525">
            <a:solidFill>
              <a:srgbClr val="244B77"/>
            </a:solidFill>
            <a:prstDash val="solid"/>
          </a:ln>
        </p:spPr>
      </p:sp>
      <p:sp>
        <p:nvSpPr>
          <p:cNvPr id="47" name="data-bottom">
            <a:extLst xmlns:a="http://schemas.openxmlformats.org/drawingml/2006/main">
              <a:ext uri="{FF2B5EF4-FFF2-40B4-BE49-F238E27FC236}">
                <a16:creationId xmlns:a16="http://schemas.microsoft.com/office/drawing/2014/main" id="{40FB32E0-6CFD-4AD6-B306-ABC5CDAC423E}"/>
              </a:ext>
            </a:extLst>
          </p:cNvPr>
          <p:cNvSpPr>
            <a:spLocks xmlns:a="http://schemas.openxmlformats.org/drawingml/2006/main" noGrp="1"/>
          </p:cNvSpPr>
          <p:nvPr/>
        </p:nvSpPr>
        <p:spPr>
          <a:xfrm xmlns:a="http://schemas.openxmlformats.org/drawingml/2006/main">
            <a:off x="838200" y="595312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Real signup and private saves need Supabase values plus the checked-in SQL schema before Vercel deployment.</a:t>
            </a:r>
          </a:p>
        </p:txBody>
      </p:sp>
      <p:sp>
        <p:nvSpPr>
          <p:cNvPr id="48" name="footer-rule-10">
            <a:extLst xmlns:a="http://schemas.openxmlformats.org/drawingml/2006/main">
              <a:ext uri="{FF2B5EF4-FFF2-40B4-BE49-F238E27FC236}">
                <a16:creationId xmlns:a16="http://schemas.microsoft.com/office/drawing/2014/main" id="{48E5098C-22B4-482C-A0BA-BC572C165EF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49" name="footer-brand-10">
            <a:extLst xmlns:a="http://schemas.openxmlformats.org/drawingml/2006/main">
              <a:ext uri="{FF2B5EF4-FFF2-40B4-BE49-F238E27FC236}">
                <a16:creationId xmlns:a16="http://schemas.microsoft.com/office/drawing/2014/main" id="{0D98A8CC-790A-4B99-8B91-A819842A490B}"/>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0" name="footer-page-10">
            <a:extLst xmlns:a="http://schemas.openxmlformats.org/drawingml/2006/main">
              <a:ext uri="{FF2B5EF4-FFF2-40B4-BE49-F238E27FC236}">
                <a16:creationId xmlns:a16="http://schemas.microsoft.com/office/drawing/2014/main" id="{BAC53105-A421-4506-A9A4-83E926F25E6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10 / 12</a:t>
            </a:r>
          </a:p>
        </p:txBody>
      </p:sp>
    </p:spTree>
    <p:extLst>
      <p:ext uri="{BB962C8B-B14F-4D97-AF65-F5344CB8AC3E}">
        <p14:creationId xmlns:p14="http://schemas.microsoft.com/office/powerpoint/2010/main" val="1777542260"/>
      </p:ext>
    </p:extLst>
  </p:cSld>
</p:sld>
</file>

<file path=ppt/slides/slide1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D47B2EB5-2FAA-4D22-B9BC-94845C11DB75}"/>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D4624BAE-093D-4060-947B-2C7671FE7F78}"/>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1FE8F7C9-6549-4356-9531-CB2FC3DC38C5}"/>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16212C46-52C7-4BA6-A229-97BBFBC1096A}"/>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78492408-9D2F-45F6-94F8-5908DAE35728}"/>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E30D1D2A-32E8-4E76-BCCD-438170CF449D}"/>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B00FBC63-5554-4F78-81B6-EDA72F211D88}"/>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100865AF-9DEF-4DC6-BB5E-3D37D813698D}"/>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1B15DDAB-BF12-4A5B-8153-7A09F4412504}"/>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2A470EC4-2302-47B2-BE86-877190815F5A}"/>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A69ABC2F-6586-46A3-9F77-64658DFD2FEE}"/>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51ABCCE0-A74C-433A-A853-B2F501C1DA20}"/>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DAB2D7FE-9FA3-4366-9BC5-15B2EF1F6B0F}"/>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ABCEF8C4-361E-4602-92B9-647CEE5853FD}"/>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F8CBECB5-3669-40AB-941A-D7DFF491943C}"/>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CE263C82-2C81-4F1A-84A1-661429D4BB2E}"/>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16E48630-E4F2-4C00-9E5E-8AE6EAA72BF0}"/>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11">
            <a:extLst xmlns:a="http://schemas.openxmlformats.org/drawingml/2006/main">
              <a:ext uri="{FF2B5EF4-FFF2-40B4-BE49-F238E27FC236}">
                <a16:creationId xmlns:a16="http://schemas.microsoft.com/office/drawing/2014/main" id="{2297C6DB-F442-4683-AF5A-6C8C96A7DD1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1">
            <a:extLst xmlns:a="http://schemas.openxmlformats.org/drawingml/2006/main">
              <a:ext uri="{FF2B5EF4-FFF2-40B4-BE49-F238E27FC236}">
                <a16:creationId xmlns:a16="http://schemas.microsoft.com/office/drawing/2014/main" id="{7AA4B1F9-A9ED-4A91-AB85-7A19279FE04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1">
            <a:extLst xmlns:a="http://schemas.openxmlformats.org/drawingml/2006/main">
              <a:ext uri="{FF2B5EF4-FFF2-40B4-BE49-F238E27FC236}">
                <a16:creationId xmlns:a16="http://schemas.microsoft.com/office/drawing/2014/main" id="{01AC3EE0-2FC9-4124-9629-8CC05A00676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11 / 12</a:t>
            </a:r>
          </a:p>
        </p:txBody>
      </p:sp>
    </p:spTree>
    <p:extLst>
      <p:ext uri="{BB962C8B-B14F-4D97-AF65-F5344CB8AC3E}">
        <p14:creationId xmlns:p14="http://schemas.microsoft.com/office/powerpoint/2010/main" val="1992170871"/>
      </p:ext>
    </p:extLst>
  </p:cSld>
</p:sld>
</file>

<file path=ppt/slides/slide1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078E0C5F-5C2B-44FB-B549-6DC2C95C16AE}"/>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1DEC9FDB-ADB1-45F2-9243-011282DAF56C}"/>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305DC695-3A9C-4E92-9FE2-AB1A875729B9}"/>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E3D7BA61-FD46-41B1-BAE8-F521EFEA9390}"/>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6F3F1FB6-229F-41D7-8096-07D8E6138159}"/>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2B695500-F698-4699-B744-F8D099A6D3E2}"/>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02C528A6-DCF1-454D-8AF7-501966A75477}"/>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B16296A3-B8C7-4A79-A660-361B2EEC63D7}"/>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595E4210-61BD-4D74-AE4C-56031193391D}"/>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35E752B7-9B4C-4A75-9618-4F0FABD6F1D6}"/>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C99659F8-2C15-478E-A8BB-B54D30C2350B}"/>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69A46D05-BC54-481C-8C73-F60B6CADEFE7}"/>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E058459C-E5B2-40AD-80F6-192074180C3D}"/>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494D0A95-9CDD-4C95-91A9-9CFFCC4624A2}"/>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004CC045-A027-4DF8-9132-D72BC1147C1B}"/>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8A6ECCD1-C252-4D74-B24E-47111528C626}"/>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12">
            <a:extLst xmlns:a="http://schemas.openxmlformats.org/drawingml/2006/main">
              <a:ext uri="{FF2B5EF4-FFF2-40B4-BE49-F238E27FC236}">
                <a16:creationId xmlns:a16="http://schemas.microsoft.com/office/drawing/2014/main" id="{1F5E87BD-52F8-482C-B679-9DF7A22144C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12">
            <a:extLst xmlns:a="http://schemas.openxmlformats.org/drawingml/2006/main">
              <a:ext uri="{FF2B5EF4-FFF2-40B4-BE49-F238E27FC236}">
                <a16:creationId xmlns:a16="http://schemas.microsoft.com/office/drawing/2014/main" id="{B5091539-E1A9-4561-B1F4-D03AC170025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12">
            <a:extLst xmlns:a="http://schemas.openxmlformats.org/drawingml/2006/main">
              <a:ext uri="{FF2B5EF4-FFF2-40B4-BE49-F238E27FC236}">
                <a16:creationId xmlns:a16="http://schemas.microsoft.com/office/drawing/2014/main" id="{43DBE0D3-5177-44AF-8299-86F1ED4A965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12 / 12</a:t>
            </a:r>
          </a:p>
        </p:txBody>
      </p:sp>
    </p:spTree>
    <p:extLst>
      <p:ext uri="{BB962C8B-B14F-4D97-AF65-F5344CB8AC3E}">
        <p14:creationId xmlns:p14="http://schemas.microsoft.com/office/powerpoint/2010/main" val="736353641"/>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2026-09-16T05:38:20.3800000Z</dcterms:created>
  <dcterms:modified xsi:type="dcterms:W3CDTF">2026-09-16T05:38:20.3800000Z</dcterms:modified>
</coreProperties>
</file>